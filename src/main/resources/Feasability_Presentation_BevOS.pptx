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6"/>
    <p:sldMasterId id="214748369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Lst>
  <p:sldSz cy="5143500" cx="9144000"/>
  <p:notesSz cx="6858000" cy="9144000"/>
  <p:embeddedFontLst>
    <p:embeddedFont>
      <p:font typeface="Playfair Display Medium"/>
      <p:regular r:id="rId52"/>
      <p:bold r:id="rId53"/>
      <p:italic r:id="rId54"/>
      <p:boldItalic r:id="rId55"/>
    </p:embeddedFont>
    <p:embeddedFont>
      <p:font typeface="Roboto"/>
      <p:regular r:id="rId56"/>
      <p:bold r:id="rId57"/>
      <p:italic r:id="rId58"/>
      <p:boldItalic r:id="rId59"/>
    </p:embeddedFont>
    <p:embeddedFont>
      <p:font typeface="Playfair Display"/>
      <p:regular r:id="rId60"/>
      <p:bold r:id="rId61"/>
      <p:italic r:id="rId62"/>
      <p:boldItalic r:id="rId63"/>
    </p:embeddedFont>
    <p:embeddedFont>
      <p:font typeface="Lato"/>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JULIEN FERNANDES"/>
  <p:cmAuthor clrIdx="1" id="1" initials="" lastIdx="2" name="JEWELIANA BEAYON"/>
  <p:cmAuthor clrIdx="2" id="2" initials="" lastIdx="1" name="Philly D"/>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9B1A6F-CA92-492C-AAAF-4422A80D218F}">
  <a:tblStyle styleId="{1D9B1A6F-CA92-492C-AAAF-4422A80D218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PlayfairDisplay-italic.fntdata"/><Relationship Id="rId61" Type="http://schemas.openxmlformats.org/officeDocument/2006/relationships/font" Target="fonts/PlayfairDisplay-bold.fntdata"/><Relationship Id="rId20" Type="http://schemas.openxmlformats.org/officeDocument/2006/relationships/slide" Target="slides/slide12.xml"/><Relationship Id="rId64" Type="http://schemas.openxmlformats.org/officeDocument/2006/relationships/font" Target="fonts/Lato-regular.fntdata"/><Relationship Id="rId63" Type="http://schemas.openxmlformats.org/officeDocument/2006/relationships/font" Target="fonts/PlayfairDisplay-boldItalic.fntdata"/><Relationship Id="rId22" Type="http://schemas.openxmlformats.org/officeDocument/2006/relationships/slide" Target="slides/slide14.xml"/><Relationship Id="rId66" Type="http://schemas.openxmlformats.org/officeDocument/2006/relationships/font" Target="fonts/Lato-italic.fntdata"/><Relationship Id="rId21" Type="http://schemas.openxmlformats.org/officeDocument/2006/relationships/slide" Target="slides/slide13.xml"/><Relationship Id="rId65" Type="http://schemas.openxmlformats.org/officeDocument/2006/relationships/font" Target="fonts/Lato-bold.fntdata"/><Relationship Id="rId24" Type="http://schemas.openxmlformats.org/officeDocument/2006/relationships/slide" Target="slides/slide16.xml"/><Relationship Id="rId23" Type="http://schemas.openxmlformats.org/officeDocument/2006/relationships/slide" Target="slides/slide15.xml"/><Relationship Id="rId67" Type="http://schemas.openxmlformats.org/officeDocument/2006/relationships/font" Target="fonts/Lato-boldItalic.fntdata"/><Relationship Id="rId60" Type="http://schemas.openxmlformats.org/officeDocument/2006/relationships/font" Target="fonts/PlayfairDisplay-regular.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font" Target="fonts/PlayfairDisplayMedium-bold.fntdata"/><Relationship Id="rId52" Type="http://schemas.openxmlformats.org/officeDocument/2006/relationships/font" Target="fonts/PlayfairDisplayMedium-regular.fntdata"/><Relationship Id="rId11" Type="http://schemas.openxmlformats.org/officeDocument/2006/relationships/slide" Target="slides/slide3.xml"/><Relationship Id="rId55" Type="http://schemas.openxmlformats.org/officeDocument/2006/relationships/font" Target="fonts/PlayfairDisplayMedium-boldItalic.fntdata"/><Relationship Id="rId10" Type="http://schemas.openxmlformats.org/officeDocument/2006/relationships/slide" Target="slides/slide2.xml"/><Relationship Id="rId54" Type="http://schemas.openxmlformats.org/officeDocument/2006/relationships/font" Target="fonts/PlayfairDisplayMedium-italic.fntdata"/><Relationship Id="rId13" Type="http://schemas.openxmlformats.org/officeDocument/2006/relationships/slide" Target="slides/slide5.xml"/><Relationship Id="rId57" Type="http://schemas.openxmlformats.org/officeDocument/2006/relationships/font" Target="fonts/Roboto-bold.fntdata"/><Relationship Id="rId12" Type="http://schemas.openxmlformats.org/officeDocument/2006/relationships/slide" Target="slides/slide4.xml"/><Relationship Id="rId56" Type="http://schemas.openxmlformats.org/officeDocument/2006/relationships/font" Target="fonts/Roboto-regular.fntdata"/><Relationship Id="rId15" Type="http://schemas.openxmlformats.org/officeDocument/2006/relationships/slide" Target="slides/slide7.xml"/><Relationship Id="rId59" Type="http://schemas.openxmlformats.org/officeDocument/2006/relationships/font" Target="fonts/Roboto-boldItalic.fntdata"/><Relationship Id="rId14" Type="http://schemas.openxmlformats.org/officeDocument/2006/relationships/slide" Target="slides/slide6.xml"/><Relationship Id="rId58" Type="http://schemas.openxmlformats.org/officeDocument/2006/relationships/font" Target="fonts/Roboto-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6-24T17:01:39.897">
    <p:pos x="6000" y="0"/>
    <p:text>Increased the font up to match with the 14" screen at 2' away comfort of reading idea.</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6-23T17:06:03.178">
    <p:pos x="158" y="1134"/>
    <p:text>added this to emphasize on the challenges of growing a beverage company due to the coordination that goes into it.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1" dt="2026-06-24T04:07:48.153">
    <p:pos x="6000" y="0"/>
    <p:text>Just need to add a brief description for each risk</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6-06-23T17:25:34.058">
    <p:pos x="3438" y="1080"/>
    <p:text>when presenting explain what each symbol means.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5cc1e1b1f_0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e5cc1e1b1f_0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ac56a700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eac56a700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e5cc1e1b1f_0_1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e5cc1e1b1f_0_1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eea9c408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eea9c408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e5cc1e1b1f_0_1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e5cc1e1b1f_0_1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ee9ae523e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ee9ae523e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e5cc1e1b1f_0_1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e5cc1e1b1f_0_1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e5cc1e1b1f_0_1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e5cc1e1b1f_0_1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e5cc1e1b1f_0_10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e5cc1e1b1f_0_10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ac56a700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eac56a700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ee9ae523e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ee9ae523e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e5cc1e1b1f_0_1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e5cc1e1b1f_0_1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ea5e49657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ea5e49657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ea5e4965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ea5e4965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ea5e49657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ea5e49657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ef072450c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ef072450c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ef8d299f10_2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ef8d299f10_2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ef8d299f1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ef8d299f1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f8d299f10_2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ef8d299f10_2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ef8d299f10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ef8d299f10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ef8d299f10_2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ef8d299f10_2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f8d299f10_2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ef8d299f10_2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ef8d299f10_2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ef8d299f10_2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ef8d299f10_2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3ef8d299f10_2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f8d299f10_2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ef8d299f10_2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ef8d299f10_2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ef8d299f10_2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f040e9e78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3f040e9e78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f040e9e78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f040e9e78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f040e9e78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f040e9e78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f040e9e784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f040e9e78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f040e9e78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3f040e9e78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f040e9e78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3f040e9e78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f040e9e784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3f040e9e784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f01dd958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3f01dd958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f01dd958b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3f01dd958b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01dd958b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3f01dd958b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f040e9e784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f040e9e784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040e9e784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3f040e9e784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f040e9e784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f040e9e784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3e5cc1e1b1f_0_2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3e5cc1e1b1f_0_2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eea7463e0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3eea7463e0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e5cc1e1b1f_0_1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3e5cc1e1b1f_0_1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e5cc1e1b1f_0_2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3e5cc1e1b1f_0_2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66" name="Shape 66"/>
        <p:cNvGrpSpPr/>
        <p:nvPr/>
      </p:nvGrpSpPr>
      <p:grpSpPr>
        <a:xfrm>
          <a:off x="0" y="0"/>
          <a:ext cx="0" cy="0"/>
          <a:chOff x="0" y="0"/>
          <a:chExt cx="0" cy="0"/>
        </a:xfrm>
      </p:grpSpPr>
      <p:sp>
        <p:nvSpPr>
          <p:cNvPr id="67" name="Google Shape;67;p14"/>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68" name="Google Shape;68;p14"/>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69" name="Google Shape;69;p14"/>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p:cSld name="BLANK_1_1_1_1_8">
    <p:spTree>
      <p:nvGrpSpPr>
        <p:cNvPr id="70" name="Shape 70"/>
        <p:cNvGrpSpPr/>
        <p:nvPr/>
      </p:nvGrpSpPr>
      <p:grpSpPr>
        <a:xfrm>
          <a:off x="0" y="0"/>
          <a:ext cx="0" cy="0"/>
          <a:chOff x="0" y="0"/>
          <a:chExt cx="0" cy="0"/>
        </a:xfrm>
      </p:grpSpPr>
      <p:sp>
        <p:nvSpPr>
          <p:cNvPr id="71" name="Google Shape;71;p15"/>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72" name="Google Shape;72;p15"/>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73" name="Google Shape;73;p15"/>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74" name="Google Shape;74;p15"/>
          <p:cNvSpPr txBox="1"/>
          <p:nvPr>
            <p:ph idx="2" type="subTitle"/>
          </p:nvPr>
        </p:nvSpPr>
        <p:spPr>
          <a:xfrm>
            <a:off x="4071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75" name="Google Shape;75;p15"/>
          <p:cNvSpPr txBox="1"/>
          <p:nvPr>
            <p:ph idx="3" type="subTitle"/>
          </p:nvPr>
        </p:nvSpPr>
        <p:spPr>
          <a:xfrm>
            <a:off x="27105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76" name="Google Shape;76;p15"/>
          <p:cNvSpPr txBox="1"/>
          <p:nvPr>
            <p:ph idx="4" type="subTitle"/>
          </p:nvPr>
        </p:nvSpPr>
        <p:spPr>
          <a:xfrm>
            <a:off x="50140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77" name="Google Shape;77;p15"/>
          <p:cNvSpPr txBox="1"/>
          <p:nvPr>
            <p:ph idx="5" type="subTitle"/>
          </p:nvPr>
        </p:nvSpPr>
        <p:spPr>
          <a:xfrm>
            <a:off x="73174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78" name="Google Shape;78;p15"/>
          <p:cNvSpPr txBox="1"/>
          <p:nvPr>
            <p:ph idx="6" type="body"/>
          </p:nvPr>
        </p:nvSpPr>
        <p:spPr>
          <a:xfrm>
            <a:off x="4071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79" name="Google Shape;79;p15"/>
          <p:cNvSpPr txBox="1"/>
          <p:nvPr>
            <p:ph idx="7" type="body"/>
          </p:nvPr>
        </p:nvSpPr>
        <p:spPr>
          <a:xfrm>
            <a:off x="27105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80" name="Google Shape;80;p15"/>
          <p:cNvSpPr txBox="1"/>
          <p:nvPr>
            <p:ph idx="8" type="body"/>
          </p:nvPr>
        </p:nvSpPr>
        <p:spPr>
          <a:xfrm>
            <a:off x="50140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81" name="Google Shape;81;p15"/>
          <p:cNvSpPr txBox="1"/>
          <p:nvPr>
            <p:ph idx="9" type="body"/>
          </p:nvPr>
        </p:nvSpPr>
        <p:spPr>
          <a:xfrm>
            <a:off x="73174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with small statement">
  <p:cSld name="BLANK_1_1_1_1_6">
    <p:spTree>
      <p:nvGrpSpPr>
        <p:cNvPr id="82" name="Shape 82"/>
        <p:cNvGrpSpPr/>
        <p:nvPr/>
      </p:nvGrpSpPr>
      <p:grpSpPr>
        <a:xfrm>
          <a:off x="0" y="0"/>
          <a:ext cx="0" cy="0"/>
          <a:chOff x="0" y="0"/>
          <a:chExt cx="0" cy="0"/>
        </a:xfrm>
      </p:grpSpPr>
      <p:sp>
        <p:nvSpPr>
          <p:cNvPr id="83" name="Google Shape;83;p16"/>
          <p:cNvSpPr txBox="1"/>
          <p:nvPr>
            <p:ph idx="1" type="body"/>
          </p:nvPr>
        </p:nvSpPr>
        <p:spPr>
          <a:xfrm>
            <a:off x="5503325" y="524750"/>
            <a:ext cx="3356100" cy="877800"/>
          </a:xfrm>
          <a:prstGeom prst="rect">
            <a:avLst/>
          </a:prstGeom>
        </p:spPr>
        <p:txBody>
          <a:bodyPr anchorCtr="0" anchor="t" bIns="0" lIns="0" spcFirstLastPara="1" rIns="0" wrap="square" tIns="0">
            <a:spAutoFit/>
          </a:bodyPr>
          <a:lstStyle>
            <a:lvl1pPr indent="-342900" lvl="0" marL="457200">
              <a:spcBef>
                <a:spcPts val="0"/>
              </a:spcBef>
              <a:spcAft>
                <a:spcPts val="0"/>
              </a:spcAft>
              <a:buClr>
                <a:schemeClr val="lt1"/>
              </a:buClr>
              <a:buSzPts val="1800"/>
              <a:buFont typeface="Lato"/>
              <a:buChar char="●"/>
              <a:defRPr sz="1800"/>
            </a:lvl1pPr>
            <a:lvl2pPr indent="-342900" lvl="1" marL="914400">
              <a:spcBef>
                <a:spcPts val="0"/>
              </a:spcBef>
              <a:spcAft>
                <a:spcPts val="0"/>
              </a:spcAft>
              <a:buClr>
                <a:schemeClr val="lt1"/>
              </a:buClr>
              <a:buSzPts val="1800"/>
              <a:buFont typeface="Lato"/>
              <a:buChar char="○"/>
              <a:defRPr sz="1800"/>
            </a:lvl2pPr>
            <a:lvl3pPr indent="-342900" lvl="2" marL="1371600">
              <a:spcBef>
                <a:spcPts val="0"/>
              </a:spcBef>
              <a:spcAft>
                <a:spcPts val="0"/>
              </a:spcAft>
              <a:buClr>
                <a:schemeClr val="lt1"/>
              </a:buClr>
              <a:buSzPts val="1800"/>
              <a:buFont typeface="Lato"/>
              <a:buChar char="■"/>
              <a:defRPr sz="1800"/>
            </a:lvl3pPr>
            <a:lvl4pPr indent="-342900" lvl="3" marL="1828800">
              <a:spcBef>
                <a:spcPts val="0"/>
              </a:spcBef>
              <a:spcAft>
                <a:spcPts val="0"/>
              </a:spcAft>
              <a:buClr>
                <a:schemeClr val="lt1"/>
              </a:buClr>
              <a:buSzPts val="1800"/>
              <a:buFont typeface="Lato"/>
              <a:buChar char="●"/>
              <a:defRPr sz="1800"/>
            </a:lvl4pPr>
            <a:lvl5pPr indent="-342900" lvl="4" marL="2286000">
              <a:spcBef>
                <a:spcPts val="0"/>
              </a:spcBef>
              <a:spcAft>
                <a:spcPts val="0"/>
              </a:spcAft>
              <a:buClr>
                <a:schemeClr val="lt1"/>
              </a:buClr>
              <a:buSzPts val="1800"/>
              <a:buFont typeface="Lato"/>
              <a:buChar char="○"/>
              <a:defRPr sz="1800"/>
            </a:lvl5pPr>
            <a:lvl6pPr indent="-342900" lvl="5" marL="2743200">
              <a:spcBef>
                <a:spcPts val="0"/>
              </a:spcBef>
              <a:spcAft>
                <a:spcPts val="0"/>
              </a:spcAft>
              <a:buClr>
                <a:schemeClr val="lt1"/>
              </a:buClr>
              <a:buSzPts val="1800"/>
              <a:buFont typeface="Lato"/>
              <a:buChar char="■"/>
              <a:defRPr sz="1800"/>
            </a:lvl6pPr>
            <a:lvl7pPr indent="-342900" lvl="6" marL="3200400">
              <a:spcBef>
                <a:spcPts val="0"/>
              </a:spcBef>
              <a:spcAft>
                <a:spcPts val="0"/>
              </a:spcAft>
              <a:buClr>
                <a:schemeClr val="lt1"/>
              </a:buClr>
              <a:buSzPts val="1800"/>
              <a:buFont typeface="Lato"/>
              <a:buChar char="●"/>
              <a:defRPr sz="1800"/>
            </a:lvl7pPr>
            <a:lvl8pPr indent="-342900" lvl="7" marL="3657600">
              <a:spcBef>
                <a:spcPts val="0"/>
              </a:spcBef>
              <a:spcAft>
                <a:spcPts val="0"/>
              </a:spcAft>
              <a:buClr>
                <a:schemeClr val="lt1"/>
              </a:buClr>
              <a:buSzPts val="1800"/>
              <a:buFont typeface="Lato"/>
              <a:buChar char="○"/>
              <a:defRPr sz="1800"/>
            </a:lvl8pPr>
            <a:lvl9pPr indent="-342900" lvl="8" marL="4114800">
              <a:spcBef>
                <a:spcPts val="0"/>
              </a:spcBef>
              <a:spcAft>
                <a:spcPts val="0"/>
              </a:spcAft>
              <a:buClr>
                <a:schemeClr val="lt1"/>
              </a:buClr>
              <a:buSzPts val="1800"/>
              <a:buFont typeface="Lato"/>
              <a:buChar char="■"/>
              <a:defRPr sz="1800"/>
            </a:lvl9pPr>
          </a:lstStyle>
          <a:p/>
        </p:txBody>
      </p:sp>
      <p:sp>
        <p:nvSpPr>
          <p:cNvPr id="84" name="Google Shape;84;p16"/>
          <p:cNvSpPr txBox="1"/>
          <p:nvPr>
            <p:ph type="title"/>
          </p:nvPr>
        </p:nvSpPr>
        <p:spPr>
          <a:xfrm>
            <a:off x="276075" y="457200"/>
            <a:ext cx="50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85" name="Google Shape;85;p16"/>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86" name="Google Shape;86;p16"/>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87" name="Google Shape;87;p16"/>
          <p:cNvSpPr txBox="1"/>
          <p:nvPr>
            <p:ph idx="3" type="subTitle"/>
          </p:nvPr>
        </p:nvSpPr>
        <p:spPr>
          <a:xfrm>
            <a:off x="27952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88" name="Google Shape;88;p16"/>
          <p:cNvSpPr txBox="1"/>
          <p:nvPr>
            <p:ph idx="4" type="subTitle"/>
          </p:nvPr>
        </p:nvSpPr>
        <p:spPr>
          <a:xfrm>
            <a:off x="2489940"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89" name="Google Shape;89;p16"/>
          <p:cNvSpPr txBox="1"/>
          <p:nvPr>
            <p:ph idx="5" type="subTitle"/>
          </p:nvPr>
        </p:nvSpPr>
        <p:spPr>
          <a:xfrm>
            <a:off x="469513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90" name="Google Shape;90;p16"/>
          <p:cNvSpPr txBox="1"/>
          <p:nvPr>
            <p:ph idx="6" type="subTitle"/>
          </p:nvPr>
        </p:nvSpPr>
        <p:spPr>
          <a:xfrm>
            <a:off x="6900335"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91" name="Google Shape;91;p16"/>
          <p:cNvSpPr txBox="1"/>
          <p:nvPr>
            <p:ph idx="7" type="body"/>
          </p:nvPr>
        </p:nvSpPr>
        <p:spPr>
          <a:xfrm>
            <a:off x="27495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92" name="Google Shape;92;p16"/>
          <p:cNvSpPr txBox="1"/>
          <p:nvPr>
            <p:ph idx="8" type="body"/>
          </p:nvPr>
        </p:nvSpPr>
        <p:spPr>
          <a:xfrm>
            <a:off x="248994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93" name="Google Shape;93;p16"/>
          <p:cNvSpPr txBox="1"/>
          <p:nvPr>
            <p:ph idx="9" type="body"/>
          </p:nvPr>
        </p:nvSpPr>
        <p:spPr>
          <a:xfrm>
            <a:off x="470493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94" name="Google Shape;94;p16"/>
          <p:cNvSpPr txBox="1"/>
          <p:nvPr>
            <p:ph idx="13" type="body"/>
          </p:nvPr>
        </p:nvSpPr>
        <p:spPr>
          <a:xfrm>
            <a:off x="6900335"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95" name="Google Shape;95;p16"/>
          <p:cNvSpPr txBox="1"/>
          <p:nvPr>
            <p:ph idx="14" type="subTitle"/>
          </p:nvPr>
        </p:nvSpPr>
        <p:spPr>
          <a:xfrm>
            <a:off x="27952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96" name="Google Shape;96;p16"/>
          <p:cNvSpPr txBox="1"/>
          <p:nvPr>
            <p:ph idx="15" type="subTitle"/>
          </p:nvPr>
        </p:nvSpPr>
        <p:spPr>
          <a:xfrm>
            <a:off x="248995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97" name="Google Shape;97;p16"/>
          <p:cNvSpPr txBox="1"/>
          <p:nvPr>
            <p:ph idx="16" type="subTitle"/>
          </p:nvPr>
        </p:nvSpPr>
        <p:spPr>
          <a:xfrm>
            <a:off x="470037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98" name="Google Shape;98;p16"/>
          <p:cNvSpPr txBox="1"/>
          <p:nvPr>
            <p:ph idx="17" type="subTitle"/>
          </p:nvPr>
        </p:nvSpPr>
        <p:spPr>
          <a:xfrm>
            <a:off x="691080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right image and 2 text boxes">
  <p:cSld name="BLANK_1_1_1_1_5">
    <p:spTree>
      <p:nvGrpSpPr>
        <p:cNvPr id="99" name="Shape 99"/>
        <p:cNvGrpSpPr/>
        <p:nvPr/>
      </p:nvGrpSpPr>
      <p:grpSpPr>
        <a:xfrm>
          <a:off x="0" y="0"/>
          <a:ext cx="0" cy="0"/>
          <a:chOff x="0" y="0"/>
          <a:chExt cx="0" cy="0"/>
        </a:xfrm>
      </p:grpSpPr>
      <p:sp>
        <p:nvSpPr>
          <p:cNvPr id="100" name="Google Shape;100;p17"/>
          <p:cNvSpPr txBox="1"/>
          <p:nvPr>
            <p:ph type="title"/>
          </p:nvPr>
        </p:nvSpPr>
        <p:spPr>
          <a:xfrm>
            <a:off x="276075" y="457200"/>
            <a:ext cx="6432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01" name="Google Shape;101;p17"/>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02" name="Google Shape;102;p17"/>
          <p:cNvSpPr/>
          <p:nvPr>
            <p:ph idx="2" type="pic"/>
          </p:nvPr>
        </p:nvSpPr>
        <p:spPr>
          <a:xfrm>
            <a:off x="6802800" y="0"/>
            <a:ext cx="2341200" cy="1189800"/>
          </a:xfrm>
          <a:prstGeom prst="rect">
            <a:avLst/>
          </a:prstGeom>
          <a:noFill/>
          <a:ln>
            <a:noFill/>
          </a:ln>
        </p:spPr>
      </p:sp>
      <p:sp>
        <p:nvSpPr>
          <p:cNvPr id="103" name="Google Shape;103;p17"/>
          <p:cNvSpPr txBox="1"/>
          <p:nvPr>
            <p:ph idx="1" type="subTitle"/>
          </p:nvPr>
        </p:nvSpPr>
        <p:spPr>
          <a:xfrm>
            <a:off x="4682775" y="2717425"/>
            <a:ext cx="20262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04" name="Google Shape;104;p17"/>
          <p:cNvSpPr txBox="1"/>
          <p:nvPr>
            <p:ph idx="3" type="subTitle"/>
          </p:nvPr>
        </p:nvSpPr>
        <p:spPr>
          <a:xfrm>
            <a:off x="6843453" y="2717425"/>
            <a:ext cx="20301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05" name="Google Shape;105;p17"/>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06" name="Google Shape;106;p17"/>
          <p:cNvSpPr txBox="1"/>
          <p:nvPr>
            <p:ph idx="5" type="body"/>
          </p:nvPr>
        </p:nvSpPr>
        <p:spPr>
          <a:xfrm>
            <a:off x="4682775" y="3042765"/>
            <a:ext cx="20262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107" name="Google Shape;107;p17"/>
          <p:cNvSpPr txBox="1"/>
          <p:nvPr>
            <p:ph idx="6" type="body"/>
          </p:nvPr>
        </p:nvSpPr>
        <p:spPr>
          <a:xfrm>
            <a:off x="6843455" y="3042765"/>
            <a:ext cx="20301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peakers info">
  <p:cSld name="BLANK_1_1_1_1_3">
    <p:spTree>
      <p:nvGrpSpPr>
        <p:cNvPr id="108" name="Shape 108"/>
        <p:cNvGrpSpPr/>
        <p:nvPr/>
      </p:nvGrpSpPr>
      <p:grpSpPr>
        <a:xfrm>
          <a:off x="0" y="0"/>
          <a:ext cx="0" cy="0"/>
          <a:chOff x="0" y="0"/>
          <a:chExt cx="0" cy="0"/>
        </a:xfrm>
      </p:grpSpPr>
      <p:sp>
        <p:nvSpPr>
          <p:cNvPr id="109" name="Google Shape;109;p18"/>
          <p:cNvSpPr/>
          <p:nvPr/>
        </p:nvSpPr>
        <p:spPr>
          <a:xfrm>
            <a:off x="5461825" y="850"/>
            <a:ext cx="3682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 name="Google Shape;110;p18"/>
          <p:cNvSpPr txBox="1"/>
          <p:nvPr>
            <p:ph idx="1" type="subTitle"/>
          </p:nvPr>
        </p:nvSpPr>
        <p:spPr>
          <a:xfrm>
            <a:off x="1987875"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11" name="Google Shape;111;p18"/>
          <p:cNvSpPr txBox="1"/>
          <p:nvPr>
            <p:ph idx="2" type="subTitle"/>
          </p:nvPr>
        </p:nvSpPr>
        <p:spPr>
          <a:xfrm>
            <a:off x="1987875"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112" name="Google Shape;112;p18"/>
          <p:cNvSpPr/>
          <p:nvPr>
            <p:ph idx="3" type="pic"/>
          </p:nvPr>
        </p:nvSpPr>
        <p:spPr>
          <a:xfrm>
            <a:off x="-50" y="1424175"/>
            <a:ext cx="1838100" cy="3267000"/>
          </a:xfrm>
          <a:prstGeom prst="rect">
            <a:avLst/>
          </a:prstGeom>
          <a:noFill/>
          <a:ln>
            <a:noFill/>
          </a:ln>
        </p:spPr>
      </p:sp>
      <p:sp>
        <p:nvSpPr>
          <p:cNvPr id="113" name="Google Shape;113;p18"/>
          <p:cNvSpPr/>
          <p:nvPr>
            <p:ph idx="4" type="pic"/>
          </p:nvPr>
        </p:nvSpPr>
        <p:spPr>
          <a:xfrm>
            <a:off x="4527160" y="1424175"/>
            <a:ext cx="1838100" cy="3267000"/>
          </a:xfrm>
          <a:prstGeom prst="rect">
            <a:avLst/>
          </a:prstGeom>
          <a:noFill/>
          <a:ln>
            <a:noFill/>
          </a:ln>
        </p:spPr>
      </p:sp>
      <p:sp>
        <p:nvSpPr>
          <p:cNvPr id="114" name="Google Shape;114;p18"/>
          <p:cNvSpPr txBox="1"/>
          <p:nvPr>
            <p:ph idx="5" type="subTitle"/>
          </p:nvPr>
        </p:nvSpPr>
        <p:spPr>
          <a:xfrm>
            <a:off x="6525486"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15" name="Google Shape;115;p18"/>
          <p:cNvSpPr txBox="1"/>
          <p:nvPr>
            <p:ph idx="6" type="subTitle"/>
          </p:nvPr>
        </p:nvSpPr>
        <p:spPr>
          <a:xfrm>
            <a:off x="6525486"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116" name="Google Shape;116;p18"/>
          <p:cNvSpPr txBox="1"/>
          <p:nvPr>
            <p:ph type="title"/>
          </p:nvPr>
        </p:nvSpPr>
        <p:spPr>
          <a:xfrm>
            <a:off x="276075" y="457200"/>
            <a:ext cx="4248900" cy="7614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17" name="Google Shape;117;p18"/>
          <p:cNvSpPr txBox="1"/>
          <p:nvPr>
            <p:ph idx="7"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18" name="Google Shape;118;p18"/>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19" name="Google Shape;119;p18"/>
          <p:cNvSpPr txBox="1"/>
          <p:nvPr>
            <p:ph idx="8" type="body"/>
          </p:nvPr>
        </p:nvSpPr>
        <p:spPr>
          <a:xfrm>
            <a:off x="1987875" y="3545425"/>
            <a:ext cx="17550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
        <p:nvSpPr>
          <p:cNvPr id="120" name="Google Shape;120;p18"/>
          <p:cNvSpPr txBox="1"/>
          <p:nvPr>
            <p:ph idx="9" type="body"/>
          </p:nvPr>
        </p:nvSpPr>
        <p:spPr>
          <a:xfrm>
            <a:off x="6536675" y="3545425"/>
            <a:ext cx="16998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2">
    <p:spTree>
      <p:nvGrpSpPr>
        <p:cNvPr id="121" name="Shape 121"/>
        <p:cNvGrpSpPr/>
        <p:nvPr/>
      </p:nvGrpSpPr>
      <p:grpSpPr>
        <a:xfrm>
          <a:off x="0" y="0"/>
          <a:ext cx="0" cy="0"/>
          <a:chOff x="0" y="0"/>
          <a:chExt cx="0" cy="0"/>
        </a:xfrm>
      </p:grpSpPr>
      <p:sp>
        <p:nvSpPr>
          <p:cNvPr id="122" name="Google Shape;122;p19"/>
          <p:cNvSpPr/>
          <p:nvPr>
            <p:ph idx="2" type="pic"/>
          </p:nvPr>
        </p:nvSpPr>
        <p:spPr>
          <a:xfrm>
            <a:off x="4138225" y="517875"/>
            <a:ext cx="1152300" cy="1203600"/>
          </a:xfrm>
          <a:prstGeom prst="rect">
            <a:avLst/>
          </a:prstGeom>
          <a:noFill/>
          <a:ln>
            <a:noFill/>
          </a:ln>
        </p:spPr>
      </p:sp>
      <p:sp>
        <p:nvSpPr>
          <p:cNvPr id="123" name="Google Shape;123;p19"/>
          <p:cNvSpPr/>
          <p:nvPr>
            <p:ph idx="3" type="pic"/>
          </p:nvPr>
        </p:nvSpPr>
        <p:spPr>
          <a:xfrm>
            <a:off x="4138225" y="1957188"/>
            <a:ext cx="1152300" cy="1203600"/>
          </a:xfrm>
          <a:prstGeom prst="rect">
            <a:avLst/>
          </a:prstGeom>
          <a:noFill/>
          <a:ln>
            <a:noFill/>
          </a:ln>
        </p:spPr>
      </p:sp>
      <p:sp>
        <p:nvSpPr>
          <p:cNvPr id="124" name="Google Shape;124;p19"/>
          <p:cNvSpPr/>
          <p:nvPr>
            <p:ph idx="4" type="pic"/>
          </p:nvPr>
        </p:nvSpPr>
        <p:spPr>
          <a:xfrm>
            <a:off x="4138213" y="3403813"/>
            <a:ext cx="1152300" cy="1203600"/>
          </a:xfrm>
          <a:prstGeom prst="rect">
            <a:avLst/>
          </a:prstGeom>
          <a:noFill/>
          <a:ln>
            <a:noFill/>
          </a:ln>
        </p:spPr>
      </p:sp>
      <p:sp>
        <p:nvSpPr>
          <p:cNvPr id="125" name="Google Shape;125;p19"/>
          <p:cNvSpPr/>
          <p:nvPr>
            <p:ph idx="5" type="pic"/>
          </p:nvPr>
        </p:nvSpPr>
        <p:spPr>
          <a:xfrm>
            <a:off x="6573252" y="517875"/>
            <a:ext cx="1152300" cy="1203600"/>
          </a:xfrm>
          <a:prstGeom prst="rect">
            <a:avLst/>
          </a:prstGeom>
          <a:noFill/>
          <a:ln>
            <a:noFill/>
          </a:ln>
        </p:spPr>
      </p:sp>
      <p:sp>
        <p:nvSpPr>
          <p:cNvPr id="126" name="Google Shape;126;p19"/>
          <p:cNvSpPr/>
          <p:nvPr>
            <p:ph idx="6" type="pic"/>
          </p:nvPr>
        </p:nvSpPr>
        <p:spPr>
          <a:xfrm>
            <a:off x="6573252" y="1957188"/>
            <a:ext cx="1152300" cy="1203600"/>
          </a:xfrm>
          <a:prstGeom prst="rect">
            <a:avLst/>
          </a:prstGeom>
          <a:noFill/>
          <a:ln>
            <a:noFill/>
          </a:ln>
        </p:spPr>
      </p:sp>
      <p:sp>
        <p:nvSpPr>
          <p:cNvPr id="127" name="Google Shape;127;p19"/>
          <p:cNvSpPr/>
          <p:nvPr>
            <p:ph idx="7" type="pic"/>
          </p:nvPr>
        </p:nvSpPr>
        <p:spPr>
          <a:xfrm>
            <a:off x="6573252" y="3403813"/>
            <a:ext cx="1152300" cy="1203600"/>
          </a:xfrm>
          <a:prstGeom prst="rect">
            <a:avLst/>
          </a:prstGeom>
          <a:noFill/>
          <a:ln>
            <a:noFill/>
          </a:ln>
        </p:spPr>
      </p:sp>
      <p:sp>
        <p:nvSpPr>
          <p:cNvPr id="128" name="Google Shape;128;p19"/>
          <p:cNvSpPr txBox="1"/>
          <p:nvPr>
            <p:ph idx="1" type="subTitle"/>
          </p:nvPr>
        </p:nvSpPr>
        <p:spPr>
          <a:xfrm>
            <a:off x="5406561"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29" name="Google Shape;129;p19"/>
          <p:cNvSpPr txBox="1"/>
          <p:nvPr>
            <p:ph idx="8" type="subTitle"/>
          </p:nvPr>
        </p:nvSpPr>
        <p:spPr>
          <a:xfrm>
            <a:off x="5406561"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30" name="Google Shape;130;p19"/>
          <p:cNvSpPr txBox="1"/>
          <p:nvPr>
            <p:ph idx="9" type="subTitle"/>
          </p:nvPr>
        </p:nvSpPr>
        <p:spPr>
          <a:xfrm>
            <a:off x="5406561"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31" name="Google Shape;131;p19"/>
          <p:cNvSpPr txBox="1"/>
          <p:nvPr>
            <p:ph idx="13" type="subTitle"/>
          </p:nvPr>
        </p:nvSpPr>
        <p:spPr>
          <a:xfrm>
            <a:off x="7840736"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32" name="Google Shape;132;p19"/>
          <p:cNvSpPr txBox="1"/>
          <p:nvPr>
            <p:ph idx="14" type="subTitle"/>
          </p:nvPr>
        </p:nvSpPr>
        <p:spPr>
          <a:xfrm>
            <a:off x="7840736"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33" name="Google Shape;133;p19"/>
          <p:cNvSpPr txBox="1"/>
          <p:nvPr>
            <p:ph idx="15" type="subTitle"/>
          </p:nvPr>
        </p:nvSpPr>
        <p:spPr>
          <a:xfrm>
            <a:off x="7840736"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34" name="Google Shape;134;p19"/>
          <p:cNvSpPr txBox="1"/>
          <p:nvPr>
            <p:ph idx="16" type="subTitle"/>
          </p:nvPr>
        </p:nvSpPr>
        <p:spPr>
          <a:xfrm>
            <a:off x="5406550"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35" name="Google Shape;135;p19"/>
          <p:cNvSpPr txBox="1"/>
          <p:nvPr>
            <p:ph idx="17" type="subTitle"/>
          </p:nvPr>
        </p:nvSpPr>
        <p:spPr>
          <a:xfrm>
            <a:off x="7840725"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36" name="Google Shape;136;p19"/>
          <p:cNvSpPr txBox="1"/>
          <p:nvPr>
            <p:ph idx="18" type="subTitle"/>
          </p:nvPr>
        </p:nvSpPr>
        <p:spPr>
          <a:xfrm>
            <a:off x="5406550"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37" name="Google Shape;137;p19"/>
          <p:cNvSpPr txBox="1"/>
          <p:nvPr>
            <p:ph idx="19" type="subTitle"/>
          </p:nvPr>
        </p:nvSpPr>
        <p:spPr>
          <a:xfrm>
            <a:off x="7840725"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38" name="Google Shape;138;p19"/>
          <p:cNvSpPr txBox="1"/>
          <p:nvPr>
            <p:ph idx="20" type="subTitle"/>
          </p:nvPr>
        </p:nvSpPr>
        <p:spPr>
          <a:xfrm>
            <a:off x="5406550"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39" name="Google Shape;139;p19"/>
          <p:cNvSpPr txBox="1"/>
          <p:nvPr>
            <p:ph idx="21" type="subTitle"/>
          </p:nvPr>
        </p:nvSpPr>
        <p:spPr>
          <a:xfrm>
            <a:off x="7840725"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40" name="Google Shape;140;p19"/>
          <p:cNvSpPr txBox="1"/>
          <p:nvPr>
            <p:ph type="title"/>
          </p:nvPr>
        </p:nvSpPr>
        <p:spPr>
          <a:xfrm>
            <a:off x="276075" y="457200"/>
            <a:ext cx="38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41" name="Google Shape;141;p19"/>
          <p:cNvSpPr txBox="1"/>
          <p:nvPr>
            <p:ph idx="2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42" name="Google Shape;142;p19"/>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_2">
    <p:spTree>
      <p:nvGrpSpPr>
        <p:cNvPr id="143" name="Shape 143"/>
        <p:cNvGrpSpPr/>
        <p:nvPr/>
      </p:nvGrpSpPr>
      <p:grpSpPr>
        <a:xfrm>
          <a:off x="0" y="0"/>
          <a:ext cx="0" cy="0"/>
          <a:chOff x="0" y="0"/>
          <a:chExt cx="0" cy="0"/>
        </a:xfrm>
      </p:grpSpPr>
      <p:sp>
        <p:nvSpPr>
          <p:cNvPr id="144" name="Google Shape;144;p20"/>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4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45" name="Google Shape;145;p20"/>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46" name="Google Shape;146;p20"/>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47" name="Google Shape;147;p20"/>
          <p:cNvSpPr txBox="1"/>
          <p:nvPr>
            <p:ph idx="2" type="body"/>
          </p:nvPr>
        </p:nvSpPr>
        <p:spPr>
          <a:xfrm>
            <a:off x="276075" y="1763425"/>
            <a:ext cx="4342800" cy="7113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with picture">
  <p:cSld name="BLANK_1_1_1_1_1_1_1_2">
    <p:spTree>
      <p:nvGrpSpPr>
        <p:cNvPr id="148" name="Shape 148"/>
        <p:cNvGrpSpPr/>
        <p:nvPr/>
      </p:nvGrpSpPr>
      <p:grpSpPr>
        <a:xfrm>
          <a:off x="0" y="0"/>
          <a:ext cx="0" cy="0"/>
          <a:chOff x="0" y="0"/>
          <a:chExt cx="0" cy="0"/>
        </a:xfrm>
      </p:grpSpPr>
      <p:sp>
        <p:nvSpPr>
          <p:cNvPr id="149" name="Google Shape;149;p21"/>
          <p:cNvSpPr txBox="1"/>
          <p:nvPr>
            <p:ph type="title"/>
          </p:nvPr>
        </p:nvSpPr>
        <p:spPr>
          <a:xfrm>
            <a:off x="1182150" y="1765350"/>
            <a:ext cx="6779700" cy="17652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a:lvl2pPr>
            <a:lvl3pPr lvl="2" algn="ctr">
              <a:lnSpc>
                <a:spcPct val="90000"/>
              </a:lnSpc>
              <a:spcBef>
                <a:spcPts val="0"/>
              </a:spcBef>
              <a:spcAft>
                <a:spcPts val="0"/>
              </a:spcAft>
              <a:buNone/>
              <a:defRPr/>
            </a:lvl3pPr>
            <a:lvl4pPr lvl="3" algn="ctr">
              <a:lnSpc>
                <a:spcPct val="90000"/>
              </a:lnSpc>
              <a:spcBef>
                <a:spcPts val="0"/>
              </a:spcBef>
              <a:spcAft>
                <a:spcPts val="0"/>
              </a:spcAft>
              <a:buNone/>
              <a:defRPr/>
            </a:lvl4pPr>
            <a:lvl5pPr lvl="4" algn="ctr">
              <a:lnSpc>
                <a:spcPct val="90000"/>
              </a:lnSpc>
              <a:spcBef>
                <a:spcPts val="0"/>
              </a:spcBef>
              <a:spcAft>
                <a:spcPts val="0"/>
              </a:spcAft>
              <a:buNone/>
              <a:defRPr/>
            </a:lvl5pPr>
            <a:lvl6pPr lvl="5" algn="ctr">
              <a:lnSpc>
                <a:spcPct val="90000"/>
              </a:lnSpc>
              <a:spcBef>
                <a:spcPts val="0"/>
              </a:spcBef>
              <a:spcAft>
                <a:spcPts val="0"/>
              </a:spcAft>
              <a:buNone/>
              <a:defRPr/>
            </a:lvl6pPr>
            <a:lvl7pPr lvl="6" algn="ctr">
              <a:lnSpc>
                <a:spcPct val="90000"/>
              </a:lnSpc>
              <a:spcBef>
                <a:spcPts val="0"/>
              </a:spcBef>
              <a:spcAft>
                <a:spcPts val="0"/>
              </a:spcAft>
              <a:buNone/>
              <a:defRPr/>
            </a:lvl7pPr>
            <a:lvl8pPr lvl="7" algn="ctr">
              <a:lnSpc>
                <a:spcPct val="90000"/>
              </a:lnSpc>
              <a:spcBef>
                <a:spcPts val="0"/>
              </a:spcBef>
              <a:spcAft>
                <a:spcPts val="0"/>
              </a:spcAft>
              <a:buNone/>
              <a:defRPr/>
            </a:lvl8pPr>
            <a:lvl9pPr lvl="8" algn="ctr">
              <a:lnSpc>
                <a:spcPct val="90000"/>
              </a:lnSpc>
              <a:spcBef>
                <a:spcPts val="0"/>
              </a:spcBef>
              <a:spcAft>
                <a:spcPts val="0"/>
              </a:spcAft>
              <a:buNone/>
              <a:defRPr/>
            </a:lvl9pPr>
          </a:lstStyle>
          <a:p/>
        </p:txBody>
      </p:sp>
      <p:sp>
        <p:nvSpPr>
          <p:cNvPr id="150" name="Google Shape;150;p21"/>
          <p:cNvSpPr txBox="1"/>
          <p:nvPr>
            <p:ph idx="2" type="title"/>
          </p:nvPr>
        </p:nvSpPr>
        <p:spPr>
          <a:xfrm>
            <a:off x="1182150" y="4058050"/>
            <a:ext cx="6779700" cy="3972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None/>
              <a:defRPr sz="1200">
                <a:solidFill>
                  <a:schemeClr val="lt1"/>
                </a:solidFill>
                <a:latin typeface="Lato"/>
                <a:ea typeface="Lato"/>
                <a:cs typeface="Lato"/>
                <a:sym typeface="Lato"/>
              </a:defRPr>
            </a:lvl1pPr>
            <a:lvl2pPr lvl="1" algn="ctr">
              <a:lnSpc>
                <a:spcPct val="115000"/>
              </a:lnSpc>
              <a:spcBef>
                <a:spcPts val="0"/>
              </a:spcBef>
              <a:spcAft>
                <a:spcPts val="0"/>
              </a:spcAft>
              <a:buNone/>
              <a:defRPr sz="1200">
                <a:solidFill>
                  <a:schemeClr val="lt1"/>
                </a:solidFill>
                <a:latin typeface="Lato"/>
                <a:ea typeface="Lato"/>
                <a:cs typeface="Lato"/>
                <a:sym typeface="Lato"/>
              </a:defRPr>
            </a:lvl2pPr>
            <a:lvl3pPr lvl="2" algn="ctr">
              <a:lnSpc>
                <a:spcPct val="115000"/>
              </a:lnSpc>
              <a:spcBef>
                <a:spcPts val="0"/>
              </a:spcBef>
              <a:spcAft>
                <a:spcPts val="0"/>
              </a:spcAft>
              <a:buNone/>
              <a:defRPr sz="1200">
                <a:solidFill>
                  <a:schemeClr val="lt1"/>
                </a:solidFill>
                <a:latin typeface="Lato"/>
                <a:ea typeface="Lato"/>
                <a:cs typeface="Lato"/>
                <a:sym typeface="Lato"/>
              </a:defRPr>
            </a:lvl3pPr>
            <a:lvl4pPr lvl="3" algn="ctr">
              <a:lnSpc>
                <a:spcPct val="115000"/>
              </a:lnSpc>
              <a:spcBef>
                <a:spcPts val="0"/>
              </a:spcBef>
              <a:spcAft>
                <a:spcPts val="0"/>
              </a:spcAft>
              <a:buNone/>
              <a:defRPr sz="1200">
                <a:solidFill>
                  <a:schemeClr val="lt1"/>
                </a:solidFill>
                <a:latin typeface="Lato"/>
                <a:ea typeface="Lato"/>
                <a:cs typeface="Lato"/>
                <a:sym typeface="Lato"/>
              </a:defRPr>
            </a:lvl4pPr>
            <a:lvl5pPr lvl="4" algn="ctr">
              <a:lnSpc>
                <a:spcPct val="115000"/>
              </a:lnSpc>
              <a:spcBef>
                <a:spcPts val="0"/>
              </a:spcBef>
              <a:spcAft>
                <a:spcPts val="0"/>
              </a:spcAft>
              <a:buNone/>
              <a:defRPr sz="1200">
                <a:solidFill>
                  <a:schemeClr val="lt1"/>
                </a:solidFill>
                <a:latin typeface="Lato"/>
                <a:ea typeface="Lato"/>
                <a:cs typeface="Lato"/>
                <a:sym typeface="Lato"/>
              </a:defRPr>
            </a:lvl5pPr>
            <a:lvl6pPr lvl="5" algn="ctr">
              <a:lnSpc>
                <a:spcPct val="115000"/>
              </a:lnSpc>
              <a:spcBef>
                <a:spcPts val="0"/>
              </a:spcBef>
              <a:spcAft>
                <a:spcPts val="0"/>
              </a:spcAft>
              <a:buNone/>
              <a:defRPr sz="1200">
                <a:solidFill>
                  <a:schemeClr val="lt1"/>
                </a:solidFill>
                <a:latin typeface="Lato"/>
                <a:ea typeface="Lato"/>
                <a:cs typeface="Lato"/>
                <a:sym typeface="Lato"/>
              </a:defRPr>
            </a:lvl6pPr>
            <a:lvl7pPr lvl="6" algn="ctr">
              <a:lnSpc>
                <a:spcPct val="115000"/>
              </a:lnSpc>
              <a:spcBef>
                <a:spcPts val="0"/>
              </a:spcBef>
              <a:spcAft>
                <a:spcPts val="0"/>
              </a:spcAft>
              <a:buNone/>
              <a:defRPr sz="1200">
                <a:solidFill>
                  <a:schemeClr val="lt1"/>
                </a:solidFill>
                <a:latin typeface="Lato"/>
                <a:ea typeface="Lato"/>
                <a:cs typeface="Lato"/>
                <a:sym typeface="Lato"/>
              </a:defRPr>
            </a:lvl7pPr>
            <a:lvl8pPr lvl="7" algn="ctr">
              <a:lnSpc>
                <a:spcPct val="115000"/>
              </a:lnSpc>
              <a:spcBef>
                <a:spcPts val="0"/>
              </a:spcBef>
              <a:spcAft>
                <a:spcPts val="0"/>
              </a:spcAft>
              <a:buNone/>
              <a:defRPr sz="1200">
                <a:solidFill>
                  <a:schemeClr val="lt1"/>
                </a:solidFill>
                <a:latin typeface="Lato"/>
                <a:ea typeface="Lato"/>
                <a:cs typeface="Lato"/>
                <a:sym typeface="Lato"/>
              </a:defRPr>
            </a:lvl8pPr>
            <a:lvl9pPr lvl="8" algn="ctr">
              <a:lnSpc>
                <a:spcPct val="115000"/>
              </a:lnSpc>
              <a:spcBef>
                <a:spcPts val="0"/>
              </a:spcBef>
              <a:spcAft>
                <a:spcPts val="0"/>
              </a:spcAft>
              <a:buNone/>
              <a:defRPr sz="1200">
                <a:solidFill>
                  <a:schemeClr val="lt1"/>
                </a:solidFill>
                <a:latin typeface="Lato"/>
                <a:ea typeface="Lato"/>
                <a:cs typeface="Lato"/>
                <a:sym typeface="Lato"/>
              </a:defRPr>
            </a:lvl9pPr>
          </a:lstStyle>
          <a:p/>
        </p:txBody>
      </p:sp>
      <p:sp>
        <p:nvSpPr>
          <p:cNvPr id="151" name="Google Shape;151;p21"/>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52" name="Google Shape;152;p21"/>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53" name="Google Shape;153;p21"/>
          <p:cNvSpPr/>
          <p:nvPr>
            <p:ph idx="3" type="pic"/>
          </p:nvPr>
        </p:nvSpPr>
        <p:spPr>
          <a:xfrm>
            <a:off x="0" y="0"/>
            <a:ext cx="9144000" cy="10791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dk2"/>
        </a:solidFill>
      </p:bgPr>
    </p:bg>
    <p:spTree>
      <p:nvGrpSpPr>
        <p:cNvPr id="154" name="Shape 154"/>
        <p:cNvGrpSpPr/>
        <p:nvPr/>
      </p:nvGrpSpPr>
      <p:grpSpPr>
        <a:xfrm>
          <a:off x="0" y="0"/>
          <a:ext cx="0" cy="0"/>
          <a:chOff x="0" y="0"/>
          <a:chExt cx="0" cy="0"/>
        </a:xfrm>
      </p:grpSpPr>
      <p:sp>
        <p:nvSpPr>
          <p:cNvPr id="155" name="Google Shape;155;p22"/>
          <p:cNvSpPr txBox="1"/>
          <p:nvPr>
            <p:ph type="title"/>
          </p:nvPr>
        </p:nvSpPr>
        <p:spPr>
          <a:xfrm>
            <a:off x="270983" y="1985025"/>
            <a:ext cx="3342900" cy="273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56" name="Google Shape;156;p22"/>
          <p:cNvSpPr txBox="1"/>
          <p:nvPr>
            <p:ph idx="2" type="title"/>
          </p:nvPr>
        </p:nvSpPr>
        <p:spPr>
          <a:xfrm>
            <a:off x="270983"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57" name="Google Shape;157;p22"/>
          <p:cNvSpPr txBox="1"/>
          <p:nvPr>
            <p:ph idx="3" type="title"/>
          </p:nvPr>
        </p:nvSpPr>
        <p:spPr>
          <a:xfrm>
            <a:off x="270983"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58" name="Google Shape;158;p22"/>
          <p:cNvSpPr txBox="1"/>
          <p:nvPr>
            <p:ph idx="4" type="title"/>
          </p:nvPr>
        </p:nvSpPr>
        <p:spPr>
          <a:xfrm>
            <a:off x="4858317" y="19850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59" name="Google Shape;159;p22"/>
          <p:cNvSpPr txBox="1"/>
          <p:nvPr>
            <p:ph idx="5" type="title"/>
          </p:nvPr>
        </p:nvSpPr>
        <p:spPr>
          <a:xfrm>
            <a:off x="4858317"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60" name="Google Shape;160;p22"/>
          <p:cNvSpPr txBox="1"/>
          <p:nvPr>
            <p:ph idx="6" type="title"/>
          </p:nvPr>
        </p:nvSpPr>
        <p:spPr>
          <a:xfrm>
            <a:off x="4858317"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61" name="Google Shape;161;p22"/>
          <p:cNvSpPr txBox="1"/>
          <p:nvPr>
            <p:ph idx="7"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62" name="Google Shape;162;p2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63" name="Google Shape;163;p22"/>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64" name="Google Shape;164;p22"/>
          <p:cNvSpPr txBox="1"/>
          <p:nvPr>
            <p:ph idx="8" type="subTitle"/>
          </p:nvPr>
        </p:nvSpPr>
        <p:spPr>
          <a:xfrm>
            <a:off x="271825"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65" name="Google Shape;165;p22"/>
          <p:cNvSpPr txBox="1"/>
          <p:nvPr>
            <p:ph idx="9" type="subTitle"/>
          </p:nvPr>
        </p:nvSpPr>
        <p:spPr>
          <a:xfrm>
            <a:off x="4858700"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66" name="Google Shape;166;p22"/>
          <p:cNvSpPr txBox="1"/>
          <p:nvPr>
            <p:ph idx="13" type="subTitle"/>
          </p:nvPr>
        </p:nvSpPr>
        <p:spPr>
          <a:xfrm>
            <a:off x="271825"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67" name="Google Shape;167;p22"/>
          <p:cNvSpPr txBox="1"/>
          <p:nvPr>
            <p:ph idx="14" type="subTitle"/>
          </p:nvPr>
        </p:nvSpPr>
        <p:spPr>
          <a:xfrm>
            <a:off x="271825"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68" name="Google Shape;168;p22"/>
          <p:cNvSpPr txBox="1"/>
          <p:nvPr>
            <p:ph idx="15" type="subTitle"/>
          </p:nvPr>
        </p:nvSpPr>
        <p:spPr>
          <a:xfrm>
            <a:off x="4858700"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69" name="Google Shape;169;p22"/>
          <p:cNvSpPr txBox="1"/>
          <p:nvPr>
            <p:ph idx="16" type="subTitle"/>
          </p:nvPr>
        </p:nvSpPr>
        <p:spPr>
          <a:xfrm>
            <a:off x="4858700"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with right text">
  <p:cSld name="BLANK_1_1_1_1_1_1_1_1_1_1_1_1_1_1_1_1">
    <p:spTree>
      <p:nvGrpSpPr>
        <p:cNvPr id="170" name="Shape 170"/>
        <p:cNvGrpSpPr/>
        <p:nvPr/>
      </p:nvGrpSpPr>
      <p:grpSpPr>
        <a:xfrm>
          <a:off x="0" y="0"/>
          <a:ext cx="0" cy="0"/>
          <a:chOff x="0" y="0"/>
          <a:chExt cx="0" cy="0"/>
        </a:xfrm>
      </p:grpSpPr>
      <p:sp>
        <p:nvSpPr>
          <p:cNvPr id="171" name="Google Shape;171;p23"/>
          <p:cNvSpPr/>
          <p:nvPr>
            <p:ph idx="2" type="pic"/>
          </p:nvPr>
        </p:nvSpPr>
        <p:spPr>
          <a:xfrm>
            <a:off x="0" y="0"/>
            <a:ext cx="4348800" cy="5143500"/>
          </a:xfrm>
          <a:prstGeom prst="rect">
            <a:avLst/>
          </a:prstGeom>
          <a:noFill/>
          <a:ln>
            <a:noFill/>
          </a:ln>
        </p:spPr>
      </p:sp>
      <p:sp>
        <p:nvSpPr>
          <p:cNvPr id="172" name="Google Shape;172;p23"/>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73" name="Google Shape;173;p23"/>
          <p:cNvSpPr txBox="1"/>
          <p:nvPr>
            <p:ph type="title"/>
          </p:nvPr>
        </p:nvSpPr>
        <p:spPr>
          <a:xfrm>
            <a:off x="4618950" y="457200"/>
            <a:ext cx="4251600" cy="7515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74" name="Google Shape;174;p23"/>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75" name="Google Shape;175;p23"/>
          <p:cNvSpPr txBox="1"/>
          <p:nvPr>
            <p:ph idx="3" type="subTitle"/>
          </p:nvPr>
        </p:nvSpPr>
        <p:spPr>
          <a:xfrm>
            <a:off x="4618950" y="2823908"/>
            <a:ext cx="4251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6" name="Google Shape;176;p23"/>
          <p:cNvSpPr txBox="1"/>
          <p:nvPr>
            <p:ph idx="4" type="body"/>
          </p:nvPr>
        </p:nvSpPr>
        <p:spPr>
          <a:xfrm>
            <a:off x="4618950" y="3457500"/>
            <a:ext cx="4251600" cy="906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Lato"/>
              <a:buChar char="●"/>
              <a:defRPr/>
            </a:lvl1pPr>
            <a:lvl2pPr indent="-304800" lvl="1" marL="914400">
              <a:spcBef>
                <a:spcPts val="0"/>
              </a:spcBef>
              <a:spcAft>
                <a:spcPts val="0"/>
              </a:spcAft>
              <a:buClr>
                <a:schemeClr val="lt1"/>
              </a:buClr>
              <a:buSzPts val="1200"/>
              <a:buFont typeface="Lato"/>
              <a:buChar char="○"/>
              <a:defRPr/>
            </a:lvl2pPr>
            <a:lvl3pPr indent="-304800" lvl="2" marL="1371600">
              <a:spcBef>
                <a:spcPts val="0"/>
              </a:spcBef>
              <a:spcAft>
                <a:spcPts val="0"/>
              </a:spcAft>
              <a:buClr>
                <a:schemeClr val="lt1"/>
              </a:buClr>
              <a:buSzPts val="1200"/>
              <a:buFont typeface="Lato"/>
              <a:buChar char="■"/>
              <a:defRPr/>
            </a:lvl3pPr>
            <a:lvl4pPr indent="-304800" lvl="3" marL="1828800">
              <a:spcBef>
                <a:spcPts val="0"/>
              </a:spcBef>
              <a:spcAft>
                <a:spcPts val="0"/>
              </a:spcAft>
              <a:buClr>
                <a:schemeClr val="lt1"/>
              </a:buClr>
              <a:buSzPts val="1200"/>
              <a:buFont typeface="Lato"/>
              <a:buChar char="●"/>
              <a:defRPr/>
            </a:lvl4pPr>
            <a:lvl5pPr indent="-304800" lvl="4" marL="2286000">
              <a:spcBef>
                <a:spcPts val="0"/>
              </a:spcBef>
              <a:spcAft>
                <a:spcPts val="0"/>
              </a:spcAft>
              <a:buClr>
                <a:schemeClr val="lt1"/>
              </a:buClr>
              <a:buSzPts val="1200"/>
              <a:buFont typeface="Lato"/>
              <a:buChar char="○"/>
              <a:defRPr/>
            </a:lvl5pPr>
            <a:lvl6pPr indent="-304800" lvl="5" marL="2743200">
              <a:spcBef>
                <a:spcPts val="0"/>
              </a:spcBef>
              <a:spcAft>
                <a:spcPts val="0"/>
              </a:spcAft>
              <a:buClr>
                <a:schemeClr val="lt1"/>
              </a:buClr>
              <a:buSzPts val="1200"/>
              <a:buFont typeface="Lato"/>
              <a:buChar char="■"/>
              <a:defRPr/>
            </a:lvl6pPr>
            <a:lvl7pPr indent="-304800" lvl="6" marL="3200400">
              <a:spcBef>
                <a:spcPts val="0"/>
              </a:spcBef>
              <a:spcAft>
                <a:spcPts val="0"/>
              </a:spcAft>
              <a:buClr>
                <a:schemeClr val="lt1"/>
              </a:buClr>
              <a:buSzPts val="1200"/>
              <a:buFont typeface="Lato"/>
              <a:buChar char="●"/>
              <a:defRPr/>
            </a:lvl7pPr>
            <a:lvl8pPr indent="-304800" lvl="7" marL="3657600">
              <a:spcBef>
                <a:spcPts val="0"/>
              </a:spcBef>
              <a:spcAft>
                <a:spcPts val="0"/>
              </a:spcAft>
              <a:buClr>
                <a:schemeClr val="lt1"/>
              </a:buClr>
              <a:buSzPts val="1200"/>
              <a:buFont typeface="Lato"/>
              <a:buChar char="○"/>
              <a:defRPr/>
            </a:lvl8pPr>
            <a:lvl9pPr indent="-304800" lvl="8" marL="4114800">
              <a:spcBef>
                <a:spcPts val="0"/>
              </a:spcBef>
              <a:spcAft>
                <a:spcPts val="0"/>
              </a:spcAft>
              <a:buClr>
                <a:schemeClr val="lt1"/>
              </a:buClr>
              <a:buSzPts val="1200"/>
              <a:buFont typeface="Lato"/>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image">
  <p:cSld name="BLANK_1_1_1_1_1_1_1_1_1_1_1_1_1_1_1_1_2">
    <p:spTree>
      <p:nvGrpSpPr>
        <p:cNvPr id="177" name="Shape 177"/>
        <p:cNvGrpSpPr/>
        <p:nvPr/>
      </p:nvGrpSpPr>
      <p:grpSpPr>
        <a:xfrm>
          <a:off x="0" y="0"/>
          <a:ext cx="0" cy="0"/>
          <a:chOff x="0" y="0"/>
          <a:chExt cx="0" cy="0"/>
        </a:xfrm>
      </p:grpSpPr>
      <p:sp>
        <p:nvSpPr>
          <p:cNvPr id="178" name="Google Shape;178;p24"/>
          <p:cNvSpPr/>
          <p:nvPr>
            <p:ph idx="2" type="pic"/>
          </p:nvPr>
        </p:nvSpPr>
        <p:spPr>
          <a:xfrm>
            <a:off x="6877724" y="0"/>
            <a:ext cx="2266200" cy="3405000"/>
          </a:xfrm>
          <a:prstGeom prst="rect">
            <a:avLst/>
          </a:prstGeom>
          <a:noFill/>
          <a:ln>
            <a:noFill/>
          </a:ln>
        </p:spPr>
      </p:sp>
      <p:sp>
        <p:nvSpPr>
          <p:cNvPr id="179" name="Google Shape;179;p24"/>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80" name="Google Shape;180;p24"/>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81" name="Google Shape;181;p24"/>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
    <p:spTree>
      <p:nvGrpSpPr>
        <p:cNvPr id="182" name="Shape 182"/>
        <p:cNvGrpSpPr/>
        <p:nvPr/>
      </p:nvGrpSpPr>
      <p:grpSpPr>
        <a:xfrm>
          <a:off x="0" y="0"/>
          <a:ext cx="0" cy="0"/>
          <a:chOff x="0" y="0"/>
          <a:chExt cx="0" cy="0"/>
        </a:xfrm>
      </p:grpSpPr>
      <p:sp>
        <p:nvSpPr>
          <p:cNvPr id="183" name="Google Shape;183;p2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lvl="0">
              <a:buNone/>
              <a:defRPr>
                <a:latin typeface="Lato"/>
                <a:ea typeface="Lato"/>
                <a:cs typeface="Lato"/>
                <a:sym typeface="Lato"/>
              </a:defRPr>
            </a:lvl1pPr>
            <a:lvl2pPr lvl="1">
              <a:buNone/>
              <a:defRPr>
                <a:latin typeface="Lato"/>
                <a:ea typeface="Lato"/>
                <a:cs typeface="Lato"/>
                <a:sym typeface="Lato"/>
              </a:defRPr>
            </a:lvl2pPr>
            <a:lvl3pPr lvl="2">
              <a:buNone/>
              <a:defRPr>
                <a:latin typeface="Lato"/>
                <a:ea typeface="Lato"/>
                <a:cs typeface="Lato"/>
                <a:sym typeface="Lato"/>
              </a:defRPr>
            </a:lvl3pPr>
            <a:lvl4pPr lvl="3">
              <a:buNone/>
              <a:defRPr>
                <a:latin typeface="Lato"/>
                <a:ea typeface="Lato"/>
                <a:cs typeface="Lato"/>
                <a:sym typeface="Lato"/>
              </a:defRPr>
            </a:lvl4pPr>
            <a:lvl5pPr lvl="4">
              <a:buNone/>
              <a:defRPr>
                <a:latin typeface="Lato"/>
                <a:ea typeface="Lato"/>
                <a:cs typeface="Lato"/>
                <a:sym typeface="Lato"/>
              </a:defRPr>
            </a:lvl5pPr>
            <a:lvl6pPr lvl="5">
              <a:buNone/>
              <a:defRPr>
                <a:latin typeface="Lato"/>
                <a:ea typeface="Lato"/>
                <a:cs typeface="Lato"/>
                <a:sym typeface="Lato"/>
              </a:defRPr>
            </a:lvl6pPr>
            <a:lvl7pPr lvl="6">
              <a:buNone/>
              <a:defRPr>
                <a:latin typeface="Lato"/>
                <a:ea typeface="Lato"/>
                <a:cs typeface="Lato"/>
                <a:sym typeface="Lato"/>
              </a:defRPr>
            </a:lvl7pPr>
            <a:lvl8pPr lvl="7">
              <a:buNone/>
              <a:defRPr>
                <a:latin typeface="Lato"/>
                <a:ea typeface="Lato"/>
                <a:cs typeface="Lato"/>
                <a:sym typeface="Lato"/>
              </a:defRPr>
            </a:lvl8pPr>
            <a:lvl9pPr lvl="8">
              <a:buNone/>
              <a:defRPr>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84" name="Google Shape;184;p25"/>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85" name="Google Shape;185;p25"/>
          <p:cNvSpPr txBox="1"/>
          <p:nvPr>
            <p:ph idx="1" type="subTitle"/>
          </p:nvPr>
        </p:nvSpPr>
        <p:spPr>
          <a:xfrm>
            <a:off x="1114250" y="18790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86" name="Google Shape;186;p25"/>
          <p:cNvSpPr txBox="1"/>
          <p:nvPr>
            <p:ph idx="2" type="subTitle"/>
          </p:nvPr>
        </p:nvSpPr>
        <p:spPr>
          <a:xfrm>
            <a:off x="2135350" y="18790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87" name="Google Shape;187;p25"/>
          <p:cNvSpPr txBox="1"/>
          <p:nvPr>
            <p:ph idx="3" type="subTitle"/>
          </p:nvPr>
        </p:nvSpPr>
        <p:spPr>
          <a:xfrm>
            <a:off x="5787475" y="19129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88" name="Google Shape;188;p25"/>
          <p:cNvSpPr txBox="1"/>
          <p:nvPr>
            <p:ph idx="4" type="subTitle"/>
          </p:nvPr>
        </p:nvSpPr>
        <p:spPr>
          <a:xfrm>
            <a:off x="1114250" y="28168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89" name="Google Shape;189;p25"/>
          <p:cNvSpPr txBox="1"/>
          <p:nvPr>
            <p:ph idx="5" type="subTitle"/>
          </p:nvPr>
        </p:nvSpPr>
        <p:spPr>
          <a:xfrm>
            <a:off x="2135350" y="28168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90" name="Google Shape;190;p25"/>
          <p:cNvSpPr txBox="1"/>
          <p:nvPr>
            <p:ph idx="6" type="subTitle"/>
          </p:nvPr>
        </p:nvSpPr>
        <p:spPr>
          <a:xfrm>
            <a:off x="5787475" y="28507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91" name="Google Shape;191;p25"/>
          <p:cNvSpPr txBox="1"/>
          <p:nvPr>
            <p:ph idx="7" type="subTitle"/>
          </p:nvPr>
        </p:nvSpPr>
        <p:spPr>
          <a:xfrm>
            <a:off x="1114250" y="37546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92" name="Google Shape;192;p25"/>
          <p:cNvSpPr txBox="1"/>
          <p:nvPr>
            <p:ph idx="8" type="subTitle"/>
          </p:nvPr>
        </p:nvSpPr>
        <p:spPr>
          <a:xfrm>
            <a:off x="2135350" y="37546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93" name="Google Shape;193;p25"/>
          <p:cNvSpPr txBox="1"/>
          <p:nvPr>
            <p:ph idx="9" type="subTitle"/>
          </p:nvPr>
        </p:nvSpPr>
        <p:spPr>
          <a:xfrm>
            <a:off x="5787475" y="37885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1">
  <p:cSld name="CUSTOM_1">
    <p:spTree>
      <p:nvGrpSpPr>
        <p:cNvPr id="194" name="Shape 194"/>
        <p:cNvGrpSpPr/>
        <p:nvPr/>
      </p:nvGrpSpPr>
      <p:grpSpPr>
        <a:xfrm>
          <a:off x="0" y="0"/>
          <a:ext cx="0" cy="0"/>
          <a:chOff x="0" y="0"/>
          <a:chExt cx="0" cy="0"/>
        </a:xfrm>
      </p:grpSpPr>
      <p:sp>
        <p:nvSpPr>
          <p:cNvPr id="195" name="Google Shape;195;p26"/>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96" name="Google Shape;196;p26"/>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97" name="Google Shape;197;p26"/>
          <p:cNvSpPr txBox="1"/>
          <p:nvPr>
            <p:ph idx="1" type="subTitle"/>
          </p:nvPr>
        </p:nvSpPr>
        <p:spPr>
          <a:xfrm>
            <a:off x="276075" y="1194000"/>
            <a:ext cx="19902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98" name="Google Shape;198;p26"/>
          <p:cNvSpPr txBox="1"/>
          <p:nvPr>
            <p:ph idx="2" type="subTitle"/>
          </p:nvPr>
        </p:nvSpPr>
        <p:spPr>
          <a:xfrm>
            <a:off x="3074775" y="1194000"/>
            <a:ext cx="4164900" cy="226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99" name="Google Shape;199;p26"/>
          <p:cNvSpPr txBox="1"/>
          <p:nvPr>
            <p:ph idx="3" type="body"/>
          </p:nvPr>
        </p:nvSpPr>
        <p:spPr>
          <a:xfrm>
            <a:off x="30747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00" name="Google Shape;200;p26"/>
          <p:cNvSpPr txBox="1"/>
          <p:nvPr>
            <p:ph idx="4" type="subTitle"/>
          </p:nvPr>
        </p:nvSpPr>
        <p:spPr>
          <a:xfrm>
            <a:off x="30747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01" name="Google Shape;201;p26"/>
          <p:cNvSpPr txBox="1"/>
          <p:nvPr>
            <p:ph idx="5" type="body"/>
          </p:nvPr>
        </p:nvSpPr>
        <p:spPr>
          <a:xfrm>
            <a:off x="48828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02" name="Google Shape;202;p26"/>
          <p:cNvSpPr txBox="1"/>
          <p:nvPr>
            <p:ph idx="6" type="subTitle"/>
          </p:nvPr>
        </p:nvSpPr>
        <p:spPr>
          <a:xfrm>
            <a:off x="48828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03" name="Google Shape;203;p26"/>
          <p:cNvSpPr txBox="1"/>
          <p:nvPr>
            <p:ph idx="7" type="body"/>
          </p:nvPr>
        </p:nvSpPr>
        <p:spPr>
          <a:xfrm>
            <a:off x="66909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04" name="Google Shape;204;p26"/>
          <p:cNvSpPr txBox="1"/>
          <p:nvPr>
            <p:ph idx="8" type="subTitle"/>
          </p:nvPr>
        </p:nvSpPr>
        <p:spPr>
          <a:xfrm>
            <a:off x="66909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05" name="Google Shape;205;p26"/>
          <p:cNvSpPr txBox="1"/>
          <p:nvPr>
            <p:ph idx="9"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206" name="Google Shape;206;p26"/>
          <p:cNvSpPr/>
          <p:nvPr>
            <p:ph idx="13" type="pic"/>
          </p:nvPr>
        </p:nvSpPr>
        <p:spPr>
          <a:xfrm>
            <a:off x="-74" y="3991500"/>
            <a:ext cx="2266200" cy="11520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2">
  <p:cSld name="CUSTOM_1_1">
    <p:spTree>
      <p:nvGrpSpPr>
        <p:cNvPr id="207" name="Shape 207"/>
        <p:cNvGrpSpPr/>
        <p:nvPr/>
      </p:nvGrpSpPr>
      <p:grpSpPr>
        <a:xfrm>
          <a:off x="0" y="0"/>
          <a:ext cx="0" cy="0"/>
          <a:chOff x="0" y="0"/>
          <a:chExt cx="0" cy="0"/>
        </a:xfrm>
      </p:grpSpPr>
      <p:sp>
        <p:nvSpPr>
          <p:cNvPr id="208" name="Google Shape;208;p27"/>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209" name="Google Shape;209;p27"/>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210" name="Google Shape;210;p27"/>
          <p:cNvSpPr txBox="1"/>
          <p:nvPr>
            <p:ph idx="1" type="subTitle"/>
          </p:nvPr>
        </p:nvSpPr>
        <p:spPr>
          <a:xfrm>
            <a:off x="276075" y="1194000"/>
            <a:ext cx="49926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211" name="Google Shape;211;p27"/>
          <p:cNvSpPr txBox="1"/>
          <p:nvPr>
            <p:ph idx="2"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212" name="Google Shape;212;p27"/>
          <p:cNvSpPr txBox="1"/>
          <p:nvPr>
            <p:ph idx="3"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213" name="Google Shape;213;p27"/>
          <p:cNvSpPr txBox="1"/>
          <p:nvPr>
            <p:ph idx="4" type="body"/>
          </p:nvPr>
        </p:nvSpPr>
        <p:spPr>
          <a:xfrm>
            <a:off x="2760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14" name="Google Shape;214;p27"/>
          <p:cNvSpPr txBox="1"/>
          <p:nvPr>
            <p:ph idx="5" type="subTitle"/>
          </p:nvPr>
        </p:nvSpPr>
        <p:spPr>
          <a:xfrm>
            <a:off x="2760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15" name="Google Shape;215;p27"/>
          <p:cNvSpPr txBox="1"/>
          <p:nvPr>
            <p:ph idx="6" type="body"/>
          </p:nvPr>
        </p:nvSpPr>
        <p:spPr>
          <a:xfrm>
            <a:off x="30747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16" name="Google Shape;216;p27"/>
          <p:cNvSpPr txBox="1"/>
          <p:nvPr>
            <p:ph idx="7" type="subTitle"/>
          </p:nvPr>
        </p:nvSpPr>
        <p:spPr>
          <a:xfrm>
            <a:off x="30747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17" name="Google Shape;217;p27"/>
          <p:cNvSpPr txBox="1"/>
          <p:nvPr>
            <p:ph idx="8" type="body"/>
          </p:nvPr>
        </p:nvSpPr>
        <p:spPr>
          <a:xfrm>
            <a:off x="58734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18" name="Google Shape;218;p27"/>
          <p:cNvSpPr txBox="1"/>
          <p:nvPr>
            <p:ph idx="9" type="subTitle"/>
          </p:nvPr>
        </p:nvSpPr>
        <p:spPr>
          <a:xfrm>
            <a:off x="58734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19" name="Google Shape;219;p27"/>
          <p:cNvSpPr/>
          <p:nvPr>
            <p:ph idx="13" type="pic"/>
          </p:nvPr>
        </p:nvSpPr>
        <p:spPr>
          <a:xfrm>
            <a:off x="276075" y="2076900"/>
            <a:ext cx="2463300" cy="1570200"/>
          </a:xfrm>
          <a:prstGeom prst="rect">
            <a:avLst/>
          </a:prstGeom>
          <a:noFill/>
          <a:ln>
            <a:noFill/>
          </a:ln>
        </p:spPr>
      </p:sp>
      <p:sp>
        <p:nvSpPr>
          <p:cNvPr id="220" name="Google Shape;220;p27"/>
          <p:cNvSpPr/>
          <p:nvPr>
            <p:ph idx="14" type="pic"/>
          </p:nvPr>
        </p:nvSpPr>
        <p:spPr>
          <a:xfrm>
            <a:off x="3074775" y="2076900"/>
            <a:ext cx="2463300" cy="1570200"/>
          </a:xfrm>
          <a:prstGeom prst="rect">
            <a:avLst/>
          </a:prstGeom>
          <a:noFill/>
          <a:ln>
            <a:noFill/>
          </a:ln>
        </p:spPr>
      </p:sp>
      <p:sp>
        <p:nvSpPr>
          <p:cNvPr id="221" name="Google Shape;221;p27"/>
          <p:cNvSpPr/>
          <p:nvPr>
            <p:ph idx="15" type="pic"/>
          </p:nvPr>
        </p:nvSpPr>
        <p:spPr>
          <a:xfrm>
            <a:off x="5873475" y="2073688"/>
            <a:ext cx="2463300" cy="15702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3">
  <p:cSld name="CUSTOM_1_1_1">
    <p:spTree>
      <p:nvGrpSpPr>
        <p:cNvPr id="222" name="Shape 222"/>
        <p:cNvGrpSpPr/>
        <p:nvPr/>
      </p:nvGrpSpPr>
      <p:grpSpPr>
        <a:xfrm>
          <a:off x="0" y="0"/>
          <a:ext cx="0" cy="0"/>
          <a:chOff x="0" y="0"/>
          <a:chExt cx="0" cy="0"/>
        </a:xfrm>
      </p:grpSpPr>
      <p:sp>
        <p:nvSpPr>
          <p:cNvPr id="223" name="Google Shape;223;p28"/>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224" name="Google Shape;224;p28"/>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225" name="Google Shape;225;p28"/>
          <p:cNvSpPr txBox="1"/>
          <p:nvPr>
            <p:ph idx="1"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226" name="Google Shape;226;p28"/>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27" name="Shape 227"/>
        <p:cNvGrpSpPr/>
        <p:nvPr/>
      </p:nvGrpSpPr>
      <p:grpSpPr>
        <a:xfrm>
          <a:off x="0" y="0"/>
          <a:ext cx="0" cy="0"/>
          <a:chOff x="0" y="0"/>
          <a:chExt cx="0" cy="0"/>
        </a:xfrm>
      </p:grpSpPr>
      <p:sp>
        <p:nvSpPr>
          <p:cNvPr id="228" name="Google Shape;228;p2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29" name="Google Shape;229;p29"/>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30" name="Shape 230"/>
        <p:cNvGrpSpPr/>
        <p:nvPr/>
      </p:nvGrpSpPr>
      <p:grpSpPr>
        <a:xfrm>
          <a:off x="0" y="0"/>
          <a:ext cx="0" cy="0"/>
          <a:chOff x="0" y="0"/>
          <a:chExt cx="0" cy="0"/>
        </a:xfrm>
      </p:grpSpPr>
      <p:sp>
        <p:nvSpPr>
          <p:cNvPr id="231" name="Google Shape;231;p3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32" name="Shape 232"/>
        <p:cNvGrpSpPr/>
        <p:nvPr/>
      </p:nvGrpSpPr>
      <p:grpSpPr>
        <a:xfrm>
          <a:off x="0" y="0"/>
          <a:ext cx="0" cy="0"/>
          <a:chOff x="0" y="0"/>
          <a:chExt cx="0" cy="0"/>
        </a:xfrm>
      </p:grpSpPr>
      <p:sp>
        <p:nvSpPr>
          <p:cNvPr id="233" name="Google Shape;233;p3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34" name="Google Shape;234;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35" name="Shape 235"/>
        <p:cNvGrpSpPr/>
        <p:nvPr/>
      </p:nvGrpSpPr>
      <p:grpSpPr>
        <a:xfrm>
          <a:off x="0" y="0"/>
          <a:ext cx="0" cy="0"/>
          <a:chOff x="0" y="0"/>
          <a:chExt cx="0" cy="0"/>
        </a:xfrm>
      </p:grpSpPr>
      <p:sp>
        <p:nvSpPr>
          <p:cNvPr id="236" name="Google Shape;236;p32"/>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37" name="Google Shape;237;p3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8" name="Google Shape;238;p3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39" name="Shape 239"/>
        <p:cNvGrpSpPr/>
        <p:nvPr/>
      </p:nvGrpSpPr>
      <p:grpSpPr>
        <a:xfrm>
          <a:off x="0" y="0"/>
          <a:ext cx="0" cy="0"/>
          <a:chOff x="0" y="0"/>
          <a:chExt cx="0" cy="0"/>
        </a:xfrm>
      </p:grpSpPr>
      <p:sp>
        <p:nvSpPr>
          <p:cNvPr id="240" name="Google Shape;240;p3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41" name="Shape 241"/>
        <p:cNvGrpSpPr/>
        <p:nvPr/>
      </p:nvGrpSpPr>
      <p:grpSpPr>
        <a:xfrm>
          <a:off x="0" y="0"/>
          <a:ext cx="0" cy="0"/>
          <a:chOff x="0" y="0"/>
          <a:chExt cx="0" cy="0"/>
        </a:xfrm>
      </p:grpSpPr>
      <p:sp>
        <p:nvSpPr>
          <p:cNvPr id="242" name="Google Shape;242;p3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43" name="Google Shape;243;p3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44" name="Shape 244"/>
        <p:cNvGrpSpPr/>
        <p:nvPr/>
      </p:nvGrpSpPr>
      <p:grpSpPr>
        <a:xfrm>
          <a:off x="0" y="0"/>
          <a:ext cx="0" cy="0"/>
          <a:chOff x="0" y="0"/>
          <a:chExt cx="0" cy="0"/>
        </a:xfrm>
      </p:grpSpPr>
      <p:sp>
        <p:nvSpPr>
          <p:cNvPr id="245" name="Google Shape;245;p3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46" name="Shape 246"/>
        <p:cNvGrpSpPr/>
        <p:nvPr/>
      </p:nvGrpSpPr>
      <p:grpSpPr>
        <a:xfrm>
          <a:off x="0" y="0"/>
          <a:ext cx="0" cy="0"/>
          <a:chOff x="0" y="0"/>
          <a:chExt cx="0" cy="0"/>
        </a:xfrm>
      </p:grpSpPr>
      <p:sp>
        <p:nvSpPr>
          <p:cNvPr id="247" name="Google Shape;247;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48" name="Google Shape;248;p36"/>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9" name="Google Shape;249;p3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50" name="Shape 250"/>
        <p:cNvGrpSpPr/>
        <p:nvPr/>
      </p:nvGrpSpPr>
      <p:grpSpPr>
        <a:xfrm>
          <a:off x="0" y="0"/>
          <a:ext cx="0" cy="0"/>
          <a:chOff x="0" y="0"/>
          <a:chExt cx="0" cy="0"/>
        </a:xfrm>
      </p:grpSpPr>
      <p:sp>
        <p:nvSpPr>
          <p:cNvPr id="251" name="Google Shape;251;p3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52" name="Shape 252"/>
        <p:cNvGrpSpPr/>
        <p:nvPr/>
      </p:nvGrpSpPr>
      <p:grpSpPr>
        <a:xfrm>
          <a:off x="0" y="0"/>
          <a:ext cx="0" cy="0"/>
          <a:chOff x="0" y="0"/>
          <a:chExt cx="0" cy="0"/>
        </a:xfrm>
      </p:grpSpPr>
      <p:sp>
        <p:nvSpPr>
          <p:cNvPr id="253" name="Google Shape;253;p3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254" name="Google Shape;254;p3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55" name="Shape 255"/>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56" name="Shape 256"/>
        <p:cNvGrpSpPr/>
        <p:nvPr/>
      </p:nvGrpSpPr>
      <p:grpSpPr>
        <a:xfrm>
          <a:off x="0" y="0"/>
          <a:ext cx="0" cy="0"/>
          <a:chOff x="0" y="0"/>
          <a:chExt cx="0" cy="0"/>
        </a:xfrm>
      </p:grpSpPr>
      <p:sp>
        <p:nvSpPr>
          <p:cNvPr id="257" name="Google Shape;257;p40"/>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40"/>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9" name="Google Shape;259;p40"/>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0" name="Google Shape;260;p40"/>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1" name="Google Shape;261;p40"/>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2" name="Google Shape;262;p40"/>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3" name="Google Shape;263;p40"/>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64" name="Shape 264"/>
        <p:cNvGrpSpPr/>
        <p:nvPr/>
      </p:nvGrpSpPr>
      <p:grpSpPr>
        <a:xfrm>
          <a:off x="0" y="0"/>
          <a:ext cx="0" cy="0"/>
          <a:chOff x="0" y="0"/>
          <a:chExt cx="0" cy="0"/>
        </a:xfrm>
      </p:grpSpPr>
      <p:sp>
        <p:nvSpPr>
          <p:cNvPr id="265" name="Google Shape;265;p4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66" name="Google Shape;266;p4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7" name="Google Shape;267;p4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68" name="Shape 268"/>
        <p:cNvGrpSpPr/>
        <p:nvPr/>
      </p:nvGrpSpPr>
      <p:grpSpPr>
        <a:xfrm>
          <a:off x="0" y="0"/>
          <a:ext cx="0" cy="0"/>
          <a:chOff x="0" y="0"/>
          <a:chExt cx="0" cy="0"/>
        </a:xfrm>
      </p:grpSpPr>
      <p:sp>
        <p:nvSpPr>
          <p:cNvPr id="269" name="Google Shape;269;p42"/>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70" name="Google Shape;270;p4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1" name="Google Shape;271;p4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2" name="Google Shape;272;p42"/>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3" name="Google Shape;273;p42"/>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74" name="Shape 274"/>
        <p:cNvGrpSpPr/>
        <p:nvPr/>
      </p:nvGrpSpPr>
      <p:grpSpPr>
        <a:xfrm>
          <a:off x="0" y="0"/>
          <a:ext cx="0" cy="0"/>
          <a:chOff x="0" y="0"/>
          <a:chExt cx="0" cy="0"/>
        </a:xfrm>
      </p:grpSpPr>
      <p:sp>
        <p:nvSpPr>
          <p:cNvPr id="275" name="Google Shape;275;p4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6" name="Google Shape;276;p4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7" name="Google Shape;277;p43"/>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78" name="Google Shape;278;p43"/>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9" name="Google Shape;279;p43"/>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0" name="Google Shape;280;p43"/>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1" name="Google Shape;281;p4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82" name="Shape 282"/>
        <p:cNvGrpSpPr/>
        <p:nvPr/>
      </p:nvGrpSpPr>
      <p:grpSpPr>
        <a:xfrm>
          <a:off x="0" y="0"/>
          <a:ext cx="0" cy="0"/>
          <a:chOff x="0" y="0"/>
          <a:chExt cx="0" cy="0"/>
        </a:xfrm>
      </p:grpSpPr>
      <p:sp>
        <p:nvSpPr>
          <p:cNvPr id="283" name="Google Shape;283;p4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4" name="Google Shape;284;p4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5" name="Google Shape;285;p4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6" name="Google Shape;286;p4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7" name="Google Shape;287;p44"/>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88" name="Google Shape;288;p44"/>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44"/>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44"/>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44"/>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94" name="Google Shape;294;p4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295" name="Shape 295"/>
        <p:cNvGrpSpPr/>
        <p:nvPr/>
      </p:nvGrpSpPr>
      <p:grpSpPr>
        <a:xfrm>
          <a:off x="0" y="0"/>
          <a:ext cx="0" cy="0"/>
          <a:chOff x="0" y="0"/>
          <a:chExt cx="0" cy="0"/>
        </a:xfrm>
      </p:grpSpPr>
      <p:sp>
        <p:nvSpPr>
          <p:cNvPr id="296" name="Google Shape;296;p4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46"/>
          <p:cNvSpPr/>
          <p:nvPr>
            <p:ph idx="2" type="pic"/>
          </p:nvPr>
        </p:nvSpPr>
        <p:spPr>
          <a:xfrm>
            <a:off x="4804825" y="1133300"/>
            <a:ext cx="4027500" cy="2392800"/>
          </a:xfrm>
          <a:prstGeom prst="rect">
            <a:avLst/>
          </a:prstGeom>
          <a:noFill/>
          <a:ln>
            <a:noFill/>
          </a:ln>
        </p:spPr>
      </p:sp>
      <p:sp>
        <p:nvSpPr>
          <p:cNvPr id="298" name="Google Shape;298;p46"/>
          <p:cNvSpPr/>
          <p:nvPr>
            <p:ph idx="3" type="pic"/>
          </p:nvPr>
        </p:nvSpPr>
        <p:spPr>
          <a:xfrm>
            <a:off x="311725" y="1133300"/>
            <a:ext cx="4027500" cy="2392800"/>
          </a:xfrm>
          <a:prstGeom prst="rect">
            <a:avLst/>
          </a:prstGeom>
          <a:noFill/>
          <a:ln>
            <a:noFill/>
          </a:ln>
        </p:spPr>
      </p:sp>
      <p:sp>
        <p:nvSpPr>
          <p:cNvPr id="299" name="Google Shape;299;p4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0" name="Google Shape;300;p4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1" name="Google Shape;301;p46"/>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2" name="Google Shape;302;p46"/>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03" name="Shape 303"/>
        <p:cNvGrpSpPr/>
        <p:nvPr/>
      </p:nvGrpSpPr>
      <p:grpSpPr>
        <a:xfrm>
          <a:off x="0" y="0"/>
          <a:ext cx="0" cy="0"/>
          <a:chOff x="0" y="0"/>
          <a:chExt cx="0" cy="0"/>
        </a:xfrm>
      </p:grpSpPr>
      <p:sp>
        <p:nvSpPr>
          <p:cNvPr id="304" name="Google Shape;304;p4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5" name="Google Shape;305;p47"/>
          <p:cNvSpPr/>
          <p:nvPr>
            <p:ph idx="2" type="pic"/>
          </p:nvPr>
        </p:nvSpPr>
        <p:spPr>
          <a:xfrm>
            <a:off x="6205225" y="1128325"/>
            <a:ext cx="2627100" cy="2273100"/>
          </a:xfrm>
          <a:prstGeom prst="rect">
            <a:avLst/>
          </a:prstGeom>
          <a:noFill/>
          <a:ln>
            <a:noFill/>
          </a:ln>
        </p:spPr>
      </p:sp>
      <p:sp>
        <p:nvSpPr>
          <p:cNvPr id="306" name="Google Shape;306;p47"/>
          <p:cNvSpPr/>
          <p:nvPr>
            <p:ph idx="3" type="pic"/>
          </p:nvPr>
        </p:nvSpPr>
        <p:spPr>
          <a:xfrm>
            <a:off x="311725" y="1128325"/>
            <a:ext cx="2627100" cy="2273100"/>
          </a:xfrm>
          <a:prstGeom prst="rect">
            <a:avLst/>
          </a:prstGeom>
          <a:noFill/>
          <a:ln>
            <a:noFill/>
          </a:ln>
        </p:spPr>
      </p:sp>
      <p:sp>
        <p:nvSpPr>
          <p:cNvPr id="307" name="Google Shape;307;p4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8" name="Google Shape;308;p47"/>
          <p:cNvSpPr/>
          <p:nvPr>
            <p:ph idx="5" type="pic"/>
          </p:nvPr>
        </p:nvSpPr>
        <p:spPr>
          <a:xfrm>
            <a:off x="3255250" y="1128325"/>
            <a:ext cx="2627100" cy="2273100"/>
          </a:xfrm>
          <a:prstGeom prst="rect">
            <a:avLst/>
          </a:prstGeom>
          <a:noFill/>
          <a:ln>
            <a:noFill/>
          </a:ln>
        </p:spPr>
      </p:sp>
      <p:sp>
        <p:nvSpPr>
          <p:cNvPr id="309" name="Google Shape;309;p4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0" name="Google Shape;310;p47"/>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11" name="Google Shape;311;p47"/>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12" name="Google Shape;312;p47"/>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13" name="Google Shape;313;p47"/>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14" name="Shape 314"/>
        <p:cNvGrpSpPr/>
        <p:nvPr/>
      </p:nvGrpSpPr>
      <p:grpSpPr>
        <a:xfrm>
          <a:off x="0" y="0"/>
          <a:ext cx="0" cy="0"/>
          <a:chOff x="0" y="0"/>
          <a:chExt cx="0" cy="0"/>
        </a:xfrm>
      </p:grpSpPr>
      <p:sp>
        <p:nvSpPr>
          <p:cNvPr id="315" name="Google Shape;315;p4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16" name="Shape 316"/>
        <p:cNvGrpSpPr/>
        <p:nvPr/>
      </p:nvGrpSpPr>
      <p:grpSpPr>
        <a:xfrm>
          <a:off x="0" y="0"/>
          <a:ext cx="0" cy="0"/>
          <a:chOff x="0" y="0"/>
          <a:chExt cx="0" cy="0"/>
        </a:xfrm>
      </p:grpSpPr>
      <p:sp>
        <p:nvSpPr>
          <p:cNvPr id="317" name="Google Shape;317;p49"/>
          <p:cNvSpPr/>
          <p:nvPr>
            <p:ph idx="2" type="pic"/>
          </p:nvPr>
        </p:nvSpPr>
        <p:spPr>
          <a:xfrm>
            <a:off x="3389600" y="118913"/>
            <a:ext cx="1643700" cy="1535100"/>
          </a:xfrm>
          <a:prstGeom prst="rect">
            <a:avLst/>
          </a:prstGeom>
          <a:noFill/>
          <a:ln>
            <a:noFill/>
          </a:ln>
        </p:spPr>
      </p:sp>
      <p:sp>
        <p:nvSpPr>
          <p:cNvPr id="318" name="Google Shape;318;p49"/>
          <p:cNvSpPr/>
          <p:nvPr>
            <p:ph idx="3" type="pic"/>
          </p:nvPr>
        </p:nvSpPr>
        <p:spPr>
          <a:xfrm>
            <a:off x="5195935" y="118913"/>
            <a:ext cx="1643700" cy="1535100"/>
          </a:xfrm>
          <a:prstGeom prst="rect">
            <a:avLst/>
          </a:prstGeom>
          <a:noFill/>
          <a:ln>
            <a:noFill/>
          </a:ln>
        </p:spPr>
      </p:sp>
      <p:sp>
        <p:nvSpPr>
          <p:cNvPr id="319" name="Google Shape;319;p49"/>
          <p:cNvSpPr/>
          <p:nvPr>
            <p:ph idx="4" type="pic"/>
          </p:nvPr>
        </p:nvSpPr>
        <p:spPr>
          <a:xfrm>
            <a:off x="7002270" y="118913"/>
            <a:ext cx="1643700" cy="1535100"/>
          </a:xfrm>
          <a:prstGeom prst="rect">
            <a:avLst/>
          </a:prstGeom>
          <a:noFill/>
          <a:ln>
            <a:noFill/>
          </a:ln>
        </p:spPr>
      </p:sp>
      <p:sp>
        <p:nvSpPr>
          <p:cNvPr id="320" name="Google Shape;320;p49"/>
          <p:cNvSpPr/>
          <p:nvPr>
            <p:ph idx="5" type="pic"/>
          </p:nvPr>
        </p:nvSpPr>
        <p:spPr>
          <a:xfrm>
            <a:off x="3389588" y="1804212"/>
            <a:ext cx="1643700" cy="1535100"/>
          </a:xfrm>
          <a:prstGeom prst="rect">
            <a:avLst/>
          </a:prstGeom>
          <a:noFill/>
          <a:ln>
            <a:noFill/>
          </a:ln>
        </p:spPr>
      </p:sp>
      <p:sp>
        <p:nvSpPr>
          <p:cNvPr id="321" name="Google Shape;321;p49"/>
          <p:cNvSpPr/>
          <p:nvPr>
            <p:ph idx="6" type="pic"/>
          </p:nvPr>
        </p:nvSpPr>
        <p:spPr>
          <a:xfrm>
            <a:off x="5195922" y="1804212"/>
            <a:ext cx="1643700" cy="1535100"/>
          </a:xfrm>
          <a:prstGeom prst="rect">
            <a:avLst/>
          </a:prstGeom>
          <a:noFill/>
          <a:ln>
            <a:noFill/>
          </a:ln>
        </p:spPr>
      </p:sp>
      <p:sp>
        <p:nvSpPr>
          <p:cNvPr id="322" name="Google Shape;322;p49"/>
          <p:cNvSpPr/>
          <p:nvPr>
            <p:ph idx="7" type="pic"/>
          </p:nvPr>
        </p:nvSpPr>
        <p:spPr>
          <a:xfrm>
            <a:off x="7002257" y="1804212"/>
            <a:ext cx="1643700" cy="1535100"/>
          </a:xfrm>
          <a:prstGeom prst="rect">
            <a:avLst/>
          </a:prstGeom>
          <a:noFill/>
          <a:ln>
            <a:noFill/>
          </a:ln>
        </p:spPr>
      </p:sp>
      <p:sp>
        <p:nvSpPr>
          <p:cNvPr id="323" name="Google Shape;323;p49"/>
          <p:cNvSpPr txBox="1"/>
          <p:nvPr>
            <p:ph type="title"/>
          </p:nvPr>
        </p:nvSpPr>
        <p:spPr>
          <a:xfrm>
            <a:off x="351550" y="445025"/>
            <a:ext cx="2596800" cy="1706400"/>
          </a:xfrm>
          <a:prstGeom prst="rect">
            <a:avLst/>
          </a:prstGeom>
          <a:noFill/>
          <a:ln>
            <a:noFill/>
          </a:ln>
        </p:spPr>
        <p:txBody>
          <a:bodyPr anchorCtr="0" anchor="ctr"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24" name="Google Shape;324;p49"/>
          <p:cNvSpPr/>
          <p:nvPr>
            <p:ph idx="8" type="pic"/>
          </p:nvPr>
        </p:nvSpPr>
        <p:spPr>
          <a:xfrm>
            <a:off x="3389588" y="3489487"/>
            <a:ext cx="1643700" cy="1535100"/>
          </a:xfrm>
          <a:prstGeom prst="rect">
            <a:avLst/>
          </a:prstGeom>
          <a:noFill/>
          <a:ln>
            <a:noFill/>
          </a:ln>
        </p:spPr>
      </p:sp>
      <p:sp>
        <p:nvSpPr>
          <p:cNvPr id="325" name="Google Shape;325;p49"/>
          <p:cNvSpPr/>
          <p:nvPr>
            <p:ph idx="9" type="pic"/>
          </p:nvPr>
        </p:nvSpPr>
        <p:spPr>
          <a:xfrm>
            <a:off x="5195922" y="3489487"/>
            <a:ext cx="1643700" cy="1535100"/>
          </a:xfrm>
          <a:prstGeom prst="rect">
            <a:avLst/>
          </a:prstGeom>
          <a:noFill/>
          <a:ln>
            <a:noFill/>
          </a:ln>
        </p:spPr>
      </p:sp>
      <p:sp>
        <p:nvSpPr>
          <p:cNvPr id="326" name="Google Shape;326;p4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theme" Target="../theme/theme1.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63" name="Shape 63"/>
        <p:cNvGrpSpPr/>
        <p:nvPr/>
      </p:nvGrpSpPr>
      <p:grpSpPr>
        <a:xfrm>
          <a:off x="0" y="0"/>
          <a:ext cx="0" cy="0"/>
          <a:chOff x="0" y="0"/>
          <a:chExt cx="0" cy="0"/>
        </a:xfrm>
      </p:grpSpPr>
      <p:sp>
        <p:nvSpPr>
          <p:cNvPr id="64" name="Google Shape;64;p13"/>
          <p:cNvSpPr txBox="1"/>
          <p:nvPr>
            <p:ph idx="1" type="body"/>
          </p:nvPr>
        </p:nvSpPr>
        <p:spPr>
          <a:xfrm>
            <a:off x="283950" y="3166425"/>
            <a:ext cx="6424800" cy="1517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1pPr>
            <a:lvl2pPr indent="-304800" lvl="1" marL="914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2pPr>
            <a:lvl3pPr indent="-304800" lvl="2" marL="1371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3pPr>
            <a:lvl4pPr indent="-304800" lvl="3" marL="1828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4pPr>
            <a:lvl5pPr indent="-304800" lvl="4" marL="22860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5pPr>
            <a:lvl6pPr indent="-304800" lvl="5" marL="2743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6pPr>
            <a:lvl7pPr indent="-304800" lvl="6" marL="3200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7pPr>
            <a:lvl8pPr indent="-304800" lvl="7" marL="3657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8pPr>
            <a:lvl9pPr indent="-304800" lvl="8" marL="4114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9pPr>
          </a:lstStyle>
          <a:p/>
        </p:txBody>
      </p:sp>
      <p:sp>
        <p:nvSpPr>
          <p:cNvPr id="65" name="Google Shape;65;p13"/>
          <p:cNvSpPr txBox="1"/>
          <p:nvPr>
            <p:ph type="title"/>
          </p:nvPr>
        </p:nvSpPr>
        <p:spPr>
          <a:xfrm>
            <a:off x="278750" y="513900"/>
            <a:ext cx="5802000" cy="11448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None/>
              <a:defRPr sz="6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guide id="21" pos="174">
          <p15:clr>
            <a:srgbClr val="E46962"/>
          </p15:clr>
        </p15:guide>
        <p15:guide id="22" pos="55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11.jpg"/><Relationship Id="rId5" Type="http://schemas.openxmlformats.org/officeDocument/2006/relationships/image" Target="../media/image13.jpg"/><Relationship Id="rId6" Type="http://schemas.openxmlformats.org/officeDocument/2006/relationships/image" Target="../media/image4.jpg"/><Relationship Id="rId7" Type="http://schemas.openxmlformats.org/officeDocument/2006/relationships/image" Target="../media/image8.jpg"/><Relationship Id="rId8"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comments" Target="../comments/comment2.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6.jp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24.png"/><Relationship Id="rId8"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7.png"/><Relationship Id="rId5" Type="http://schemas.openxmlformats.org/officeDocument/2006/relationships/image" Target="../media/image23.png"/><Relationship Id="rId6" Type="http://schemas.openxmlformats.org/officeDocument/2006/relationships/image" Target="../media/image18.png"/><Relationship Id="rId7"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comments" Target="../comments/comment3.xml"/><Relationship Id="rId4"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2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2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2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2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2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2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2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2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2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2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2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2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image" Target="../media/image2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2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2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2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2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2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2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0.xml"/><Relationship Id="rId3" Type="http://schemas.openxmlformats.org/officeDocument/2006/relationships/comments" Target="../comments/comment4.xml"/><Relationship Id="rId4" Type="http://schemas.openxmlformats.org/officeDocument/2006/relationships/image" Target="../media/image28.jpg"/><Relationship Id="rId5" Type="http://schemas.openxmlformats.org/officeDocument/2006/relationships/image" Target="../media/image30.png"/><Relationship Id="rId6" Type="http://schemas.openxmlformats.org/officeDocument/2006/relationships/image" Target="../media/image29.png"/><Relationship Id="rId7"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33.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2.xml"/><Relationship Id="rId3" Type="http://schemas.openxmlformats.org/officeDocument/2006/relationships/image" Target="../media/image3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3.xml"/><Relationship Id="rId3" Type="http://schemas.openxmlformats.org/officeDocument/2006/relationships/image" Target="../media/image3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0"/>
          <p:cNvSpPr txBox="1"/>
          <p:nvPr/>
        </p:nvSpPr>
        <p:spPr>
          <a:xfrm>
            <a:off x="304800" y="3581400"/>
            <a:ext cx="2045700" cy="338700"/>
          </a:xfrm>
          <a:prstGeom prst="rect">
            <a:avLst/>
          </a:prstGeom>
          <a:noFill/>
          <a:ln>
            <a:noFill/>
          </a:ln>
        </p:spPr>
        <p:txBody>
          <a:bodyPr anchorCtr="0" anchor="b" bIns="0" lIns="0" spcFirstLastPara="1" rIns="0" wrap="square" tIns="0">
            <a:spAutoFit/>
          </a:bodyPr>
          <a:lstStyle/>
          <a:p>
            <a:pPr indent="0" lvl="0" marL="0" rtl="0" algn="l">
              <a:spcBef>
                <a:spcPts val="0"/>
              </a:spcBef>
              <a:spcAft>
                <a:spcPts val="0"/>
              </a:spcAft>
              <a:buNone/>
            </a:pPr>
            <a:r>
              <a:rPr lang="en" sz="2200">
                <a:solidFill>
                  <a:schemeClr val="lt1"/>
                </a:solidFill>
                <a:latin typeface="Lato"/>
                <a:ea typeface="Lato"/>
                <a:cs typeface="Lato"/>
                <a:sym typeface="Lato"/>
              </a:rPr>
              <a:t>Team </a:t>
            </a:r>
            <a:r>
              <a:rPr lang="en" sz="2200">
                <a:solidFill>
                  <a:schemeClr val="accent2"/>
                </a:solidFill>
                <a:latin typeface="Lato"/>
                <a:ea typeface="Lato"/>
                <a:cs typeface="Lato"/>
                <a:sym typeface="Lato"/>
              </a:rPr>
              <a:t>Silver</a:t>
            </a:r>
            <a:endParaRPr sz="2200">
              <a:solidFill>
                <a:schemeClr val="accent2"/>
              </a:solidFill>
              <a:latin typeface="Lato"/>
              <a:ea typeface="Lato"/>
              <a:cs typeface="Lato"/>
              <a:sym typeface="Lato"/>
            </a:endParaRPr>
          </a:p>
        </p:txBody>
      </p:sp>
      <p:sp>
        <p:nvSpPr>
          <p:cNvPr id="332" name="Google Shape;332;p50"/>
          <p:cNvSpPr txBox="1"/>
          <p:nvPr/>
        </p:nvSpPr>
        <p:spPr>
          <a:xfrm>
            <a:off x="304800" y="4401900"/>
            <a:ext cx="2045700" cy="246300"/>
          </a:xfrm>
          <a:prstGeom prst="rect">
            <a:avLst/>
          </a:prstGeom>
          <a:noFill/>
          <a:ln>
            <a:noFill/>
          </a:ln>
        </p:spPr>
        <p:txBody>
          <a:bodyPr anchorCtr="0" anchor="b" bIns="0" lIns="0" spcFirstLastPara="1" rIns="0" wrap="square" tIns="0">
            <a:spAutoFit/>
          </a:bodyPr>
          <a:lstStyle/>
          <a:p>
            <a:pPr indent="0" lvl="0" marL="0" rtl="0" algn="l">
              <a:spcBef>
                <a:spcPts val="0"/>
              </a:spcBef>
              <a:spcAft>
                <a:spcPts val="0"/>
              </a:spcAft>
              <a:buNone/>
            </a:pPr>
            <a:r>
              <a:rPr lang="en" sz="1600">
                <a:solidFill>
                  <a:schemeClr val="lt1"/>
                </a:solidFill>
                <a:latin typeface="Lato"/>
                <a:ea typeface="Lato"/>
                <a:cs typeface="Lato"/>
                <a:sym typeface="Lato"/>
              </a:rPr>
              <a:t>June 2026</a:t>
            </a:r>
            <a:endParaRPr sz="1600">
              <a:solidFill>
                <a:schemeClr val="lt1"/>
              </a:solidFill>
              <a:latin typeface="Lato"/>
              <a:ea typeface="Lato"/>
              <a:cs typeface="Lato"/>
              <a:sym typeface="Lato"/>
            </a:endParaRPr>
          </a:p>
        </p:txBody>
      </p:sp>
      <p:sp>
        <p:nvSpPr>
          <p:cNvPr id="333" name="Google Shape;333;p50"/>
          <p:cNvSpPr txBox="1"/>
          <p:nvPr/>
        </p:nvSpPr>
        <p:spPr>
          <a:xfrm>
            <a:off x="284100" y="4038600"/>
            <a:ext cx="3144900" cy="246300"/>
          </a:xfrm>
          <a:prstGeom prst="rect">
            <a:avLst/>
          </a:prstGeom>
          <a:noFill/>
          <a:ln>
            <a:noFill/>
          </a:ln>
        </p:spPr>
        <p:txBody>
          <a:bodyPr anchorCtr="0" anchor="b" bIns="0" lIns="0" spcFirstLastPara="1" rIns="0" wrap="square" tIns="0">
            <a:spAutoFit/>
          </a:bodyPr>
          <a:lstStyle/>
          <a:p>
            <a:pPr indent="0" lvl="0" marL="0" rtl="0" algn="l">
              <a:spcBef>
                <a:spcPts val="0"/>
              </a:spcBef>
              <a:spcAft>
                <a:spcPts val="0"/>
              </a:spcAft>
              <a:buNone/>
            </a:pPr>
            <a:r>
              <a:rPr lang="en" sz="1600">
                <a:solidFill>
                  <a:schemeClr val="lt1"/>
                </a:solidFill>
                <a:latin typeface="Lato"/>
                <a:ea typeface="Lato"/>
                <a:cs typeface="Lato"/>
                <a:sym typeface="Lato"/>
              </a:rPr>
              <a:t>Feasibility Presentation</a:t>
            </a:r>
            <a:endParaRPr sz="1600">
              <a:solidFill>
                <a:schemeClr val="lt1"/>
              </a:solidFill>
              <a:latin typeface="Lato"/>
              <a:ea typeface="Lato"/>
              <a:cs typeface="Lato"/>
              <a:sym typeface="Lato"/>
            </a:endParaRPr>
          </a:p>
        </p:txBody>
      </p:sp>
      <p:cxnSp>
        <p:nvCxnSpPr>
          <p:cNvPr id="334" name="Google Shape;334;p50"/>
          <p:cNvCxnSpPr/>
          <p:nvPr/>
        </p:nvCxnSpPr>
        <p:spPr>
          <a:xfrm rot="10800000">
            <a:off x="280500" y="3962400"/>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335" name="Google Shape;335;p50"/>
          <p:cNvCxnSpPr/>
          <p:nvPr/>
        </p:nvCxnSpPr>
        <p:spPr>
          <a:xfrm rot="10800000">
            <a:off x="280500" y="4343400"/>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336" name="Google Shape;336;p50"/>
          <p:cNvCxnSpPr/>
          <p:nvPr/>
        </p:nvCxnSpPr>
        <p:spPr>
          <a:xfrm rot="10800000">
            <a:off x="283800" y="4683725"/>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337" name="Google Shape;337;p50"/>
          <p:cNvCxnSpPr/>
          <p:nvPr/>
        </p:nvCxnSpPr>
        <p:spPr>
          <a:xfrm rot="10800000">
            <a:off x="750" y="361488"/>
            <a:ext cx="9102000" cy="0"/>
          </a:xfrm>
          <a:prstGeom prst="straightConnector1">
            <a:avLst/>
          </a:prstGeom>
          <a:noFill/>
          <a:ln cap="flat" cmpd="sng" w="9525">
            <a:solidFill>
              <a:schemeClr val="lt2"/>
            </a:solidFill>
            <a:prstDash val="solid"/>
            <a:round/>
            <a:headEnd len="med" w="med" type="none"/>
            <a:tailEnd len="med" w="med" type="none"/>
          </a:ln>
        </p:spPr>
      </p:cxnSp>
      <p:cxnSp>
        <p:nvCxnSpPr>
          <p:cNvPr id="338" name="Google Shape;338;p50"/>
          <p:cNvCxnSpPr/>
          <p:nvPr/>
        </p:nvCxnSpPr>
        <p:spPr>
          <a:xfrm rot="10800000">
            <a:off x="283800" y="3573452"/>
            <a:ext cx="6425100" cy="0"/>
          </a:xfrm>
          <a:prstGeom prst="straightConnector1">
            <a:avLst/>
          </a:prstGeom>
          <a:noFill/>
          <a:ln cap="flat" cmpd="sng" w="9525">
            <a:solidFill>
              <a:schemeClr val="lt2"/>
            </a:solidFill>
            <a:prstDash val="solid"/>
            <a:round/>
            <a:headEnd len="med" w="med" type="none"/>
            <a:tailEnd len="med" w="med" type="none"/>
          </a:ln>
        </p:spPr>
      </p:cxnSp>
      <p:pic>
        <p:nvPicPr>
          <p:cNvPr descr="An architectural detail of a modern building." id="339" name="Google Shape;339;p50"/>
          <p:cNvPicPr preferRelativeResize="0"/>
          <p:nvPr>
            <p:ph idx="2" type="pic"/>
          </p:nvPr>
        </p:nvPicPr>
        <p:blipFill rotWithShape="1">
          <a:blip r:embed="rId4">
            <a:alphaModFix/>
          </a:blip>
          <a:srcRect b="0" l="61985" r="8587" t="0"/>
          <a:stretch/>
        </p:blipFill>
        <p:spPr>
          <a:xfrm>
            <a:off x="6877050" y="0"/>
            <a:ext cx="2271002" cy="5143501"/>
          </a:xfrm>
          <a:prstGeom prst="rect">
            <a:avLst/>
          </a:prstGeom>
          <a:noFill/>
          <a:ln>
            <a:noFill/>
          </a:ln>
        </p:spPr>
      </p:pic>
      <p:sp>
        <p:nvSpPr>
          <p:cNvPr id="340" name="Google Shape;340;p50"/>
          <p:cNvSpPr txBox="1"/>
          <p:nvPr>
            <p:ph idx="4294967295" type="title"/>
          </p:nvPr>
        </p:nvSpPr>
        <p:spPr>
          <a:xfrm>
            <a:off x="278750" y="513900"/>
            <a:ext cx="5802000" cy="811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6200"/>
              <a:t>BevOS</a:t>
            </a:r>
            <a:endParaRPr sz="6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1"/>
          <p:cNvSpPr txBox="1"/>
          <p:nvPr>
            <p:ph idx="7"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Table of Contents</a:t>
            </a:r>
            <a:endParaRPr/>
          </a:p>
        </p:txBody>
      </p:sp>
      <p:sp>
        <p:nvSpPr>
          <p:cNvPr id="346" name="Google Shape;346;p51"/>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sp>
        <p:nvSpPr>
          <p:cNvPr id="347" name="Google Shape;347;p51"/>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aphicFrame>
        <p:nvGraphicFramePr>
          <p:cNvPr id="348" name="Google Shape;348;p51"/>
          <p:cNvGraphicFramePr/>
          <p:nvPr/>
        </p:nvGraphicFramePr>
        <p:xfrm>
          <a:off x="953775" y="1375575"/>
          <a:ext cx="3000000" cy="3000000"/>
        </p:xfrm>
        <a:graphic>
          <a:graphicData uri="http://schemas.openxmlformats.org/drawingml/2006/table">
            <a:tbl>
              <a:tblPr>
                <a:noFill/>
                <a:tableStyleId>{1D9B1A6F-CA92-492C-AAAF-4422A80D218F}</a:tableStyleId>
              </a:tblPr>
              <a:tblGrid>
                <a:gridCol w="3619500"/>
                <a:gridCol w="3619500"/>
              </a:tblGrid>
              <a:tr h="381000">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05 - Team Bios</a:t>
                      </a:r>
                      <a:endParaRPr sz="1200">
                        <a:latin typeface="Playfair Display"/>
                        <a:ea typeface="Playfair Display"/>
                        <a:cs typeface="Playfair Display"/>
                        <a:sym typeface="Playfair Display"/>
                      </a:endParaRPr>
                    </a:p>
                  </a:txBody>
                  <a:tcPr marT="91425" marB="91425" marR="91425" marL="91425"/>
                </a:tc>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13- What BevOS Will NOT Do</a:t>
                      </a:r>
                      <a:endParaRPr sz="1200">
                        <a:latin typeface="Playfair Display"/>
                        <a:ea typeface="Playfair Display"/>
                        <a:cs typeface="Playfair Display"/>
                        <a:sym typeface="Playfair Display"/>
                      </a:endParaRPr>
                    </a:p>
                  </a:txBody>
                  <a:tcPr marT="91425" marB="91425" marR="91425" marL="91425"/>
                </a:tc>
              </a:tr>
              <a:tr h="381000">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06 - E</a:t>
                      </a:r>
                      <a:r>
                        <a:rPr lang="en" sz="1200">
                          <a:latin typeface="Playfair Display"/>
                          <a:ea typeface="Playfair Display"/>
                          <a:cs typeface="Playfair Display"/>
                          <a:sym typeface="Playfair Display"/>
                        </a:rPr>
                        <a:t>levator Pitch</a:t>
                      </a:r>
                      <a:endParaRPr sz="1200">
                        <a:latin typeface="Playfair Display"/>
                        <a:ea typeface="Playfair Display"/>
                        <a:cs typeface="Playfair Display"/>
                        <a:sym typeface="Playfair Display"/>
                      </a:endParaRPr>
                    </a:p>
                  </a:txBody>
                  <a:tcPr marT="91425" marB="91425" marR="91425" marL="91425"/>
                </a:tc>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14 - Development Tools</a:t>
                      </a:r>
                      <a:endParaRPr sz="1200">
                        <a:latin typeface="Playfair Display"/>
                        <a:ea typeface="Playfair Display"/>
                        <a:cs typeface="Playfair Display"/>
                        <a:sym typeface="Playfair Display"/>
                      </a:endParaRPr>
                    </a:p>
                  </a:txBody>
                  <a:tcPr marT="91425" marB="91425" marR="91425" marL="91425"/>
                </a:tc>
              </a:tr>
              <a:tr h="381000">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07 - </a:t>
                      </a:r>
                      <a:r>
                        <a:rPr lang="en" sz="1200">
                          <a:latin typeface="Playfair Display"/>
                          <a:ea typeface="Playfair Display"/>
                          <a:cs typeface="Playfair Display"/>
                          <a:sym typeface="Playfair Display"/>
                        </a:rPr>
                        <a:t>The “Problem”</a:t>
                      </a:r>
                      <a:endParaRPr sz="1200">
                        <a:latin typeface="Playfair Display"/>
                        <a:ea typeface="Playfair Display"/>
                        <a:cs typeface="Playfair Display"/>
                        <a:sym typeface="Playfair Display"/>
                      </a:endParaRPr>
                    </a:p>
                  </a:txBody>
                  <a:tcPr marT="91425" marB="91425" marR="91425" marL="91425"/>
                </a:tc>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15 - Major Functional Component</a:t>
                      </a:r>
                      <a:endParaRPr sz="1200">
                        <a:latin typeface="Playfair Display"/>
                        <a:ea typeface="Playfair Display"/>
                        <a:cs typeface="Playfair Display"/>
                        <a:sym typeface="Playfair Display"/>
                      </a:endParaRPr>
                    </a:p>
                  </a:txBody>
                  <a:tcPr marT="91425" marB="91425" marR="91425" marL="91425"/>
                </a:tc>
              </a:tr>
              <a:tr h="381000">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08 - </a:t>
                      </a:r>
                      <a:r>
                        <a:rPr lang="en" sz="1200">
                          <a:latin typeface="Playfair Display"/>
                          <a:ea typeface="Playfair Display"/>
                          <a:cs typeface="Playfair Display"/>
                          <a:sym typeface="Playfair Display"/>
                        </a:rPr>
                        <a:t>Current Process Flow</a:t>
                      </a:r>
                      <a:endParaRPr sz="1200">
                        <a:latin typeface="Playfair Display"/>
                        <a:ea typeface="Playfair Display"/>
                        <a:cs typeface="Playfair Display"/>
                        <a:sym typeface="Playfair Display"/>
                      </a:endParaRPr>
                    </a:p>
                  </a:txBody>
                  <a:tcPr marT="91425" marB="91425" marR="91425" marL="91425"/>
                </a:tc>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16 - Major Functional Components Diagram </a:t>
                      </a:r>
                      <a:endParaRPr sz="1200">
                        <a:latin typeface="Playfair Display"/>
                        <a:ea typeface="Playfair Display"/>
                        <a:cs typeface="Playfair Display"/>
                        <a:sym typeface="Playfair Display"/>
                      </a:endParaRPr>
                    </a:p>
                  </a:txBody>
                  <a:tcPr marT="91425" marB="91425" marR="91425" marL="91425"/>
                </a:tc>
              </a:tr>
              <a:tr h="381000">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09 -</a:t>
                      </a:r>
                      <a:r>
                        <a:rPr lang="en" sz="1200">
                          <a:latin typeface="Playfair Display"/>
                          <a:ea typeface="Playfair Display"/>
                          <a:cs typeface="Playfair Display"/>
                          <a:sym typeface="Playfair Display"/>
                        </a:rPr>
                        <a:t> The Solution Statement</a:t>
                      </a:r>
                      <a:endParaRPr sz="1200">
                        <a:latin typeface="Playfair Display"/>
                        <a:ea typeface="Playfair Display"/>
                        <a:cs typeface="Playfair Display"/>
                        <a:sym typeface="Playfair Display"/>
                      </a:endParaRPr>
                    </a:p>
                  </a:txBody>
                  <a:tcPr marT="91425" marB="91425" marR="91425" marL="91425"/>
                </a:tc>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17 -&gt; 29 - Risks</a:t>
                      </a:r>
                      <a:endParaRPr sz="1200">
                        <a:latin typeface="Playfair Display"/>
                        <a:ea typeface="Playfair Display"/>
                        <a:cs typeface="Playfair Display"/>
                        <a:sym typeface="Playfair Display"/>
                      </a:endParaRPr>
                    </a:p>
                  </a:txBody>
                  <a:tcPr marT="91425" marB="91425" marR="91425" marL="91425"/>
                </a:tc>
              </a:tr>
              <a:tr h="381000">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10 - </a:t>
                      </a:r>
                      <a:r>
                        <a:rPr lang="en" sz="1200">
                          <a:latin typeface="Playfair Display"/>
                          <a:ea typeface="Playfair Display"/>
                          <a:cs typeface="Playfair Display"/>
                          <a:sym typeface="Playfair Display"/>
                        </a:rPr>
                        <a:t>Solution Process Flow</a:t>
                      </a:r>
                      <a:endParaRPr sz="1200">
                        <a:latin typeface="Playfair Display"/>
                        <a:ea typeface="Playfair Display"/>
                        <a:cs typeface="Playfair Display"/>
                        <a:sym typeface="Playfair Display"/>
                      </a:endParaRPr>
                    </a:p>
                  </a:txBody>
                  <a:tcPr marT="91425" marB="91425" marR="91425" marL="91425"/>
                </a:tc>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30 - </a:t>
                      </a:r>
                      <a:r>
                        <a:rPr lang="en" sz="1200">
                          <a:latin typeface="Playfair Display"/>
                          <a:ea typeface="Playfair Display"/>
                          <a:cs typeface="Playfair Display"/>
                          <a:sym typeface="Playfair Display"/>
                        </a:rPr>
                        <a:t>Competition</a:t>
                      </a:r>
                      <a:r>
                        <a:rPr lang="en" sz="1200">
                          <a:latin typeface="Playfair Display"/>
                          <a:ea typeface="Playfair Display"/>
                          <a:cs typeface="Playfair Display"/>
                          <a:sym typeface="Playfair Display"/>
                        </a:rPr>
                        <a:t> Matrix</a:t>
                      </a:r>
                      <a:endParaRPr sz="1200">
                        <a:latin typeface="Playfair Display"/>
                        <a:ea typeface="Playfair Display"/>
                        <a:cs typeface="Playfair Display"/>
                        <a:sym typeface="Playfair Display"/>
                      </a:endParaRPr>
                    </a:p>
                  </a:txBody>
                  <a:tcPr marT="91425" marB="91425" marR="91425" marL="91425"/>
                </a:tc>
              </a:tr>
              <a:tr h="381000">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11 - What BevOS Will Do</a:t>
                      </a:r>
                      <a:endParaRPr sz="1200">
                        <a:latin typeface="Playfair Display"/>
                        <a:ea typeface="Playfair Display"/>
                        <a:cs typeface="Playfair Display"/>
                        <a:sym typeface="Playfair Display"/>
                      </a:endParaRPr>
                    </a:p>
                  </a:txBody>
                  <a:tcPr marT="91425" marB="91425" marR="91425" marL="91425"/>
                </a:tc>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31 - Conclusions</a:t>
                      </a:r>
                      <a:endParaRPr sz="1200">
                        <a:latin typeface="Playfair Display"/>
                        <a:ea typeface="Playfair Display"/>
                        <a:cs typeface="Playfair Display"/>
                        <a:sym typeface="Playfair Display"/>
                      </a:endParaRPr>
                    </a:p>
                  </a:txBody>
                  <a:tcPr marT="91425" marB="91425" marR="91425" marL="91425"/>
                </a:tc>
              </a:tr>
              <a:tr h="381000">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12- Enterprise Resource PLanning</a:t>
                      </a:r>
                      <a:endParaRPr sz="1200">
                        <a:latin typeface="Playfair Display"/>
                        <a:ea typeface="Playfair Display"/>
                        <a:cs typeface="Playfair Display"/>
                        <a:sym typeface="Playfair Display"/>
                      </a:endParaRPr>
                    </a:p>
                  </a:txBody>
                  <a:tcPr marT="91425" marB="91425" marR="91425" marL="91425"/>
                </a:tc>
                <a:tc>
                  <a:txBody>
                    <a:bodyPr/>
                    <a:lstStyle/>
                    <a:p>
                      <a:pPr indent="0" lvl="0" marL="0" rtl="0" algn="l">
                        <a:spcBef>
                          <a:spcPts val="0"/>
                        </a:spcBef>
                        <a:spcAft>
                          <a:spcPts val="0"/>
                        </a:spcAft>
                        <a:buNone/>
                      </a:pPr>
                      <a:r>
                        <a:rPr lang="en" sz="1200">
                          <a:latin typeface="Playfair Display"/>
                          <a:ea typeface="Playfair Display"/>
                          <a:cs typeface="Playfair Display"/>
                          <a:sym typeface="Playfair Display"/>
                        </a:rPr>
                        <a:t>32 - References</a:t>
                      </a:r>
                      <a:endParaRPr sz="1200">
                        <a:latin typeface="Playfair Display"/>
                        <a:ea typeface="Playfair Display"/>
                        <a:cs typeface="Playfair Display"/>
                        <a:sym typeface="Playfair Display"/>
                      </a:endParaRPr>
                    </a:p>
                  </a:txBody>
                  <a:tcPr marT="91425" marB="91425" marR="91425" marL="91425"/>
                </a:tc>
              </a:tr>
            </a:tbl>
          </a:graphicData>
        </a:graphic>
      </p:graphicFrame>
      <p:cxnSp>
        <p:nvCxnSpPr>
          <p:cNvPr id="349" name="Google Shape;349;p51"/>
          <p:cNvCxnSpPr/>
          <p:nvPr/>
        </p:nvCxnSpPr>
        <p:spPr>
          <a:xfrm rot="10800000">
            <a:off x="285000" y="1193700"/>
            <a:ext cx="85740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2"/>
          <p:cNvSpPr txBox="1"/>
          <p:nvPr>
            <p:ph idx="22"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sp>
        <p:nvSpPr>
          <p:cNvPr id="355" name="Google Shape;355;p52"/>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356" name="Google Shape;356;p52" title="apple-juice-bottling.jpeg"/>
          <p:cNvPicPr preferRelativeResize="0"/>
          <p:nvPr/>
        </p:nvPicPr>
        <p:blipFill>
          <a:blip r:embed="rId3">
            <a:alphaModFix/>
          </a:blip>
          <a:stretch>
            <a:fillRect/>
          </a:stretch>
        </p:blipFill>
        <p:spPr>
          <a:xfrm>
            <a:off x="0" y="0"/>
            <a:ext cx="9144003" cy="6098975"/>
          </a:xfrm>
          <a:prstGeom prst="rect">
            <a:avLst/>
          </a:prstGeom>
          <a:noFill/>
          <a:ln>
            <a:noFill/>
          </a:ln>
        </p:spPr>
      </p:pic>
      <p:sp>
        <p:nvSpPr>
          <p:cNvPr id="357" name="Google Shape;357;p52"/>
          <p:cNvSpPr txBox="1"/>
          <p:nvPr>
            <p:ph type="title"/>
          </p:nvPr>
        </p:nvSpPr>
        <p:spPr>
          <a:xfrm>
            <a:off x="2389800" y="1377525"/>
            <a:ext cx="4364400" cy="6096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4400"/>
              <a:t>Team Bios</a:t>
            </a:r>
            <a:endParaRPr sz="4400"/>
          </a:p>
        </p:txBody>
      </p:sp>
      <p:sp>
        <p:nvSpPr>
          <p:cNvPr id="358" name="Google Shape;358;p52"/>
          <p:cNvSpPr txBox="1"/>
          <p:nvPr>
            <p:ph idx="12" type="sldNum"/>
          </p:nvPr>
        </p:nvSpPr>
        <p:spPr>
          <a:xfrm>
            <a:off x="8656458" y="4815950"/>
            <a:ext cx="336000" cy="183000"/>
          </a:xfrm>
          <a:prstGeom prst="rect">
            <a:avLst/>
          </a:prstGeom>
          <a:solidFill>
            <a:srgbClr val="FBFBFB">
              <a:alpha val="19089"/>
            </a:srgbClr>
          </a:solidFill>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3"/>
          <p:cNvSpPr/>
          <p:nvPr/>
        </p:nvSpPr>
        <p:spPr>
          <a:xfrm>
            <a:off x="3146450" y="245700"/>
            <a:ext cx="5662500" cy="45294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364" name="Google Shape;364;p53"/>
          <p:cNvSpPr/>
          <p:nvPr/>
        </p:nvSpPr>
        <p:spPr>
          <a:xfrm>
            <a:off x="333825" y="1947150"/>
            <a:ext cx="2439600" cy="11265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pic>
        <p:nvPicPr>
          <p:cNvPr id="365" name="Google Shape;365;p53" title="073025 Phil De Guzman P4P headshot3981 JohnClarkeRuss.jpg"/>
          <p:cNvPicPr preferRelativeResize="0"/>
          <p:nvPr>
            <p:ph idx="2" type="pic"/>
          </p:nvPr>
        </p:nvPicPr>
        <p:blipFill rotWithShape="1">
          <a:blip r:embed="rId3">
            <a:alphaModFix/>
          </a:blip>
          <a:srcRect b="0" l="18072" r="18072" t="0"/>
          <a:stretch/>
        </p:blipFill>
        <p:spPr>
          <a:xfrm>
            <a:off x="3383153" y="587450"/>
            <a:ext cx="1403630" cy="1466129"/>
          </a:xfrm>
          <a:prstGeom prst="rect">
            <a:avLst/>
          </a:prstGeom>
        </p:spPr>
      </p:pic>
      <p:sp>
        <p:nvSpPr>
          <p:cNvPr id="366" name="Google Shape;366;p53"/>
          <p:cNvSpPr txBox="1"/>
          <p:nvPr>
            <p:ph type="title"/>
          </p:nvPr>
        </p:nvSpPr>
        <p:spPr>
          <a:xfrm>
            <a:off x="2999950" y="2053654"/>
            <a:ext cx="2105100" cy="399600"/>
          </a:xfrm>
          <a:prstGeom prst="rect">
            <a:avLst/>
          </a:prstGeom>
        </p:spPr>
        <p:txBody>
          <a:bodyPr anchorCtr="0" anchor="t" bIns="113050" lIns="113050" spcFirstLastPara="1" rIns="113050" wrap="square" tIns="113050">
            <a:spAutoFit/>
          </a:bodyPr>
          <a:lstStyle/>
          <a:p>
            <a:pPr indent="0" lvl="0" marL="0" rtl="0" algn="ctr">
              <a:spcBef>
                <a:spcPts val="0"/>
              </a:spcBef>
              <a:spcAft>
                <a:spcPts val="0"/>
              </a:spcAft>
              <a:buNone/>
            </a:pPr>
            <a:r>
              <a:rPr lang="en" sz="1236"/>
              <a:t>Phillip De Guzman</a:t>
            </a:r>
            <a:endParaRPr sz="1236"/>
          </a:p>
        </p:txBody>
      </p:sp>
      <p:sp>
        <p:nvSpPr>
          <p:cNvPr id="367" name="Google Shape;367;p53"/>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368" name="Google Shape;368;p53" title="470157878_1016989563528013_6437620487066079034_n.jpg"/>
          <p:cNvPicPr preferRelativeResize="0"/>
          <p:nvPr>
            <p:ph idx="2" type="pic"/>
          </p:nvPr>
        </p:nvPicPr>
        <p:blipFill rotWithShape="1">
          <a:blip r:embed="rId4">
            <a:alphaModFix/>
          </a:blip>
          <a:srcRect b="0" l="2025" r="2025" t="0"/>
          <a:stretch/>
        </p:blipFill>
        <p:spPr>
          <a:xfrm>
            <a:off x="5163633" y="587450"/>
            <a:ext cx="1403616" cy="1465922"/>
          </a:xfrm>
          <a:prstGeom prst="rect">
            <a:avLst/>
          </a:prstGeom>
        </p:spPr>
      </p:pic>
      <p:sp>
        <p:nvSpPr>
          <p:cNvPr id="369" name="Google Shape;369;p53"/>
          <p:cNvSpPr txBox="1"/>
          <p:nvPr>
            <p:ph type="title"/>
          </p:nvPr>
        </p:nvSpPr>
        <p:spPr>
          <a:xfrm>
            <a:off x="4778650" y="2053507"/>
            <a:ext cx="2105100" cy="399600"/>
          </a:xfrm>
          <a:prstGeom prst="rect">
            <a:avLst/>
          </a:prstGeom>
        </p:spPr>
        <p:txBody>
          <a:bodyPr anchorCtr="0" anchor="t" bIns="113050" lIns="113050" spcFirstLastPara="1" rIns="113050" wrap="square" tIns="113050">
            <a:spAutoFit/>
          </a:bodyPr>
          <a:lstStyle/>
          <a:p>
            <a:pPr indent="0" lvl="0" marL="0" rtl="0" algn="ctr">
              <a:spcBef>
                <a:spcPts val="0"/>
              </a:spcBef>
              <a:spcAft>
                <a:spcPts val="0"/>
              </a:spcAft>
              <a:buNone/>
            </a:pPr>
            <a:r>
              <a:rPr lang="en" sz="1236"/>
              <a:t>Amber Ponder</a:t>
            </a:r>
            <a:endParaRPr sz="1236"/>
          </a:p>
        </p:txBody>
      </p:sp>
      <p:pic>
        <p:nvPicPr>
          <p:cNvPr id="370" name="Google Shape;370;p53" title="IMG_8694.jpeg"/>
          <p:cNvPicPr preferRelativeResize="0"/>
          <p:nvPr>
            <p:ph idx="2" type="pic"/>
          </p:nvPr>
        </p:nvPicPr>
        <p:blipFill rotWithShape="1">
          <a:blip r:embed="rId5">
            <a:alphaModFix/>
          </a:blip>
          <a:srcRect b="26072" l="24436" r="24441" t="33885"/>
          <a:stretch/>
        </p:blipFill>
        <p:spPr>
          <a:xfrm>
            <a:off x="6936347" y="587450"/>
            <a:ext cx="1403666" cy="1465984"/>
          </a:xfrm>
          <a:prstGeom prst="rect">
            <a:avLst/>
          </a:prstGeom>
        </p:spPr>
      </p:pic>
      <p:sp>
        <p:nvSpPr>
          <p:cNvPr id="371" name="Google Shape;371;p53"/>
          <p:cNvSpPr txBox="1"/>
          <p:nvPr>
            <p:ph type="title"/>
          </p:nvPr>
        </p:nvSpPr>
        <p:spPr>
          <a:xfrm>
            <a:off x="6551350" y="2053572"/>
            <a:ext cx="2105100" cy="399600"/>
          </a:xfrm>
          <a:prstGeom prst="rect">
            <a:avLst/>
          </a:prstGeom>
        </p:spPr>
        <p:txBody>
          <a:bodyPr anchorCtr="0" anchor="t" bIns="113025" lIns="113025" spcFirstLastPara="1" rIns="113025" wrap="square" tIns="113025">
            <a:spAutoFit/>
          </a:bodyPr>
          <a:lstStyle/>
          <a:p>
            <a:pPr indent="0" lvl="0" marL="0" rtl="0" algn="ctr">
              <a:spcBef>
                <a:spcPts val="0"/>
              </a:spcBef>
              <a:spcAft>
                <a:spcPts val="0"/>
              </a:spcAft>
              <a:buNone/>
            </a:pPr>
            <a:r>
              <a:rPr lang="en" sz="1236"/>
              <a:t>Jeweliana Beayon</a:t>
            </a:r>
            <a:endParaRPr sz="1236"/>
          </a:p>
        </p:txBody>
      </p:sp>
      <p:pic>
        <p:nvPicPr>
          <p:cNvPr id="372" name="Google Shape;372;p53" title="PXL_20231108_053834354 2.JPG"/>
          <p:cNvPicPr preferRelativeResize="0"/>
          <p:nvPr>
            <p:ph idx="2" type="pic"/>
          </p:nvPr>
        </p:nvPicPr>
        <p:blipFill rotWithShape="1">
          <a:blip r:embed="rId6">
            <a:alphaModFix/>
          </a:blip>
          <a:srcRect b="0" l="2126" r="2126" t="0"/>
          <a:stretch/>
        </p:blipFill>
        <p:spPr>
          <a:xfrm>
            <a:off x="3384926" y="2571753"/>
            <a:ext cx="1403633" cy="1465939"/>
          </a:xfrm>
          <a:prstGeom prst="rect">
            <a:avLst/>
          </a:prstGeom>
        </p:spPr>
      </p:pic>
      <p:sp>
        <p:nvSpPr>
          <p:cNvPr id="373" name="Google Shape;373;p53"/>
          <p:cNvSpPr txBox="1"/>
          <p:nvPr>
            <p:ph type="title"/>
          </p:nvPr>
        </p:nvSpPr>
        <p:spPr>
          <a:xfrm>
            <a:off x="2999938" y="4037831"/>
            <a:ext cx="2105100" cy="399600"/>
          </a:xfrm>
          <a:prstGeom prst="rect">
            <a:avLst/>
          </a:prstGeom>
        </p:spPr>
        <p:txBody>
          <a:bodyPr anchorCtr="0" anchor="t" bIns="113050" lIns="113050" spcFirstLastPara="1" rIns="113050" wrap="square" tIns="113050">
            <a:spAutoFit/>
          </a:bodyPr>
          <a:lstStyle/>
          <a:p>
            <a:pPr indent="0" lvl="0" marL="0" rtl="0" algn="ctr">
              <a:spcBef>
                <a:spcPts val="0"/>
              </a:spcBef>
              <a:spcAft>
                <a:spcPts val="0"/>
              </a:spcAft>
              <a:buNone/>
            </a:pPr>
            <a:r>
              <a:rPr lang="en" sz="1236"/>
              <a:t>Julien Fernandes</a:t>
            </a:r>
            <a:endParaRPr sz="1236"/>
          </a:p>
        </p:txBody>
      </p:sp>
      <p:pic>
        <p:nvPicPr>
          <p:cNvPr id="374" name="Google Shape;374;p53" title="GettingReady-95.jpg"/>
          <p:cNvPicPr preferRelativeResize="0"/>
          <p:nvPr>
            <p:ph idx="2" type="pic"/>
          </p:nvPr>
        </p:nvPicPr>
        <p:blipFill rotWithShape="1">
          <a:blip r:embed="rId7">
            <a:alphaModFix/>
          </a:blip>
          <a:srcRect b="15196" l="0" r="0" t="15196"/>
          <a:stretch/>
        </p:blipFill>
        <p:spPr>
          <a:xfrm>
            <a:off x="5096425" y="2571750"/>
            <a:ext cx="1480674" cy="1465923"/>
          </a:xfrm>
          <a:prstGeom prst="rect">
            <a:avLst/>
          </a:prstGeom>
        </p:spPr>
      </p:pic>
      <p:sp>
        <p:nvSpPr>
          <p:cNvPr id="375" name="Google Shape;375;p53"/>
          <p:cNvSpPr txBox="1"/>
          <p:nvPr>
            <p:ph type="title"/>
          </p:nvPr>
        </p:nvSpPr>
        <p:spPr>
          <a:xfrm>
            <a:off x="4715738" y="4015923"/>
            <a:ext cx="2220600" cy="421500"/>
          </a:xfrm>
          <a:prstGeom prst="rect">
            <a:avLst/>
          </a:prstGeom>
        </p:spPr>
        <p:txBody>
          <a:bodyPr anchorCtr="0" anchor="t" bIns="119250" lIns="119250" spcFirstLastPara="1" rIns="119250" wrap="square" tIns="119250">
            <a:spAutoFit/>
          </a:bodyPr>
          <a:lstStyle/>
          <a:p>
            <a:pPr indent="0" lvl="0" marL="0" rtl="0" algn="ctr">
              <a:spcBef>
                <a:spcPts val="0"/>
              </a:spcBef>
              <a:spcAft>
                <a:spcPts val="0"/>
              </a:spcAft>
              <a:buNone/>
            </a:pPr>
            <a:r>
              <a:rPr lang="en" sz="1304"/>
              <a:t>Matt Kirby</a:t>
            </a:r>
            <a:endParaRPr sz="1304"/>
          </a:p>
        </p:txBody>
      </p:sp>
      <p:sp>
        <p:nvSpPr>
          <p:cNvPr id="376" name="Google Shape;376;p53"/>
          <p:cNvSpPr txBox="1"/>
          <p:nvPr>
            <p:ph type="title"/>
          </p:nvPr>
        </p:nvSpPr>
        <p:spPr>
          <a:xfrm>
            <a:off x="422075" y="2139873"/>
            <a:ext cx="2220600" cy="4017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2900"/>
              <a:t>Team </a:t>
            </a:r>
            <a:r>
              <a:rPr lang="en" sz="2900">
                <a:solidFill>
                  <a:srgbClr val="999999"/>
                </a:solidFill>
              </a:rPr>
              <a:t>Silver</a:t>
            </a:r>
            <a:endParaRPr sz="2900">
              <a:solidFill>
                <a:srgbClr val="999999"/>
              </a:solidFill>
            </a:endParaRPr>
          </a:p>
        </p:txBody>
      </p:sp>
      <p:sp>
        <p:nvSpPr>
          <p:cNvPr id="377" name="Google Shape;377;p53"/>
          <p:cNvSpPr txBox="1"/>
          <p:nvPr>
            <p:ph type="title"/>
          </p:nvPr>
        </p:nvSpPr>
        <p:spPr>
          <a:xfrm>
            <a:off x="422075" y="2614073"/>
            <a:ext cx="2220600" cy="2910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2100"/>
              <a:t>BevOS</a:t>
            </a:r>
            <a:endParaRPr sz="2100">
              <a:solidFill>
                <a:srgbClr val="999999"/>
              </a:solidFill>
            </a:endParaRPr>
          </a:p>
        </p:txBody>
      </p:sp>
      <p:pic>
        <p:nvPicPr>
          <p:cNvPr id="378" name="Google Shape;378;p53" title="1750202728023.jpeg"/>
          <p:cNvPicPr preferRelativeResize="0"/>
          <p:nvPr>
            <p:ph idx="3" type="pic"/>
          </p:nvPr>
        </p:nvPicPr>
        <p:blipFill rotWithShape="1">
          <a:blip r:embed="rId8">
            <a:alphaModFix/>
          </a:blip>
          <a:srcRect b="0" l="6149" r="6140" t="0"/>
          <a:stretch/>
        </p:blipFill>
        <p:spPr>
          <a:xfrm>
            <a:off x="7027750" y="2541575"/>
            <a:ext cx="1312200" cy="1496100"/>
          </a:xfrm>
          <a:prstGeom prst="rect">
            <a:avLst/>
          </a:prstGeom>
        </p:spPr>
      </p:pic>
      <p:sp>
        <p:nvSpPr>
          <p:cNvPr id="379" name="Google Shape;379;p53"/>
          <p:cNvSpPr txBox="1"/>
          <p:nvPr>
            <p:ph type="title"/>
          </p:nvPr>
        </p:nvSpPr>
        <p:spPr>
          <a:xfrm>
            <a:off x="6573538" y="3980248"/>
            <a:ext cx="2220600" cy="602400"/>
          </a:xfrm>
          <a:prstGeom prst="rect">
            <a:avLst/>
          </a:prstGeom>
        </p:spPr>
        <p:txBody>
          <a:bodyPr anchorCtr="0" anchor="t" bIns="119250" lIns="119250" spcFirstLastPara="1" rIns="119250" wrap="square" tIns="119250">
            <a:spAutoFit/>
          </a:bodyPr>
          <a:lstStyle/>
          <a:p>
            <a:pPr indent="0" lvl="0" marL="0" rtl="0" algn="ctr">
              <a:spcBef>
                <a:spcPts val="0"/>
              </a:spcBef>
              <a:spcAft>
                <a:spcPts val="0"/>
              </a:spcAft>
              <a:buNone/>
            </a:pPr>
            <a:r>
              <a:rPr lang="en" sz="1304"/>
              <a:t>Kushal Honnappa</a:t>
            </a:r>
            <a:endParaRPr sz="1304"/>
          </a:p>
          <a:p>
            <a:pPr indent="0" lvl="0" marL="0" rtl="0" algn="ctr">
              <a:spcBef>
                <a:spcPts val="0"/>
              </a:spcBef>
              <a:spcAft>
                <a:spcPts val="0"/>
              </a:spcAft>
              <a:buNone/>
            </a:pPr>
            <a:r>
              <a:rPr lang="en" sz="1304"/>
              <a:t>Mentor</a:t>
            </a:r>
            <a:endParaRPr sz="1304"/>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descr="A boxy modern building with bright walls under a sunny sky." id="384" name="Google Shape;384;p54"/>
          <p:cNvPicPr preferRelativeResize="0"/>
          <p:nvPr/>
        </p:nvPicPr>
        <p:blipFill rotWithShape="1">
          <a:blip r:embed="rId3">
            <a:alphaModFix amt="90000"/>
          </a:blip>
          <a:srcRect b="29023" l="0" r="0" t="0"/>
          <a:stretch/>
        </p:blipFill>
        <p:spPr>
          <a:xfrm>
            <a:off x="-4" y="0"/>
            <a:ext cx="9144003" cy="5143498"/>
          </a:xfrm>
          <a:prstGeom prst="rect">
            <a:avLst/>
          </a:prstGeom>
          <a:noFill/>
          <a:ln>
            <a:noFill/>
          </a:ln>
        </p:spPr>
      </p:pic>
      <p:cxnSp>
        <p:nvCxnSpPr>
          <p:cNvPr id="385" name="Google Shape;385;p54"/>
          <p:cNvCxnSpPr/>
          <p:nvPr/>
        </p:nvCxnSpPr>
        <p:spPr>
          <a:xfrm rot="10800000">
            <a:off x="285000" y="1193700"/>
            <a:ext cx="8574000" cy="0"/>
          </a:xfrm>
          <a:prstGeom prst="straightConnector1">
            <a:avLst/>
          </a:prstGeom>
          <a:noFill/>
          <a:ln cap="flat" cmpd="sng" w="9525">
            <a:solidFill>
              <a:schemeClr val="lt1"/>
            </a:solidFill>
            <a:prstDash val="solid"/>
            <a:round/>
            <a:headEnd len="med" w="med" type="none"/>
            <a:tailEnd len="med" w="med" type="none"/>
          </a:ln>
        </p:spPr>
      </p:cxnSp>
      <p:sp>
        <p:nvSpPr>
          <p:cNvPr id="386" name="Google Shape;386;p54"/>
          <p:cNvSpPr txBox="1"/>
          <p:nvPr>
            <p:ph type="title"/>
          </p:nvPr>
        </p:nvSpPr>
        <p:spPr>
          <a:xfrm>
            <a:off x="276075" y="457200"/>
            <a:ext cx="85944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Elevator Pitch</a:t>
            </a:r>
            <a:endParaRPr/>
          </a:p>
        </p:txBody>
      </p:sp>
      <p:sp>
        <p:nvSpPr>
          <p:cNvPr id="387" name="Google Shape;387;p54"/>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88" name="Google Shape;388;p54"/>
          <p:cNvSpPr/>
          <p:nvPr/>
        </p:nvSpPr>
        <p:spPr>
          <a:xfrm>
            <a:off x="144775" y="1362525"/>
            <a:ext cx="6423300" cy="2521200"/>
          </a:xfrm>
          <a:prstGeom prst="rect">
            <a:avLst/>
          </a:prstGeom>
          <a:solidFill>
            <a:srgbClr val="FBFBFB">
              <a:alpha val="6518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389" name="Google Shape;389;p54"/>
          <p:cNvSpPr txBox="1"/>
          <p:nvPr>
            <p:ph idx="2" type="body"/>
          </p:nvPr>
        </p:nvSpPr>
        <p:spPr>
          <a:xfrm>
            <a:off x="240475" y="1376100"/>
            <a:ext cx="6231900" cy="2521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latin typeface="Playfair Display"/>
                <a:ea typeface="Playfair Display"/>
                <a:cs typeface="Playfair Display"/>
                <a:sym typeface="Playfair Display"/>
              </a:rPr>
              <a:t>The beverage packaging industry was estimated to be at USD 157.73 billion in 2023 and is projected to reach USD 222.08 billion by 2030 (Grand View Research, 2024.) Beverage manufacturers often manage product launches through disconnected spreadsheets, email chains, and multiple software systems. This fragmented approach can lead to delays, communication breakdowns, and costly operational errors.</a:t>
            </a:r>
            <a:endParaRPr sz="1200">
              <a:latin typeface="Playfair Display"/>
              <a:ea typeface="Playfair Display"/>
              <a:cs typeface="Playfair Display"/>
              <a:sym typeface="Playfair Display"/>
            </a:endParaRPr>
          </a:p>
          <a:p>
            <a:pPr indent="0" lvl="0" marL="0" rtl="0" algn="l">
              <a:spcBef>
                <a:spcPts val="0"/>
              </a:spcBef>
              <a:spcAft>
                <a:spcPts val="0"/>
              </a:spcAft>
              <a:buNone/>
            </a:pPr>
            <a:r>
              <a:t/>
            </a:r>
            <a:endParaRPr sz="1200">
              <a:latin typeface="Playfair Display"/>
              <a:ea typeface="Playfair Display"/>
              <a:cs typeface="Playfair Display"/>
              <a:sym typeface="Playfair Display"/>
            </a:endParaRPr>
          </a:p>
          <a:p>
            <a:pPr indent="0" lvl="0" marL="0" rtl="0" algn="l">
              <a:spcBef>
                <a:spcPts val="0"/>
              </a:spcBef>
              <a:spcAft>
                <a:spcPts val="0"/>
              </a:spcAft>
              <a:buNone/>
            </a:pPr>
            <a:r>
              <a:rPr lang="en" sz="1200">
                <a:latin typeface="Playfair Display"/>
                <a:ea typeface="Playfair Display"/>
                <a:cs typeface="Playfair Display"/>
                <a:sym typeface="Playfair Display"/>
              </a:rPr>
              <a:t>BevOS is a centralized workflow management platform designed specifically for beverage manufacturing. The platform connects suppliers, co-packers, logistics providers, and operational teams into a single system, providing visibility across the entire production lifecycle. By streamlining approvals, tracking production activities, and coordinating logistics, BevOS helps companies operate more efficiently and scale their business with fewer operational bottlenecks.</a:t>
            </a:r>
            <a:endParaRPr sz="1200">
              <a:latin typeface="Playfair Display"/>
              <a:ea typeface="Playfair Display"/>
              <a:cs typeface="Playfair Display"/>
              <a:sym typeface="Playfair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5"/>
          <p:cNvSpPr txBox="1"/>
          <p:nvPr>
            <p:ph type="title"/>
          </p:nvPr>
        </p:nvSpPr>
        <p:spPr>
          <a:xfrm>
            <a:off x="276075" y="457200"/>
            <a:ext cx="85944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“Problem”</a:t>
            </a:r>
            <a:endParaRPr/>
          </a:p>
        </p:txBody>
      </p:sp>
      <p:sp>
        <p:nvSpPr>
          <p:cNvPr id="395" name="Google Shape;395;p55"/>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sp>
        <p:nvSpPr>
          <p:cNvPr id="396" name="Google Shape;396;p55"/>
          <p:cNvSpPr txBox="1"/>
          <p:nvPr>
            <p:ph idx="2" type="body"/>
          </p:nvPr>
        </p:nvSpPr>
        <p:spPr>
          <a:xfrm>
            <a:off x="252300" y="1801500"/>
            <a:ext cx="8639400" cy="2620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500"/>
              <a:t>As beverage companies grow, coordination of production activities become more challenging to manage.</a:t>
            </a:r>
            <a:endParaRPr sz="1500"/>
          </a:p>
          <a:p>
            <a:pPr indent="0" lvl="0" marL="0" rtl="0" algn="l">
              <a:spcBef>
                <a:spcPts val="0"/>
              </a:spcBef>
              <a:spcAft>
                <a:spcPts val="0"/>
              </a:spcAft>
              <a:buNone/>
            </a:pPr>
            <a:r>
              <a:rPr lang="en" sz="1500"/>
              <a:t>The beverage manufacturing industry relies on multiple </a:t>
            </a:r>
            <a:r>
              <a:rPr lang="en" sz="1500"/>
              <a:t>spreadsheets</a:t>
            </a:r>
            <a:r>
              <a:rPr lang="en" sz="1500"/>
              <a:t>, email chains, and phone calls. While these are all helpful tools that allow companies to operate they create </a:t>
            </a:r>
            <a:r>
              <a:rPr lang="en" sz="1500"/>
              <a:t>inefficiencies</a:t>
            </a:r>
            <a:r>
              <a:rPr lang="en" sz="1500"/>
              <a:t> as a </a:t>
            </a:r>
            <a:r>
              <a:rPr lang="en" sz="1500"/>
              <a:t>business</a:t>
            </a:r>
            <a:r>
              <a:rPr lang="en" sz="1500"/>
              <a:t> grows. Important updates can become lost in long email chains, causing </a:t>
            </a:r>
            <a:r>
              <a:rPr lang="en" sz="1500"/>
              <a:t>delays</a:t>
            </a:r>
            <a:r>
              <a:rPr lang="en" sz="1500"/>
              <a:t> and miscommunication between brands, suppliers, co-packers, and logistic providers. Approval processes for </a:t>
            </a:r>
            <a:r>
              <a:rPr lang="en" sz="1500"/>
              <a:t>artwork, purchase orders, and production schedules frequently require a manual follow up creating bottlenecks that slow projects and increase workload.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BevOS addresses these challenges by providing a centralized workflow management platform specifically design for beverage manufacturing operations. </a:t>
            </a:r>
            <a:endParaRPr sz="1500"/>
          </a:p>
        </p:txBody>
      </p:sp>
      <p:cxnSp>
        <p:nvCxnSpPr>
          <p:cNvPr id="397" name="Google Shape;397;p55"/>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pic>
        <p:nvPicPr>
          <p:cNvPr id="398" name="Google Shape;398;p55" title="istockphoto-1205852013-612x612.jpg"/>
          <p:cNvPicPr preferRelativeResize="0"/>
          <p:nvPr>
            <p:ph idx="2" type="pic"/>
          </p:nvPr>
        </p:nvPicPr>
        <p:blipFill rotWithShape="1">
          <a:blip r:embed="rId4">
            <a:alphaModFix/>
          </a:blip>
          <a:srcRect b="10330" l="0" r="0" t="10330"/>
          <a:stretch/>
        </p:blipFill>
        <p:spPr>
          <a:xfrm>
            <a:off x="6802800" y="0"/>
            <a:ext cx="2341200" cy="1189800"/>
          </a:xfrm>
          <a:prstGeom prst="rect">
            <a:avLst/>
          </a:prstGeom>
          <a:noFill/>
          <a:ln>
            <a:noFill/>
          </a:ln>
        </p:spPr>
      </p:pic>
      <p:sp>
        <p:nvSpPr>
          <p:cNvPr id="399" name="Google Shape;399;p55"/>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00" name="Google Shape;400;p55"/>
          <p:cNvSpPr txBox="1"/>
          <p:nvPr/>
        </p:nvSpPr>
        <p:spPr>
          <a:xfrm>
            <a:off x="2587400" y="-952500"/>
            <a:ext cx="6255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04" name="Shape 404"/>
        <p:cNvGrpSpPr/>
        <p:nvPr/>
      </p:nvGrpSpPr>
      <p:grpSpPr>
        <a:xfrm>
          <a:off x="0" y="0"/>
          <a:ext cx="0" cy="0"/>
          <a:chOff x="0" y="0"/>
          <a:chExt cx="0" cy="0"/>
        </a:xfrm>
      </p:grpSpPr>
      <p:pic>
        <p:nvPicPr>
          <p:cNvPr descr="The roof of a modern building underneath a sunny blue sky. " id="405" name="Google Shape;405;p56"/>
          <p:cNvPicPr preferRelativeResize="0"/>
          <p:nvPr/>
        </p:nvPicPr>
        <p:blipFill rotWithShape="1">
          <a:blip r:embed="rId3">
            <a:alphaModFix/>
          </a:blip>
          <a:srcRect b="56374" l="0" r="0" t="6108"/>
          <a:stretch/>
        </p:blipFill>
        <p:spPr>
          <a:xfrm>
            <a:off x="1423" y="-1"/>
            <a:ext cx="9143997" cy="5143501"/>
          </a:xfrm>
          <a:prstGeom prst="rect">
            <a:avLst/>
          </a:prstGeom>
          <a:noFill/>
          <a:ln>
            <a:noFill/>
          </a:ln>
        </p:spPr>
      </p:pic>
      <p:sp>
        <p:nvSpPr>
          <p:cNvPr id="406" name="Google Shape;406;p56"/>
          <p:cNvSpPr/>
          <p:nvPr/>
        </p:nvSpPr>
        <p:spPr>
          <a:xfrm>
            <a:off x="284700" y="1352850"/>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07" name="Google Shape;407;p56"/>
          <p:cNvSpPr/>
          <p:nvPr/>
        </p:nvSpPr>
        <p:spPr>
          <a:xfrm>
            <a:off x="2588150" y="1352850"/>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08" name="Google Shape;408;p56"/>
          <p:cNvSpPr/>
          <p:nvPr/>
        </p:nvSpPr>
        <p:spPr>
          <a:xfrm>
            <a:off x="4891600" y="1352850"/>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09" name="Google Shape;409;p56"/>
          <p:cNvSpPr/>
          <p:nvPr/>
        </p:nvSpPr>
        <p:spPr>
          <a:xfrm>
            <a:off x="2472025" y="3243900"/>
            <a:ext cx="2419500" cy="1572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410" name="Google Shape;410;p56"/>
          <p:cNvPicPr preferRelativeResize="0"/>
          <p:nvPr/>
        </p:nvPicPr>
        <p:blipFill>
          <a:blip r:embed="rId4">
            <a:alphaModFix/>
          </a:blip>
          <a:stretch>
            <a:fillRect/>
          </a:stretch>
        </p:blipFill>
        <p:spPr>
          <a:xfrm>
            <a:off x="2009175" y="1335025"/>
            <a:ext cx="521600" cy="521600"/>
          </a:xfrm>
          <a:prstGeom prst="rect">
            <a:avLst/>
          </a:prstGeom>
          <a:noFill/>
          <a:ln>
            <a:noFill/>
          </a:ln>
        </p:spPr>
      </p:pic>
      <p:pic>
        <p:nvPicPr>
          <p:cNvPr id="411" name="Google Shape;411;p56"/>
          <p:cNvPicPr preferRelativeResize="0"/>
          <p:nvPr/>
        </p:nvPicPr>
        <p:blipFill>
          <a:blip r:embed="rId4">
            <a:alphaModFix/>
          </a:blip>
          <a:stretch>
            <a:fillRect/>
          </a:stretch>
        </p:blipFill>
        <p:spPr>
          <a:xfrm>
            <a:off x="4312625" y="1335025"/>
            <a:ext cx="521600" cy="521600"/>
          </a:xfrm>
          <a:prstGeom prst="rect">
            <a:avLst/>
          </a:prstGeom>
          <a:noFill/>
          <a:ln>
            <a:noFill/>
          </a:ln>
        </p:spPr>
      </p:pic>
      <p:pic>
        <p:nvPicPr>
          <p:cNvPr id="412" name="Google Shape;412;p56"/>
          <p:cNvPicPr preferRelativeResize="0"/>
          <p:nvPr/>
        </p:nvPicPr>
        <p:blipFill>
          <a:blip r:embed="rId4">
            <a:alphaModFix/>
          </a:blip>
          <a:stretch>
            <a:fillRect/>
          </a:stretch>
        </p:blipFill>
        <p:spPr>
          <a:xfrm>
            <a:off x="6616075" y="1335025"/>
            <a:ext cx="521600" cy="521600"/>
          </a:xfrm>
          <a:prstGeom prst="rect">
            <a:avLst/>
          </a:prstGeom>
          <a:noFill/>
          <a:ln>
            <a:noFill/>
          </a:ln>
        </p:spPr>
      </p:pic>
      <p:sp>
        <p:nvSpPr>
          <p:cNvPr id="413" name="Google Shape;413;p56"/>
          <p:cNvSpPr txBox="1"/>
          <p:nvPr>
            <p:ph type="title"/>
          </p:nvPr>
        </p:nvSpPr>
        <p:spPr>
          <a:xfrm>
            <a:off x="276075" y="457200"/>
            <a:ext cx="34767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dk1"/>
                </a:solidFill>
              </a:rPr>
              <a:t>Current Process Flow</a:t>
            </a:r>
            <a:endParaRPr>
              <a:solidFill>
                <a:schemeClr val="dk1"/>
              </a:solidFill>
            </a:endParaRPr>
          </a:p>
        </p:txBody>
      </p:sp>
      <p:sp>
        <p:nvSpPr>
          <p:cNvPr id="414" name="Google Shape;414;p56"/>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sp>
        <p:nvSpPr>
          <p:cNvPr id="415" name="Google Shape;415;p56"/>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16" name="Google Shape;416;p56"/>
          <p:cNvSpPr txBox="1"/>
          <p:nvPr>
            <p:ph idx="2" type="subTitle"/>
          </p:nvPr>
        </p:nvSpPr>
        <p:spPr>
          <a:xfrm>
            <a:off x="547150" y="1401288"/>
            <a:ext cx="16020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Product Request</a:t>
            </a:r>
            <a:endParaRPr sz="1100"/>
          </a:p>
          <a:p>
            <a:pPr indent="0" lvl="0" marL="0" rtl="0" algn="l">
              <a:spcBef>
                <a:spcPts val="0"/>
              </a:spcBef>
              <a:spcAft>
                <a:spcPts val="0"/>
              </a:spcAft>
              <a:buNone/>
            </a:pPr>
            <a:r>
              <a:t/>
            </a:r>
            <a:endParaRPr sz="1100"/>
          </a:p>
        </p:txBody>
      </p:sp>
      <p:sp>
        <p:nvSpPr>
          <p:cNvPr id="417" name="Google Shape;417;p56"/>
          <p:cNvSpPr txBox="1"/>
          <p:nvPr>
            <p:ph idx="3" type="subTitle"/>
          </p:nvPr>
        </p:nvSpPr>
        <p:spPr>
          <a:xfrm>
            <a:off x="2742200" y="1427513"/>
            <a:ext cx="13590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Quote Requests</a:t>
            </a:r>
            <a:endParaRPr/>
          </a:p>
          <a:p>
            <a:pPr indent="0" lvl="0" marL="0" rtl="0" algn="l">
              <a:spcBef>
                <a:spcPts val="0"/>
              </a:spcBef>
              <a:spcAft>
                <a:spcPts val="0"/>
              </a:spcAft>
              <a:buNone/>
            </a:pPr>
            <a:r>
              <a:t/>
            </a:r>
            <a:endParaRPr/>
          </a:p>
        </p:txBody>
      </p:sp>
      <p:sp>
        <p:nvSpPr>
          <p:cNvPr id="418" name="Google Shape;418;p56"/>
          <p:cNvSpPr txBox="1"/>
          <p:nvPr>
            <p:ph idx="4" type="subTitle"/>
          </p:nvPr>
        </p:nvSpPr>
        <p:spPr>
          <a:xfrm>
            <a:off x="5014000" y="1427525"/>
            <a:ext cx="13590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Supplier Responses</a:t>
            </a:r>
            <a:endParaRPr sz="1200"/>
          </a:p>
        </p:txBody>
      </p:sp>
      <p:sp>
        <p:nvSpPr>
          <p:cNvPr id="419" name="Google Shape;419;p56"/>
          <p:cNvSpPr/>
          <p:nvPr/>
        </p:nvSpPr>
        <p:spPr>
          <a:xfrm>
            <a:off x="7131750" y="1343975"/>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20" name="Google Shape;420;p56"/>
          <p:cNvSpPr/>
          <p:nvPr/>
        </p:nvSpPr>
        <p:spPr>
          <a:xfrm>
            <a:off x="7203225" y="2319900"/>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21" name="Google Shape;421;p56"/>
          <p:cNvSpPr/>
          <p:nvPr/>
        </p:nvSpPr>
        <p:spPr>
          <a:xfrm>
            <a:off x="4891600" y="2364300"/>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22" name="Google Shape;422;p56"/>
          <p:cNvSpPr/>
          <p:nvPr/>
        </p:nvSpPr>
        <p:spPr>
          <a:xfrm>
            <a:off x="2616838" y="2364300"/>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23" name="Google Shape;423;p56"/>
          <p:cNvSpPr/>
          <p:nvPr/>
        </p:nvSpPr>
        <p:spPr>
          <a:xfrm>
            <a:off x="342100" y="2345363"/>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pic>
        <p:nvPicPr>
          <p:cNvPr id="424" name="Google Shape;424;p56"/>
          <p:cNvPicPr preferRelativeResize="0"/>
          <p:nvPr/>
        </p:nvPicPr>
        <p:blipFill>
          <a:blip r:embed="rId4">
            <a:alphaModFix/>
          </a:blip>
          <a:stretch>
            <a:fillRect/>
          </a:stretch>
        </p:blipFill>
        <p:spPr>
          <a:xfrm rot="5400000">
            <a:off x="7704500" y="1847675"/>
            <a:ext cx="521600" cy="521600"/>
          </a:xfrm>
          <a:prstGeom prst="rect">
            <a:avLst/>
          </a:prstGeom>
          <a:noFill/>
          <a:ln>
            <a:noFill/>
          </a:ln>
        </p:spPr>
      </p:pic>
      <p:pic>
        <p:nvPicPr>
          <p:cNvPr id="425" name="Google Shape;425;p56"/>
          <p:cNvPicPr preferRelativeResize="0"/>
          <p:nvPr/>
        </p:nvPicPr>
        <p:blipFill>
          <a:blip r:embed="rId4">
            <a:alphaModFix/>
          </a:blip>
          <a:stretch>
            <a:fillRect/>
          </a:stretch>
        </p:blipFill>
        <p:spPr>
          <a:xfrm flipH="1">
            <a:off x="6620163" y="2355350"/>
            <a:ext cx="521600" cy="521600"/>
          </a:xfrm>
          <a:prstGeom prst="rect">
            <a:avLst/>
          </a:prstGeom>
          <a:noFill/>
          <a:ln>
            <a:noFill/>
          </a:ln>
        </p:spPr>
      </p:pic>
      <p:pic>
        <p:nvPicPr>
          <p:cNvPr id="426" name="Google Shape;426;p56"/>
          <p:cNvPicPr preferRelativeResize="0"/>
          <p:nvPr/>
        </p:nvPicPr>
        <p:blipFill>
          <a:blip r:embed="rId4">
            <a:alphaModFix/>
          </a:blip>
          <a:stretch>
            <a:fillRect/>
          </a:stretch>
        </p:blipFill>
        <p:spPr>
          <a:xfrm flipH="1">
            <a:off x="4345400" y="2346550"/>
            <a:ext cx="521600" cy="521600"/>
          </a:xfrm>
          <a:prstGeom prst="rect">
            <a:avLst/>
          </a:prstGeom>
          <a:noFill/>
          <a:ln>
            <a:noFill/>
          </a:ln>
        </p:spPr>
      </p:pic>
      <p:pic>
        <p:nvPicPr>
          <p:cNvPr id="427" name="Google Shape;427;p56"/>
          <p:cNvPicPr preferRelativeResize="0"/>
          <p:nvPr/>
        </p:nvPicPr>
        <p:blipFill>
          <a:blip r:embed="rId4">
            <a:alphaModFix/>
          </a:blip>
          <a:stretch>
            <a:fillRect/>
          </a:stretch>
        </p:blipFill>
        <p:spPr>
          <a:xfrm flipH="1">
            <a:off x="2052213" y="2355350"/>
            <a:ext cx="521600" cy="521600"/>
          </a:xfrm>
          <a:prstGeom prst="rect">
            <a:avLst/>
          </a:prstGeom>
          <a:noFill/>
          <a:ln>
            <a:noFill/>
          </a:ln>
        </p:spPr>
      </p:pic>
      <p:pic>
        <p:nvPicPr>
          <p:cNvPr id="428" name="Google Shape;428;p56"/>
          <p:cNvPicPr preferRelativeResize="0"/>
          <p:nvPr/>
        </p:nvPicPr>
        <p:blipFill>
          <a:blip r:embed="rId4">
            <a:alphaModFix/>
          </a:blip>
          <a:stretch>
            <a:fillRect/>
          </a:stretch>
        </p:blipFill>
        <p:spPr>
          <a:xfrm rot="5400000">
            <a:off x="825800" y="2866463"/>
            <a:ext cx="521600" cy="521600"/>
          </a:xfrm>
          <a:prstGeom prst="rect">
            <a:avLst/>
          </a:prstGeom>
          <a:noFill/>
          <a:ln>
            <a:noFill/>
          </a:ln>
        </p:spPr>
      </p:pic>
      <p:sp>
        <p:nvSpPr>
          <p:cNvPr id="429" name="Google Shape;429;p56"/>
          <p:cNvSpPr txBox="1"/>
          <p:nvPr>
            <p:ph idx="3" type="subTitle"/>
          </p:nvPr>
        </p:nvSpPr>
        <p:spPr>
          <a:xfrm>
            <a:off x="7285800" y="1429350"/>
            <a:ext cx="1359000" cy="35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t>Artwork Approval</a:t>
            </a:r>
            <a:endParaRPr sz="1300"/>
          </a:p>
          <a:p>
            <a:pPr indent="0" lvl="0" marL="0" rtl="0" algn="l">
              <a:spcBef>
                <a:spcPts val="0"/>
              </a:spcBef>
              <a:spcAft>
                <a:spcPts val="0"/>
              </a:spcAft>
              <a:buNone/>
            </a:pPr>
            <a:r>
              <a:t/>
            </a:r>
            <a:endParaRPr/>
          </a:p>
        </p:txBody>
      </p:sp>
      <p:sp>
        <p:nvSpPr>
          <p:cNvPr id="430" name="Google Shape;430;p56"/>
          <p:cNvSpPr txBox="1"/>
          <p:nvPr>
            <p:ph idx="3" type="subTitle"/>
          </p:nvPr>
        </p:nvSpPr>
        <p:spPr>
          <a:xfrm>
            <a:off x="7338875" y="2378113"/>
            <a:ext cx="13590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Purchase Orders</a:t>
            </a:r>
            <a:endParaRPr/>
          </a:p>
          <a:p>
            <a:pPr indent="0" lvl="0" marL="0" rtl="0" algn="l">
              <a:spcBef>
                <a:spcPts val="0"/>
              </a:spcBef>
              <a:spcAft>
                <a:spcPts val="0"/>
              </a:spcAft>
              <a:buNone/>
            </a:pPr>
            <a:r>
              <a:t/>
            </a:r>
            <a:endParaRPr/>
          </a:p>
        </p:txBody>
      </p:sp>
      <p:sp>
        <p:nvSpPr>
          <p:cNvPr id="431" name="Google Shape;431;p56"/>
          <p:cNvSpPr txBox="1"/>
          <p:nvPr>
            <p:ph idx="3" type="subTitle"/>
          </p:nvPr>
        </p:nvSpPr>
        <p:spPr>
          <a:xfrm>
            <a:off x="5064088" y="2378125"/>
            <a:ext cx="13590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Production Schedule</a:t>
            </a:r>
            <a:endParaRPr sz="1100"/>
          </a:p>
          <a:p>
            <a:pPr indent="0" lvl="0" marL="0" rtl="0" algn="l">
              <a:spcBef>
                <a:spcPts val="0"/>
              </a:spcBef>
              <a:spcAft>
                <a:spcPts val="0"/>
              </a:spcAft>
              <a:buNone/>
            </a:pPr>
            <a:r>
              <a:t/>
            </a:r>
            <a:endParaRPr sz="1100"/>
          </a:p>
        </p:txBody>
      </p:sp>
      <p:sp>
        <p:nvSpPr>
          <p:cNvPr id="432" name="Google Shape;432;p56"/>
          <p:cNvSpPr txBox="1"/>
          <p:nvPr>
            <p:ph idx="3" type="subTitle"/>
          </p:nvPr>
        </p:nvSpPr>
        <p:spPr>
          <a:xfrm>
            <a:off x="2780100" y="2364300"/>
            <a:ext cx="13590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Manufacturing</a:t>
            </a:r>
            <a:endParaRPr/>
          </a:p>
          <a:p>
            <a:pPr indent="0" lvl="0" marL="0" rtl="0" algn="l">
              <a:spcBef>
                <a:spcPts val="0"/>
              </a:spcBef>
              <a:spcAft>
                <a:spcPts val="0"/>
              </a:spcAft>
              <a:buNone/>
            </a:pPr>
            <a:r>
              <a:t/>
            </a:r>
            <a:endParaRPr/>
          </a:p>
        </p:txBody>
      </p:sp>
      <p:sp>
        <p:nvSpPr>
          <p:cNvPr id="433" name="Google Shape;433;p56"/>
          <p:cNvSpPr txBox="1"/>
          <p:nvPr>
            <p:ph idx="3" type="subTitle"/>
          </p:nvPr>
        </p:nvSpPr>
        <p:spPr>
          <a:xfrm>
            <a:off x="668650" y="2392550"/>
            <a:ext cx="1359000" cy="21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Logistics</a:t>
            </a:r>
            <a:endParaRPr/>
          </a:p>
          <a:p>
            <a:pPr indent="0" lvl="0" marL="0" rtl="0" algn="l">
              <a:spcBef>
                <a:spcPts val="0"/>
              </a:spcBef>
              <a:spcAft>
                <a:spcPts val="0"/>
              </a:spcAft>
              <a:buNone/>
            </a:pPr>
            <a:r>
              <a:t/>
            </a:r>
            <a:endParaRPr/>
          </a:p>
        </p:txBody>
      </p:sp>
      <p:sp>
        <p:nvSpPr>
          <p:cNvPr id="434" name="Google Shape;434;p56"/>
          <p:cNvSpPr txBox="1"/>
          <p:nvPr/>
        </p:nvSpPr>
        <p:spPr>
          <a:xfrm>
            <a:off x="2492275" y="3243900"/>
            <a:ext cx="2379000" cy="144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10">
                <a:solidFill>
                  <a:schemeClr val="dk1"/>
                </a:solidFill>
                <a:latin typeface="Playfair Display"/>
                <a:ea typeface="Playfair Display"/>
                <a:cs typeface="Playfair Display"/>
                <a:sym typeface="Playfair Display"/>
              </a:rPr>
              <a:t>Current Problems:</a:t>
            </a:r>
            <a:endParaRPr b="1" sz="1210">
              <a:solidFill>
                <a:schemeClr val="dk1"/>
              </a:solidFill>
              <a:latin typeface="Playfair Display"/>
              <a:ea typeface="Playfair Display"/>
              <a:cs typeface="Playfair Display"/>
              <a:sym typeface="Playfair Display"/>
            </a:endParaRPr>
          </a:p>
          <a:p>
            <a:pPr indent="-305458" lvl="0" marL="457200" rtl="0" algn="l">
              <a:lnSpc>
                <a:spcPct val="115000"/>
              </a:lnSpc>
              <a:spcBef>
                <a:spcPts val="0"/>
              </a:spcBef>
              <a:spcAft>
                <a:spcPts val="0"/>
              </a:spcAft>
              <a:buClr>
                <a:schemeClr val="dk1"/>
              </a:buClr>
              <a:buSzPts val="1210"/>
              <a:buFont typeface="Playfair Display"/>
              <a:buChar char="●"/>
            </a:pPr>
            <a:r>
              <a:rPr lang="en" sz="1210">
                <a:solidFill>
                  <a:schemeClr val="dk1"/>
                </a:solidFill>
                <a:latin typeface="Playfair Display"/>
                <a:ea typeface="Playfair Display"/>
                <a:cs typeface="Playfair Display"/>
                <a:sym typeface="Playfair Display"/>
              </a:rPr>
              <a:t>Spreadsheet tracking</a:t>
            </a:r>
            <a:endParaRPr sz="1210">
              <a:solidFill>
                <a:schemeClr val="dk1"/>
              </a:solidFill>
              <a:latin typeface="Playfair Display"/>
              <a:ea typeface="Playfair Display"/>
              <a:cs typeface="Playfair Display"/>
              <a:sym typeface="Playfair Display"/>
            </a:endParaRPr>
          </a:p>
          <a:p>
            <a:pPr indent="-305458" lvl="0" marL="457200" rtl="0" algn="l">
              <a:lnSpc>
                <a:spcPct val="115000"/>
              </a:lnSpc>
              <a:spcBef>
                <a:spcPts val="0"/>
              </a:spcBef>
              <a:spcAft>
                <a:spcPts val="0"/>
              </a:spcAft>
              <a:buClr>
                <a:schemeClr val="dk1"/>
              </a:buClr>
              <a:buSzPts val="1210"/>
              <a:buFont typeface="Playfair Display"/>
              <a:buChar char="●"/>
            </a:pPr>
            <a:r>
              <a:rPr lang="en" sz="1210">
                <a:solidFill>
                  <a:schemeClr val="dk1"/>
                </a:solidFill>
                <a:latin typeface="Playfair Display"/>
                <a:ea typeface="Playfair Display"/>
                <a:cs typeface="Playfair Display"/>
                <a:sym typeface="Playfair Display"/>
              </a:rPr>
              <a:t>Email chains</a:t>
            </a:r>
            <a:endParaRPr sz="1210">
              <a:solidFill>
                <a:schemeClr val="dk1"/>
              </a:solidFill>
              <a:latin typeface="Playfair Display"/>
              <a:ea typeface="Playfair Display"/>
              <a:cs typeface="Playfair Display"/>
              <a:sym typeface="Playfair Display"/>
            </a:endParaRPr>
          </a:p>
          <a:p>
            <a:pPr indent="-305458" lvl="0" marL="457200" rtl="0" algn="l">
              <a:lnSpc>
                <a:spcPct val="115000"/>
              </a:lnSpc>
              <a:spcBef>
                <a:spcPts val="0"/>
              </a:spcBef>
              <a:spcAft>
                <a:spcPts val="0"/>
              </a:spcAft>
              <a:buClr>
                <a:schemeClr val="dk1"/>
              </a:buClr>
              <a:buSzPts val="1210"/>
              <a:buFont typeface="Playfair Display"/>
              <a:buChar char="●"/>
            </a:pPr>
            <a:r>
              <a:rPr lang="en" sz="1210">
                <a:solidFill>
                  <a:schemeClr val="dk1"/>
                </a:solidFill>
                <a:latin typeface="Playfair Display"/>
                <a:ea typeface="Playfair Display"/>
                <a:cs typeface="Playfair Display"/>
                <a:sym typeface="Playfair Display"/>
              </a:rPr>
              <a:t>Manual approvals</a:t>
            </a:r>
            <a:endParaRPr sz="1210">
              <a:solidFill>
                <a:schemeClr val="dk1"/>
              </a:solidFill>
              <a:latin typeface="Playfair Display"/>
              <a:ea typeface="Playfair Display"/>
              <a:cs typeface="Playfair Display"/>
              <a:sym typeface="Playfair Display"/>
            </a:endParaRPr>
          </a:p>
          <a:p>
            <a:pPr indent="-305458" lvl="0" marL="457200" rtl="0" algn="l">
              <a:lnSpc>
                <a:spcPct val="115000"/>
              </a:lnSpc>
              <a:spcBef>
                <a:spcPts val="0"/>
              </a:spcBef>
              <a:spcAft>
                <a:spcPts val="0"/>
              </a:spcAft>
              <a:buClr>
                <a:schemeClr val="dk1"/>
              </a:buClr>
              <a:buSzPts val="1210"/>
              <a:buFont typeface="Playfair Display"/>
              <a:buChar char="●"/>
            </a:pPr>
            <a:r>
              <a:rPr lang="en" sz="1210">
                <a:solidFill>
                  <a:schemeClr val="dk1"/>
                </a:solidFill>
                <a:latin typeface="Playfair Display"/>
                <a:ea typeface="Playfair Display"/>
                <a:cs typeface="Playfair Display"/>
                <a:sym typeface="Playfair Display"/>
              </a:rPr>
              <a:t>Poor visibility</a:t>
            </a:r>
            <a:endParaRPr sz="1210">
              <a:solidFill>
                <a:schemeClr val="dk1"/>
              </a:solidFill>
              <a:latin typeface="Playfair Display"/>
              <a:ea typeface="Playfair Display"/>
              <a:cs typeface="Playfair Display"/>
              <a:sym typeface="Playfair Display"/>
            </a:endParaRPr>
          </a:p>
          <a:p>
            <a:pPr indent="-305458" lvl="0" marL="457200" rtl="0" algn="l">
              <a:lnSpc>
                <a:spcPct val="115000"/>
              </a:lnSpc>
              <a:spcBef>
                <a:spcPts val="0"/>
              </a:spcBef>
              <a:spcAft>
                <a:spcPts val="0"/>
              </a:spcAft>
              <a:buClr>
                <a:schemeClr val="dk1"/>
              </a:buClr>
              <a:buSzPts val="1210"/>
              <a:buFont typeface="Playfair Display"/>
              <a:buChar char="●"/>
            </a:pPr>
            <a:r>
              <a:rPr lang="en" sz="1210">
                <a:solidFill>
                  <a:schemeClr val="dk1"/>
                </a:solidFill>
                <a:latin typeface="Playfair Display"/>
                <a:ea typeface="Playfair Display"/>
                <a:cs typeface="Playfair Display"/>
                <a:sym typeface="Playfair Display"/>
              </a:rPr>
              <a:t>Communication delays</a:t>
            </a:r>
            <a:endParaRPr sz="1210">
              <a:solidFill>
                <a:schemeClr val="dk1"/>
              </a:solidFill>
              <a:latin typeface="Playfair Display"/>
              <a:ea typeface="Playfair Display"/>
              <a:cs typeface="Playfair Display"/>
              <a:sym typeface="Playfair Display"/>
            </a:endParaRPr>
          </a:p>
        </p:txBody>
      </p:sp>
      <p:sp>
        <p:nvSpPr>
          <p:cNvPr id="435" name="Google Shape;435;p56"/>
          <p:cNvSpPr/>
          <p:nvPr/>
        </p:nvSpPr>
        <p:spPr>
          <a:xfrm>
            <a:off x="284700" y="3504113"/>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36" name="Google Shape;436;p56"/>
          <p:cNvSpPr txBox="1"/>
          <p:nvPr>
            <p:ph idx="5" type="subTitle"/>
          </p:nvPr>
        </p:nvSpPr>
        <p:spPr>
          <a:xfrm>
            <a:off x="307000" y="3490250"/>
            <a:ext cx="1737300" cy="44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Invoices &amp; Delivery</a:t>
            </a:r>
            <a:endParaRPr/>
          </a:p>
        </p:txBody>
      </p:sp>
      <p:sp>
        <p:nvSpPr>
          <p:cNvPr id="437" name="Google Shape;437;p56"/>
          <p:cNvSpPr txBox="1"/>
          <p:nvPr/>
        </p:nvSpPr>
        <p:spPr>
          <a:xfrm>
            <a:off x="307000" y="153547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layfair Display"/>
                <a:ea typeface="Playfair Display"/>
                <a:cs typeface="Playfair Display"/>
                <a:sym typeface="Playfair Display"/>
              </a:rPr>
              <a:t>(Brand/Client)-&gt; (phone/email)</a:t>
            </a:r>
            <a:endParaRPr sz="800">
              <a:solidFill>
                <a:schemeClr val="lt1"/>
              </a:solidFill>
              <a:latin typeface="Playfair Display"/>
              <a:ea typeface="Playfair Display"/>
              <a:cs typeface="Playfair Display"/>
              <a:sym typeface="Playfair Display"/>
            </a:endParaRPr>
          </a:p>
        </p:txBody>
      </p:sp>
      <p:sp>
        <p:nvSpPr>
          <p:cNvPr id="438" name="Google Shape;438;p56"/>
          <p:cNvSpPr txBox="1"/>
          <p:nvPr/>
        </p:nvSpPr>
        <p:spPr>
          <a:xfrm>
            <a:off x="2588150" y="1552688"/>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layfair Display"/>
                <a:ea typeface="Playfair Display"/>
                <a:cs typeface="Playfair Display"/>
                <a:sym typeface="Playfair Display"/>
              </a:rPr>
              <a:t>(Operations Team)-&gt;(phone/email)</a:t>
            </a:r>
            <a:endParaRPr sz="800">
              <a:solidFill>
                <a:schemeClr val="lt1"/>
              </a:solidFill>
              <a:latin typeface="Playfair Display"/>
              <a:ea typeface="Playfair Display"/>
              <a:cs typeface="Playfair Display"/>
              <a:sym typeface="Playfair Display"/>
            </a:endParaRPr>
          </a:p>
        </p:txBody>
      </p:sp>
      <p:sp>
        <p:nvSpPr>
          <p:cNvPr id="439" name="Google Shape;439;p56"/>
          <p:cNvSpPr txBox="1"/>
          <p:nvPr/>
        </p:nvSpPr>
        <p:spPr>
          <a:xfrm>
            <a:off x="4891600" y="155195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latin typeface="Playfair Display"/>
                <a:ea typeface="Playfair Display"/>
                <a:cs typeface="Playfair Display"/>
                <a:sym typeface="Playfair Display"/>
              </a:rPr>
              <a:t>(Co-Packers)-&gt;(phone/email)</a:t>
            </a:r>
            <a:endParaRPr sz="900">
              <a:solidFill>
                <a:schemeClr val="lt1"/>
              </a:solidFill>
              <a:latin typeface="Playfair Display"/>
              <a:ea typeface="Playfair Display"/>
              <a:cs typeface="Playfair Display"/>
              <a:sym typeface="Playfair Display"/>
            </a:endParaRPr>
          </a:p>
        </p:txBody>
      </p:sp>
      <p:sp>
        <p:nvSpPr>
          <p:cNvPr id="440" name="Google Shape;440;p56"/>
          <p:cNvSpPr txBox="1"/>
          <p:nvPr/>
        </p:nvSpPr>
        <p:spPr>
          <a:xfrm>
            <a:off x="7131750" y="155195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latin typeface="Playfair Display"/>
                <a:ea typeface="Playfair Display"/>
                <a:cs typeface="Playfair Display"/>
                <a:sym typeface="Playfair Display"/>
              </a:rPr>
              <a:t>(Brand/Client)-&gt;(phone email)</a:t>
            </a:r>
            <a:endParaRPr sz="900">
              <a:solidFill>
                <a:schemeClr val="lt1"/>
              </a:solidFill>
              <a:latin typeface="Playfair Display"/>
              <a:ea typeface="Playfair Display"/>
              <a:cs typeface="Playfair Display"/>
              <a:sym typeface="Playfair Display"/>
            </a:endParaRPr>
          </a:p>
        </p:txBody>
      </p:sp>
      <p:sp>
        <p:nvSpPr>
          <p:cNvPr id="441" name="Google Shape;441;p56"/>
          <p:cNvSpPr txBox="1"/>
          <p:nvPr/>
        </p:nvSpPr>
        <p:spPr>
          <a:xfrm>
            <a:off x="7278700" y="2520750"/>
            <a:ext cx="3091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layfair Display"/>
                <a:ea typeface="Playfair Display"/>
                <a:cs typeface="Playfair Display"/>
                <a:sym typeface="Playfair Display"/>
              </a:rPr>
              <a:t>(Suppliers)-&gt;(email/spreadsheet)</a:t>
            </a:r>
            <a:endParaRPr sz="800">
              <a:solidFill>
                <a:schemeClr val="lt1"/>
              </a:solidFill>
              <a:latin typeface="Playfair Display"/>
              <a:ea typeface="Playfair Display"/>
              <a:cs typeface="Playfair Display"/>
              <a:sym typeface="Playfair Display"/>
            </a:endParaRPr>
          </a:p>
        </p:txBody>
      </p:sp>
      <p:sp>
        <p:nvSpPr>
          <p:cNvPr id="442" name="Google Shape;442;p56"/>
          <p:cNvSpPr txBox="1"/>
          <p:nvPr/>
        </p:nvSpPr>
        <p:spPr>
          <a:xfrm>
            <a:off x="4930700" y="725775"/>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900">
              <a:solidFill>
                <a:schemeClr val="lt1"/>
              </a:solidFill>
              <a:latin typeface="Playfair Display"/>
              <a:ea typeface="Playfair Display"/>
              <a:cs typeface="Playfair Display"/>
              <a:sym typeface="Playfair Display"/>
            </a:endParaRPr>
          </a:p>
        </p:txBody>
      </p:sp>
      <p:sp>
        <p:nvSpPr>
          <p:cNvPr id="443" name="Google Shape;443;p56"/>
          <p:cNvSpPr txBox="1"/>
          <p:nvPr/>
        </p:nvSpPr>
        <p:spPr>
          <a:xfrm>
            <a:off x="2598400" y="245345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layfair Display"/>
                <a:ea typeface="Playfair Display"/>
                <a:cs typeface="Playfair Display"/>
                <a:sym typeface="Playfair Display"/>
              </a:rPr>
              <a:t>(Co-Packagers/ Production Teams)</a:t>
            </a:r>
            <a:endParaRPr sz="800">
              <a:solidFill>
                <a:schemeClr val="lt1"/>
              </a:solidFill>
              <a:latin typeface="Playfair Display"/>
              <a:ea typeface="Playfair Display"/>
              <a:cs typeface="Playfair Display"/>
              <a:sym typeface="Playfair Display"/>
            </a:endParaRPr>
          </a:p>
        </p:txBody>
      </p:sp>
      <p:sp>
        <p:nvSpPr>
          <p:cNvPr id="444" name="Google Shape;444;p56"/>
          <p:cNvSpPr txBox="1"/>
          <p:nvPr/>
        </p:nvSpPr>
        <p:spPr>
          <a:xfrm>
            <a:off x="4873138" y="254130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layfair Display"/>
                <a:ea typeface="Playfair Display"/>
                <a:cs typeface="Playfair Display"/>
                <a:sym typeface="Playfair Display"/>
              </a:rPr>
              <a:t>(Operations Team) -&gt; (spreadsheet)</a:t>
            </a:r>
            <a:endParaRPr sz="800">
              <a:solidFill>
                <a:schemeClr val="lt1"/>
              </a:solidFill>
              <a:latin typeface="Playfair Display"/>
              <a:ea typeface="Playfair Display"/>
              <a:cs typeface="Playfair Display"/>
              <a:sym typeface="Playfair Display"/>
            </a:endParaRPr>
          </a:p>
        </p:txBody>
      </p:sp>
      <p:sp>
        <p:nvSpPr>
          <p:cNvPr id="445" name="Google Shape;445;p56"/>
          <p:cNvSpPr txBox="1"/>
          <p:nvPr/>
        </p:nvSpPr>
        <p:spPr>
          <a:xfrm>
            <a:off x="276075" y="252075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layfair Display"/>
                <a:ea typeface="Playfair Display"/>
                <a:cs typeface="Playfair Display"/>
                <a:sym typeface="Playfair Display"/>
              </a:rPr>
              <a:t>(</a:t>
            </a:r>
            <a:r>
              <a:rPr lang="en" sz="800">
                <a:solidFill>
                  <a:schemeClr val="lt1"/>
                </a:solidFill>
                <a:latin typeface="Playfair Display"/>
                <a:ea typeface="Playfair Display"/>
                <a:cs typeface="Playfair Display"/>
                <a:sym typeface="Playfair Display"/>
              </a:rPr>
              <a:t>Carriers/Operations)-&gt;Spreadsheet</a:t>
            </a:r>
            <a:endParaRPr sz="800"/>
          </a:p>
        </p:txBody>
      </p:sp>
      <p:sp>
        <p:nvSpPr>
          <p:cNvPr id="446" name="Google Shape;446;p56"/>
          <p:cNvSpPr txBox="1"/>
          <p:nvPr/>
        </p:nvSpPr>
        <p:spPr>
          <a:xfrm>
            <a:off x="276075" y="359140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latin typeface="Playfair Display"/>
                <a:ea typeface="Playfair Display"/>
                <a:cs typeface="Playfair Display"/>
                <a:sym typeface="Playfair Display"/>
              </a:rPr>
              <a:t>(Finance Team) </a:t>
            </a:r>
            <a:endParaRPr sz="9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rPr lang="en" sz="900">
                <a:solidFill>
                  <a:schemeClr val="lt1"/>
                </a:solidFill>
                <a:latin typeface="Playfair Display"/>
                <a:ea typeface="Playfair Display"/>
                <a:cs typeface="Playfair Display"/>
                <a:sym typeface="Playfair Display"/>
              </a:rPr>
              <a:t>-&gt;(Spreadsheet/email)</a:t>
            </a:r>
            <a:endParaRPr/>
          </a:p>
        </p:txBody>
      </p:sp>
      <p:sp>
        <p:nvSpPr>
          <p:cNvPr id="447" name="Google Shape;447;p56"/>
          <p:cNvSpPr txBox="1"/>
          <p:nvPr/>
        </p:nvSpPr>
        <p:spPr>
          <a:xfrm>
            <a:off x="2933300" y="2568088"/>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layfair Display"/>
                <a:ea typeface="Playfair Display"/>
                <a:cs typeface="Playfair Display"/>
                <a:sym typeface="Playfair Display"/>
              </a:rPr>
              <a:t>(Files/spreadsheets)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The white facade of a modern building under a bright blue sky. " id="452" name="Google Shape;452;p57"/>
          <p:cNvPicPr preferRelativeResize="0"/>
          <p:nvPr>
            <p:ph idx="2" type="pic"/>
          </p:nvPr>
        </p:nvPicPr>
        <p:blipFill rotWithShape="1">
          <a:blip r:embed="rId3">
            <a:alphaModFix/>
          </a:blip>
          <a:srcRect b="0" l="0" r="34193" t="0"/>
          <a:stretch/>
        </p:blipFill>
        <p:spPr>
          <a:xfrm>
            <a:off x="0" y="0"/>
            <a:ext cx="4348800" cy="5143499"/>
          </a:xfrm>
          <a:prstGeom prst="rect">
            <a:avLst/>
          </a:prstGeom>
        </p:spPr>
      </p:pic>
      <p:sp>
        <p:nvSpPr>
          <p:cNvPr id="453" name="Google Shape;453;p57"/>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54" name="Google Shape;454;p57"/>
          <p:cNvSpPr txBox="1"/>
          <p:nvPr>
            <p:ph type="title"/>
          </p:nvPr>
        </p:nvSpPr>
        <p:spPr>
          <a:xfrm>
            <a:off x="4618950" y="457200"/>
            <a:ext cx="42516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Solution Statement</a:t>
            </a:r>
            <a:endParaRPr/>
          </a:p>
        </p:txBody>
      </p:sp>
      <p:sp>
        <p:nvSpPr>
          <p:cNvPr id="455" name="Google Shape;455;p57"/>
          <p:cNvSpPr txBox="1"/>
          <p:nvPr>
            <p:ph idx="4" type="body"/>
          </p:nvPr>
        </p:nvSpPr>
        <p:spPr>
          <a:xfrm>
            <a:off x="4583100" y="1284675"/>
            <a:ext cx="4251600" cy="274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t>Current beverage manufacturing operations rely heavily on manual coordination between suppliers, production facilities, logistics providers, and finance teams. These processes are often managed through spreadsheets, emails, and disconnected software applications, creating inefficiencies and increasing the risk of errors.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BevOS addresses this problem by providing a </a:t>
            </a:r>
            <a:r>
              <a:rPr lang="en" sz="1300"/>
              <a:t>unified</a:t>
            </a:r>
            <a:r>
              <a:rPr lang="en" sz="1300"/>
              <a:t> operational platform that centralizes workflow management, approval tracking, production scheduling, document management, and logistics coordination. The goal is to improve visibility, reduce manual effort, and create a scalable system that supports business growth.</a:t>
            </a:r>
            <a:endParaRPr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8"/>
          <p:cNvSpPr txBox="1"/>
          <p:nvPr>
            <p:ph type="title"/>
          </p:nvPr>
        </p:nvSpPr>
        <p:spPr>
          <a:xfrm>
            <a:off x="276075" y="612700"/>
            <a:ext cx="60726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Solution Process Flow</a:t>
            </a:r>
            <a:endParaRPr/>
          </a:p>
        </p:txBody>
      </p:sp>
      <p:pic>
        <p:nvPicPr>
          <p:cNvPr id="461" name="Google Shape;461;p58"/>
          <p:cNvPicPr preferRelativeResize="0"/>
          <p:nvPr/>
        </p:nvPicPr>
        <p:blipFill rotWithShape="1">
          <a:blip r:embed="rId3">
            <a:alphaModFix/>
          </a:blip>
          <a:srcRect b="33044" l="0" r="0" t="33047"/>
          <a:stretch/>
        </p:blipFill>
        <p:spPr>
          <a:xfrm>
            <a:off x="6877850" y="0"/>
            <a:ext cx="2266146" cy="1152051"/>
          </a:xfrm>
          <a:prstGeom prst="rect">
            <a:avLst/>
          </a:prstGeom>
          <a:noFill/>
          <a:ln>
            <a:noFill/>
          </a:ln>
        </p:spPr>
      </p:pic>
      <p:sp>
        <p:nvSpPr>
          <p:cNvPr id="462" name="Google Shape;462;p58"/>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63" name="Google Shape;463;p58"/>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pic>
        <p:nvPicPr>
          <p:cNvPr descr="An architectural detail of a modern building." id="464" name="Google Shape;464;p58"/>
          <p:cNvPicPr preferRelativeResize="0"/>
          <p:nvPr>
            <p:ph idx="2" type="pic"/>
          </p:nvPr>
        </p:nvPicPr>
        <p:blipFill rotWithShape="1">
          <a:blip r:embed="rId4">
            <a:alphaModFix/>
          </a:blip>
          <a:srcRect b="33062" l="0" r="0" t="33066"/>
          <a:stretch/>
        </p:blipFill>
        <p:spPr>
          <a:xfrm>
            <a:off x="6802800" y="0"/>
            <a:ext cx="2341200" cy="1189801"/>
          </a:xfrm>
          <a:prstGeom prst="rect">
            <a:avLst/>
          </a:prstGeom>
        </p:spPr>
      </p:pic>
      <p:cxnSp>
        <p:nvCxnSpPr>
          <p:cNvPr id="465" name="Google Shape;465;p58"/>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sp>
        <p:nvSpPr>
          <p:cNvPr id="466" name="Google Shape;466;p58"/>
          <p:cNvSpPr/>
          <p:nvPr/>
        </p:nvSpPr>
        <p:spPr>
          <a:xfrm>
            <a:off x="447525" y="1549650"/>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67" name="Google Shape;467;p58"/>
          <p:cNvSpPr txBox="1"/>
          <p:nvPr>
            <p:ph idx="3" type="subTitle"/>
          </p:nvPr>
        </p:nvSpPr>
        <p:spPr>
          <a:xfrm>
            <a:off x="490125" y="1619975"/>
            <a:ext cx="16020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Product Request</a:t>
            </a:r>
            <a:endParaRPr sz="1100"/>
          </a:p>
          <a:p>
            <a:pPr indent="0" lvl="0" marL="0" rtl="0" algn="l">
              <a:spcBef>
                <a:spcPts val="0"/>
              </a:spcBef>
              <a:spcAft>
                <a:spcPts val="0"/>
              </a:spcAft>
              <a:buNone/>
            </a:pPr>
            <a:r>
              <a:t/>
            </a:r>
            <a:endParaRPr sz="1100"/>
          </a:p>
        </p:txBody>
      </p:sp>
      <p:sp>
        <p:nvSpPr>
          <p:cNvPr id="468" name="Google Shape;468;p58"/>
          <p:cNvSpPr txBox="1"/>
          <p:nvPr/>
        </p:nvSpPr>
        <p:spPr>
          <a:xfrm>
            <a:off x="749925" y="1728600"/>
            <a:ext cx="1304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latin typeface="Playfair Display"/>
                <a:ea typeface="Playfair Display"/>
                <a:cs typeface="Playfair Display"/>
                <a:sym typeface="Playfair Display"/>
              </a:rPr>
              <a:t>(Brand/Client)</a:t>
            </a:r>
            <a:endParaRPr sz="900">
              <a:solidFill>
                <a:schemeClr val="lt1"/>
              </a:solidFill>
              <a:latin typeface="Playfair Display"/>
              <a:ea typeface="Playfair Display"/>
              <a:cs typeface="Playfair Display"/>
              <a:sym typeface="Playfair Display"/>
            </a:endParaRPr>
          </a:p>
        </p:txBody>
      </p:sp>
      <p:sp>
        <p:nvSpPr>
          <p:cNvPr id="469" name="Google Shape;469;p58"/>
          <p:cNvSpPr/>
          <p:nvPr/>
        </p:nvSpPr>
        <p:spPr>
          <a:xfrm>
            <a:off x="2781700" y="1562075"/>
            <a:ext cx="16671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70" name="Google Shape;470;p58"/>
          <p:cNvSpPr txBox="1"/>
          <p:nvPr>
            <p:ph idx="3" type="subTitle"/>
          </p:nvPr>
        </p:nvSpPr>
        <p:spPr>
          <a:xfrm>
            <a:off x="2824300" y="1632400"/>
            <a:ext cx="16020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Bev OS Generate Request</a:t>
            </a:r>
            <a:endParaRPr sz="1100"/>
          </a:p>
          <a:p>
            <a:pPr indent="0" lvl="0" marL="0" rtl="0" algn="l">
              <a:spcBef>
                <a:spcPts val="0"/>
              </a:spcBef>
              <a:spcAft>
                <a:spcPts val="0"/>
              </a:spcAft>
              <a:buNone/>
            </a:pPr>
            <a:r>
              <a:t/>
            </a:r>
            <a:endParaRPr sz="1100"/>
          </a:p>
        </p:txBody>
      </p:sp>
      <p:sp>
        <p:nvSpPr>
          <p:cNvPr id="471" name="Google Shape;471;p58"/>
          <p:cNvSpPr txBox="1"/>
          <p:nvPr/>
        </p:nvSpPr>
        <p:spPr>
          <a:xfrm>
            <a:off x="3242125" y="1728600"/>
            <a:ext cx="1304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latin typeface="Playfair Display"/>
                <a:ea typeface="Playfair Display"/>
                <a:cs typeface="Playfair Display"/>
                <a:sym typeface="Playfair Display"/>
              </a:rPr>
              <a:t>Distributor</a:t>
            </a:r>
            <a:endParaRPr sz="900">
              <a:solidFill>
                <a:schemeClr val="lt1"/>
              </a:solidFill>
              <a:latin typeface="Playfair Display"/>
              <a:ea typeface="Playfair Display"/>
              <a:cs typeface="Playfair Display"/>
              <a:sym typeface="Playfair Display"/>
            </a:endParaRPr>
          </a:p>
        </p:txBody>
      </p:sp>
      <p:sp>
        <p:nvSpPr>
          <p:cNvPr id="472" name="Google Shape;472;p58"/>
          <p:cNvSpPr/>
          <p:nvPr/>
        </p:nvSpPr>
        <p:spPr>
          <a:xfrm>
            <a:off x="2151975" y="1794375"/>
            <a:ext cx="599700" cy="101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473" name="Google Shape;473;p58"/>
          <p:cNvSpPr/>
          <p:nvPr/>
        </p:nvSpPr>
        <p:spPr>
          <a:xfrm>
            <a:off x="1722475" y="2448525"/>
            <a:ext cx="666300" cy="3231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74" name="Google Shape;474;p58"/>
          <p:cNvSpPr txBox="1"/>
          <p:nvPr>
            <p:ph idx="3" type="subTitle"/>
          </p:nvPr>
        </p:nvSpPr>
        <p:spPr>
          <a:xfrm>
            <a:off x="1765075" y="2518850"/>
            <a:ext cx="16020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Supplier</a:t>
            </a:r>
            <a:endParaRPr sz="1100"/>
          </a:p>
          <a:p>
            <a:pPr indent="0" lvl="0" marL="0" rtl="0" algn="l">
              <a:spcBef>
                <a:spcPts val="0"/>
              </a:spcBef>
              <a:spcAft>
                <a:spcPts val="0"/>
              </a:spcAft>
              <a:buNone/>
            </a:pPr>
            <a:r>
              <a:t/>
            </a:r>
            <a:endParaRPr sz="1100"/>
          </a:p>
        </p:txBody>
      </p:sp>
      <p:sp>
        <p:nvSpPr>
          <p:cNvPr id="475" name="Google Shape;475;p58"/>
          <p:cNvSpPr/>
          <p:nvPr/>
        </p:nvSpPr>
        <p:spPr>
          <a:xfrm>
            <a:off x="2490075" y="2448525"/>
            <a:ext cx="1506600" cy="3231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76" name="Google Shape;476;p58"/>
          <p:cNvSpPr txBox="1"/>
          <p:nvPr>
            <p:ph idx="3" type="subTitle"/>
          </p:nvPr>
        </p:nvSpPr>
        <p:spPr>
          <a:xfrm>
            <a:off x="2532675" y="2518850"/>
            <a:ext cx="1602000" cy="183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Production Scheduling</a:t>
            </a:r>
            <a:endParaRPr sz="1100"/>
          </a:p>
          <a:p>
            <a:pPr indent="0" lvl="0" marL="0" rtl="0" algn="l">
              <a:spcBef>
                <a:spcPts val="0"/>
              </a:spcBef>
              <a:spcAft>
                <a:spcPts val="0"/>
              </a:spcAft>
              <a:buNone/>
            </a:pPr>
            <a:r>
              <a:t/>
            </a:r>
            <a:endParaRPr sz="1100"/>
          </a:p>
        </p:txBody>
      </p:sp>
      <p:sp>
        <p:nvSpPr>
          <p:cNvPr id="477" name="Google Shape;477;p58"/>
          <p:cNvSpPr/>
          <p:nvPr/>
        </p:nvSpPr>
        <p:spPr>
          <a:xfrm>
            <a:off x="4097975" y="2448525"/>
            <a:ext cx="701100" cy="3231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78" name="Google Shape;478;p58"/>
          <p:cNvSpPr txBox="1"/>
          <p:nvPr>
            <p:ph idx="3" type="subTitle"/>
          </p:nvPr>
        </p:nvSpPr>
        <p:spPr>
          <a:xfrm>
            <a:off x="4140575" y="2518850"/>
            <a:ext cx="1602000" cy="183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Logistics</a:t>
            </a:r>
            <a:endParaRPr sz="1100"/>
          </a:p>
          <a:p>
            <a:pPr indent="0" lvl="0" marL="0" rtl="0" algn="l">
              <a:spcBef>
                <a:spcPts val="0"/>
              </a:spcBef>
              <a:spcAft>
                <a:spcPts val="0"/>
              </a:spcAft>
              <a:buNone/>
            </a:pPr>
            <a:r>
              <a:t/>
            </a:r>
            <a:endParaRPr sz="1100"/>
          </a:p>
        </p:txBody>
      </p:sp>
      <p:sp>
        <p:nvSpPr>
          <p:cNvPr id="479" name="Google Shape;479;p58"/>
          <p:cNvSpPr/>
          <p:nvPr/>
        </p:nvSpPr>
        <p:spPr>
          <a:xfrm>
            <a:off x="4900375" y="2448525"/>
            <a:ext cx="666300" cy="302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80" name="Google Shape;480;p58"/>
          <p:cNvSpPr txBox="1"/>
          <p:nvPr>
            <p:ph idx="3" type="subTitle"/>
          </p:nvPr>
        </p:nvSpPr>
        <p:spPr>
          <a:xfrm>
            <a:off x="4942975" y="2518850"/>
            <a:ext cx="16020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Finance</a:t>
            </a:r>
            <a:endParaRPr sz="1100"/>
          </a:p>
        </p:txBody>
      </p:sp>
      <p:sp>
        <p:nvSpPr>
          <p:cNvPr id="481" name="Google Shape;481;p58"/>
          <p:cNvSpPr/>
          <p:nvPr/>
        </p:nvSpPr>
        <p:spPr>
          <a:xfrm rot="5400000">
            <a:off x="3061275" y="2206600"/>
            <a:ext cx="364200" cy="101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482" name="Google Shape;482;p58"/>
          <p:cNvSpPr/>
          <p:nvPr/>
        </p:nvSpPr>
        <p:spPr>
          <a:xfrm rot="2862245">
            <a:off x="4094603" y="2206613"/>
            <a:ext cx="364212" cy="101083"/>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483" name="Google Shape;483;p58"/>
          <p:cNvSpPr/>
          <p:nvPr/>
        </p:nvSpPr>
        <p:spPr>
          <a:xfrm rot="2308732">
            <a:off x="4448546" y="2196777"/>
            <a:ext cx="519265" cy="101201"/>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484" name="Google Shape;484;p58"/>
          <p:cNvSpPr/>
          <p:nvPr/>
        </p:nvSpPr>
        <p:spPr>
          <a:xfrm rot="8425853">
            <a:off x="2248629" y="2184145"/>
            <a:ext cx="549129" cy="101214"/>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485" name="Google Shape;485;p58"/>
          <p:cNvSpPr/>
          <p:nvPr/>
        </p:nvSpPr>
        <p:spPr>
          <a:xfrm>
            <a:off x="2743050" y="3025275"/>
            <a:ext cx="17277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86" name="Google Shape;486;p58"/>
          <p:cNvSpPr txBox="1"/>
          <p:nvPr>
            <p:ph idx="3" type="subTitle"/>
          </p:nvPr>
        </p:nvSpPr>
        <p:spPr>
          <a:xfrm>
            <a:off x="2787205" y="3095600"/>
            <a:ext cx="16605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          Process Approval</a:t>
            </a:r>
            <a:endParaRPr sz="1100"/>
          </a:p>
          <a:p>
            <a:pPr indent="0" lvl="0" marL="0" rtl="0" algn="l">
              <a:spcBef>
                <a:spcPts val="0"/>
              </a:spcBef>
              <a:spcAft>
                <a:spcPts val="0"/>
              </a:spcAft>
              <a:buNone/>
            </a:pPr>
            <a:r>
              <a:t/>
            </a:r>
            <a:endParaRPr sz="1100"/>
          </a:p>
        </p:txBody>
      </p:sp>
      <p:sp>
        <p:nvSpPr>
          <p:cNvPr id="487" name="Google Shape;487;p58"/>
          <p:cNvSpPr txBox="1"/>
          <p:nvPr/>
        </p:nvSpPr>
        <p:spPr>
          <a:xfrm>
            <a:off x="3220281" y="3191800"/>
            <a:ext cx="1351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latin typeface="Playfair Display"/>
                <a:ea typeface="Playfair Display"/>
                <a:cs typeface="Playfair Display"/>
                <a:sym typeface="Playfair Display"/>
              </a:rPr>
              <a:t>Distributor</a:t>
            </a:r>
            <a:endParaRPr sz="900">
              <a:solidFill>
                <a:schemeClr val="lt1"/>
              </a:solidFill>
              <a:latin typeface="Playfair Display"/>
              <a:ea typeface="Playfair Display"/>
              <a:cs typeface="Playfair Display"/>
              <a:sym typeface="Playfair Display"/>
            </a:endParaRPr>
          </a:p>
        </p:txBody>
      </p:sp>
      <p:sp>
        <p:nvSpPr>
          <p:cNvPr id="488" name="Google Shape;488;p58"/>
          <p:cNvSpPr/>
          <p:nvPr/>
        </p:nvSpPr>
        <p:spPr>
          <a:xfrm rot="3003319">
            <a:off x="3222934" y="2847973"/>
            <a:ext cx="221479" cy="100945"/>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489" name="Google Shape;489;p58"/>
          <p:cNvSpPr/>
          <p:nvPr/>
        </p:nvSpPr>
        <p:spPr>
          <a:xfrm rot="7743598">
            <a:off x="4264995" y="2847899"/>
            <a:ext cx="221382" cy="101108"/>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490" name="Google Shape;490;p58"/>
          <p:cNvSpPr/>
          <p:nvPr/>
        </p:nvSpPr>
        <p:spPr>
          <a:xfrm rot="8100000">
            <a:off x="4402666" y="2981039"/>
            <a:ext cx="652518" cy="100975"/>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491" name="Google Shape;491;p58"/>
          <p:cNvSpPr/>
          <p:nvPr/>
        </p:nvSpPr>
        <p:spPr>
          <a:xfrm rot="2947338">
            <a:off x="2114266" y="3000970"/>
            <a:ext cx="661016" cy="100809"/>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492" name="Google Shape;492;p58"/>
          <p:cNvSpPr/>
          <p:nvPr/>
        </p:nvSpPr>
        <p:spPr>
          <a:xfrm>
            <a:off x="2743650" y="4402250"/>
            <a:ext cx="1760700" cy="302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93" name="Google Shape;493;p58"/>
          <p:cNvSpPr txBox="1"/>
          <p:nvPr>
            <p:ph idx="3" type="subTitle"/>
          </p:nvPr>
        </p:nvSpPr>
        <p:spPr>
          <a:xfrm>
            <a:off x="2786252" y="4472575"/>
            <a:ext cx="18819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Product Delivered to Client</a:t>
            </a:r>
            <a:endParaRPr sz="1100"/>
          </a:p>
          <a:p>
            <a:pPr indent="0" lvl="0" marL="0" rtl="0" algn="l">
              <a:spcBef>
                <a:spcPts val="0"/>
              </a:spcBef>
              <a:spcAft>
                <a:spcPts val="0"/>
              </a:spcAft>
              <a:buNone/>
            </a:pPr>
            <a:r>
              <a:t/>
            </a:r>
            <a:endParaRPr sz="1100"/>
          </a:p>
        </p:txBody>
      </p:sp>
      <p:sp>
        <p:nvSpPr>
          <p:cNvPr id="494" name="Google Shape;494;p58"/>
          <p:cNvSpPr/>
          <p:nvPr/>
        </p:nvSpPr>
        <p:spPr>
          <a:xfrm>
            <a:off x="1054575" y="3541938"/>
            <a:ext cx="10308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95" name="Google Shape;495;p58"/>
          <p:cNvSpPr txBox="1"/>
          <p:nvPr>
            <p:ph idx="3" type="subTitle"/>
          </p:nvPr>
        </p:nvSpPr>
        <p:spPr>
          <a:xfrm>
            <a:off x="1097175" y="3612263"/>
            <a:ext cx="16020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Issue Tracking </a:t>
            </a:r>
            <a:endParaRPr sz="1100"/>
          </a:p>
          <a:p>
            <a:pPr indent="0" lvl="0" marL="0" rtl="0" algn="l">
              <a:spcBef>
                <a:spcPts val="0"/>
              </a:spcBef>
              <a:spcAft>
                <a:spcPts val="0"/>
              </a:spcAft>
              <a:buNone/>
            </a:pPr>
            <a:r>
              <a:rPr lang="en" sz="1100"/>
              <a:t>&amp; Resolution</a:t>
            </a:r>
            <a:endParaRPr sz="1100"/>
          </a:p>
          <a:p>
            <a:pPr indent="0" lvl="0" marL="0" rtl="0" algn="l">
              <a:spcBef>
                <a:spcPts val="0"/>
              </a:spcBef>
              <a:spcAft>
                <a:spcPts val="0"/>
              </a:spcAft>
              <a:buNone/>
            </a:pPr>
            <a:r>
              <a:t/>
            </a:r>
            <a:endParaRPr sz="1100"/>
          </a:p>
        </p:txBody>
      </p:sp>
      <p:sp>
        <p:nvSpPr>
          <p:cNvPr id="496" name="Google Shape;496;p58"/>
          <p:cNvSpPr/>
          <p:nvPr/>
        </p:nvSpPr>
        <p:spPr>
          <a:xfrm rot="-2224043">
            <a:off x="2047573" y="3502303"/>
            <a:ext cx="696304" cy="107941"/>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497" name="Google Shape;497;p58"/>
          <p:cNvSpPr/>
          <p:nvPr/>
        </p:nvSpPr>
        <p:spPr>
          <a:xfrm>
            <a:off x="4841200" y="3281075"/>
            <a:ext cx="1581600" cy="503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98" name="Google Shape;498;p58"/>
          <p:cNvSpPr txBox="1"/>
          <p:nvPr>
            <p:ph idx="3" type="subTitle"/>
          </p:nvPr>
        </p:nvSpPr>
        <p:spPr>
          <a:xfrm>
            <a:off x="4883800" y="3351388"/>
            <a:ext cx="16020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Central Communication</a:t>
            </a:r>
            <a:endParaRPr sz="1100"/>
          </a:p>
          <a:p>
            <a:pPr indent="0" lvl="0" marL="0" rtl="0" algn="l">
              <a:spcBef>
                <a:spcPts val="0"/>
              </a:spcBef>
              <a:spcAft>
                <a:spcPts val="0"/>
              </a:spcAft>
              <a:buNone/>
            </a:pPr>
            <a:r>
              <a:rPr lang="en" sz="1100"/>
              <a:t>   	Platform</a:t>
            </a:r>
            <a:endParaRPr sz="1100"/>
          </a:p>
          <a:p>
            <a:pPr indent="0" lvl="0" marL="0" rtl="0" algn="l">
              <a:spcBef>
                <a:spcPts val="0"/>
              </a:spcBef>
              <a:spcAft>
                <a:spcPts val="0"/>
              </a:spcAft>
              <a:buNone/>
            </a:pPr>
            <a:r>
              <a:t/>
            </a:r>
            <a:endParaRPr sz="1100"/>
          </a:p>
        </p:txBody>
      </p:sp>
      <p:sp>
        <p:nvSpPr>
          <p:cNvPr id="499" name="Google Shape;499;p58"/>
          <p:cNvSpPr/>
          <p:nvPr/>
        </p:nvSpPr>
        <p:spPr>
          <a:xfrm rot="-9289105">
            <a:off x="4481097" y="3380871"/>
            <a:ext cx="327858" cy="101058"/>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500" name="Google Shape;500;p58"/>
          <p:cNvSpPr/>
          <p:nvPr/>
        </p:nvSpPr>
        <p:spPr>
          <a:xfrm>
            <a:off x="2751675" y="3783650"/>
            <a:ext cx="1708200" cy="3027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501" name="Google Shape;501;p58"/>
          <p:cNvSpPr txBox="1"/>
          <p:nvPr>
            <p:ph idx="3" type="subTitle"/>
          </p:nvPr>
        </p:nvSpPr>
        <p:spPr>
          <a:xfrm>
            <a:off x="2793008" y="3853975"/>
            <a:ext cx="18258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   Production &amp; Shipping</a:t>
            </a:r>
            <a:endParaRPr sz="1100"/>
          </a:p>
          <a:p>
            <a:pPr indent="0" lvl="0" marL="0" rtl="0" algn="l">
              <a:spcBef>
                <a:spcPts val="0"/>
              </a:spcBef>
              <a:spcAft>
                <a:spcPts val="0"/>
              </a:spcAft>
              <a:buNone/>
            </a:pPr>
            <a:r>
              <a:t/>
            </a:r>
            <a:endParaRPr sz="1100"/>
          </a:p>
        </p:txBody>
      </p:sp>
      <p:sp>
        <p:nvSpPr>
          <p:cNvPr id="502" name="Google Shape;502;p58"/>
          <p:cNvSpPr/>
          <p:nvPr/>
        </p:nvSpPr>
        <p:spPr>
          <a:xfrm rot="5400000">
            <a:off x="3495075" y="3605763"/>
            <a:ext cx="221400" cy="101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503" name="Google Shape;503;p58"/>
          <p:cNvSpPr/>
          <p:nvPr/>
        </p:nvSpPr>
        <p:spPr>
          <a:xfrm rot="5400000">
            <a:off x="3476350" y="4193754"/>
            <a:ext cx="297900" cy="101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504" name="Google Shape;504;p58"/>
          <p:cNvSpPr txBox="1"/>
          <p:nvPr/>
        </p:nvSpPr>
        <p:spPr>
          <a:xfrm>
            <a:off x="2303263" y="1490213"/>
            <a:ext cx="28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lt1"/>
                </a:solidFill>
                <a:latin typeface="Playfair Display"/>
                <a:ea typeface="Playfair Display"/>
                <a:cs typeface="Playfair Display"/>
                <a:sym typeface="Playfair Display"/>
              </a:rPr>
              <a:t>a.</a:t>
            </a:r>
            <a:endParaRPr b="1" sz="900">
              <a:solidFill>
                <a:schemeClr val="lt1"/>
              </a:solidFill>
              <a:latin typeface="Playfair Display"/>
              <a:ea typeface="Playfair Display"/>
              <a:cs typeface="Playfair Display"/>
              <a:sym typeface="Playfair Display"/>
            </a:endParaRPr>
          </a:p>
        </p:txBody>
      </p:sp>
      <p:sp>
        <p:nvSpPr>
          <p:cNvPr id="505" name="Google Shape;505;p58"/>
          <p:cNvSpPr txBox="1"/>
          <p:nvPr/>
        </p:nvSpPr>
        <p:spPr>
          <a:xfrm>
            <a:off x="3537363" y="2095600"/>
            <a:ext cx="336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lt1"/>
                </a:solidFill>
                <a:latin typeface="Playfair Display"/>
                <a:ea typeface="Playfair Display"/>
                <a:cs typeface="Playfair Display"/>
                <a:sym typeface="Playfair Display"/>
              </a:rPr>
              <a:t>b.</a:t>
            </a:r>
            <a:endParaRPr b="1" sz="900">
              <a:solidFill>
                <a:schemeClr val="lt1"/>
              </a:solidFill>
              <a:latin typeface="Playfair Display"/>
              <a:ea typeface="Playfair Display"/>
              <a:cs typeface="Playfair Display"/>
              <a:sym typeface="Playfair Display"/>
            </a:endParaRPr>
          </a:p>
        </p:txBody>
      </p:sp>
      <p:sp>
        <p:nvSpPr>
          <p:cNvPr id="506" name="Google Shape;506;p58"/>
          <p:cNvSpPr txBox="1"/>
          <p:nvPr/>
        </p:nvSpPr>
        <p:spPr>
          <a:xfrm>
            <a:off x="2273625" y="3831550"/>
            <a:ext cx="28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lt1"/>
                </a:solidFill>
                <a:latin typeface="Playfair Display"/>
                <a:ea typeface="Playfair Display"/>
                <a:cs typeface="Playfair Display"/>
                <a:sym typeface="Playfair Display"/>
              </a:rPr>
              <a:t>d.</a:t>
            </a:r>
            <a:endParaRPr b="1" sz="900">
              <a:solidFill>
                <a:schemeClr val="lt1"/>
              </a:solidFill>
              <a:latin typeface="Playfair Display"/>
              <a:ea typeface="Playfair Display"/>
              <a:cs typeface="Playfair Display"/>
              <a:sym typeface="Playfair Display"/>
            </a:endParaRPr>
          </a:p>
        </p:txBody>
      </p:sp>
      <p:sp>
        <p:nvSpPr>
          <p:cNvPr id="507" name="Google Shape;507;p58"/>
          <p:cNvSpPr txBox="1"/>
          <p:nvPr/>
        </p:nvSpPr>
        <p:spPr>
          <a:xfrm>
            <a:off x="5088625" y="2829913"/>
            <a:ext cx="28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lt1"/>
                </a:solidFill>
                <a:latin typeface="Playfair Display"/>
                <a:ea typeface="Playfair Display"/>
                <a:cs typeface="Playfair Display"/>
                <a:sym typeface="Playfair Display"/>
              </a:rPr>
              <a:t>c.</a:t>
            </a:r>
            <a:endParaRPr b="1" sz="900">
              <a:solidFill>
                <a:schemeClr val="lt1"/>
              </a:solidFill>
              <a:latin typeface="Playfair Display"/>
              <a:ea typeface="Playfair Display"/>
              <a:cs typeface="Playfair Display"/>
              <a:sym typeface="Playfair Display"/>
            </a:endParaRPr>
          </a:p>
        </p:txBody>
      </p:sp>
      <p:sp>
        <p:nvSpPr>
          <p:cNvPr id="508" name="Google Shape;508;p58"/>
          <p:cNvSpPr txBox="1"/>
          <p:nvPr/>
        </p:nvSpPr>
        <p:spPr>
          <a:xfrm>
            <a:off x="4648125" y="3848175"/>
            <a:ext cx="28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lt1"/>
                </a:solidFill>
                <a:latin typeface="Playfair Display"/>
                <a:ea typeface="Playfair Display"/>
                <a:cs typeface="Playfair Display"/>
                <a:sym typeface="Playfair Display"/>
              </a:rPr>
              <a:t>e</a:t>
            </a:r>
            <a:r>
              <a:rPr b="1" lang="en" sz="900">
                <a:solidFill>
                  <a:schemeClr val="lt1"/>
                </a:solidFill>
                <a:latin typeface="Playfair Display"/>
                <a:ea typeface="Playfair Display"/>
                <a:cs typeface="Playfair Display"/>
                <a:sym typeface="Playfair Display"/>
              </a:rPr>
              <a:t>.</a:t>
            </a:r>
            <a:endParaRPr b="1" sz="900">
              <a:solidFill>
                <a:schemeClr val="lt1"/>
              </a:solidFill>
              <a:latin typeface="Playfair Display"/>
              <a:ea typeface="Playfair Display"/>
              <a:cs typeface="Playfair Display"/>
              <a:sym typeface="Playfair Display"/>
            </a:endParaRPr>
          </a:p>
        </p:txBody>
      </p:sp>
      <p:sp>
        <p:nvSpPr>
          <p:cNvPr id="509" name="Google Shape;509;p58"/>
          <p:cNvSpPr txBox="1"/>
          <p:nvPr/>
        </p:nvSpPr>
        <p:spPr>
          <a:xfrm>
            <a:off x="6422800" y="1388718"/>
            <a:ext cx="2434800" cy="37866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lt1"/>
              </a:buClr>
              <a:buSzPts val="900"/>
              <a:buFont typeface="Playfair Display"/>
              <a:buAutoNum type="alphaLcPeriod"/>
            </a:pPr>
            <a:r>
              <a:rPr lang="en" sz="900">
                <a:solidFill>
                  <a:schemeClr val="lt1"/>
                </a:solidFill>
                <a:latin typeface="Playfair Display"/>
                <a:ea typeface="Playfair Display"/>
                <a:cs typeface="Playfair Display"/>
                <a:sym typeface="Playfair Display"/>
              </a:rPr>
              <a:t>Automated product request/artwork approval with escalation to partial automation when needed.</a:t>
            </a:r>
            <a:br>
              <a:rPr b="1" lang="en" sz="900">
                <a:solidFill>
                  <a:schemeClr val="lt1"/>
                </a:solidFill>
                <a:latin typeface="Playfair Display"/>
                <a:ea typeface="Playfair Display"/>
                <a:cs typeface="Playfair Display"/>
                <a:sym typeface="Playfair Display"/>
              </a:rPr>
            </a:br>
            <a:endParaRPr b="1" sz="900">
              <a:solidFill>
                <a:schemeClr val="lt1"/>
              </a:solidFill>
              <a:latin typeface="Playfair Display"/>
              <a:ea typeface="Playfair Display"/>
              <a:cs typeface="Playfair Display"/>
              <a:sym typeface="Playfair Display"/>
            </a:endParaRPr>
          </a:p>
          <a:p>
            <a:pPr indent="-285750" lvl="0" marL="457200" rtl="0" algn="l">
              <a:spcBef>
                <a:spcPts val="0"/>
              </a:spcBef>
              <a:spcAft>
                <a:spcPts val="0"/>
              </a:spcAft>
              <a:buClr>
                <a:schemeClr val="lt1"/>
              </a:buClr>
              <a:buSzPts val="900"/>
              <a:buFont typeface="Playfair Display"/>
              <a:buAutoNum type="alphaLcPeriod"/>
            </a:pPr>
            <a:r>
              <a:rPr lang="en" sz="900">
                <a:solidFill>
                  <a:schemeClr val="lt1"/>
                </a:solidFill>
                <a:latin typeface="Playfair Display"/>
                <a:ea typeface="Playfair Display"/>
                <a:cs typeface="Playfair Display"/>
                <a:sym typeface="Playfair Display"/>
              </a:rPr>
              <a:t>Automated quote calculation with partial automation of negotiation where needed. </a:t>
            </a:r>
            <a:endParaRPr sz="9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t/>
            </a:r>
            <a:endParaRPr b="1" sz="900">
              <a:solidFill>
                <a:schemeClr val="lt1"/>
              </a:solidFill>
              <a:latin typeface="Playfair Display"/>
              <a:ea typeface="Playfair Display"/>
              <a:cs typeface="Playfair Display"/>
              <a:sym typeface="Playfair Display"/>
            </a:endParaRPr>
          </a:p>
          <a:p>
            <a:pPr indent="-285750" lvl="0" marL="457200" rtl="0" algn="l">
              <a:spcBef>
                <a:spcPts val="0"/>
              </a:spcBef>
              <a:spcAft>
                <a:spcPts val="0"/>
              </a:spcAft>
              <a:buClr>
                <a:schemeClr val="lt1"/>
              </a:buClr>
              <a:buSzPts val="900"/>
              <a:buFont typeface="Playfair Display"/>
              <a:buAutoNum type="alphaLcPeriod"/>
            </a:pPr>
            <a:r>
              <a:rPr lang="en" sz="900">
                <a:solidFill>
                  <a:schemeClr val="lt1"/>
                </a:solidFill>
                <a:latin typeface="Playfair Display"/>
                <a:ea typeface="Playfair Display"/>
                <a:cs typeface="Playfair Display"/>
                <a:sym typeface="Playfair Display"/>
              </a:rPr>
              <a:t>Automated placement and follow-up on purchase orders, supplier responses, etc. on behalf of internal clients.</a:t>
            </a:r>
            <a:endParaRPr sz="9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t/>
            </a:r>
            <a:endParaRPr b="1" sz="900">
              <a:solidFill>
                <a:schemeClr val="lt1"/>
              </a:solidFill>
              <a:latin typeface="Playfair Display"/>
              <a:ea typeface="Playfair Display"/>
              <a:cs typeface="Playfair Display"/>
              <a:sym typeface="Playfair Display"/>
            </a:endParaRPr>
          </a:p>
          <a:p>
            <a:pPr indent="-285750" lvl="0" marL="457200" rtl="0" algn="l">
              <a:spcBef>
                <a:spcPts val="0"/>
              </a:spcBef>
              <a:spcAft>
                <a:spcPts val="0"/>
              </a:spcAft>
              <a:buClr>
                <a:schemeClr val="lt1"/>
              </a:buClr>
              <a:buSzPts val="900"/>
              <a:buFont typeface="Playfair Display"/>
              <a:buAutoNum type="alphaLcPeriod"/>
            </a:pPr>
            <a:r>
              <a:rPr lang="en" sz="900">
                <a:solidFill>
                  <a:schemeClr val="lt1"/>
                </a:solidFill>
                <a:latin typeface="Playfair Display"/>
                <a:ea typeface="Playfair Display"/>
                <a:cs typeface="Playfair Display"/>
                <a:sym typeface="Playfair Display"/>
              </a:rPr>
              <a:t>Partial </a:t>
            </a:r>
            <a:r>
              <a:rPr lang="en" sz="900">
                <a:solidFill>
                  <a:schemeClr val="lt1"/>
                </a:solidFill>
                <a:latin typeface="Playfair Display"/>
                <a:ea typeface="Playfair Display"/>
                <a:cs typeface="Playfair Display"/>
                <a:sym typeface="Playfair Display"/>
              </a:rPr>
              <a:t>automation of internal user feedback into issue tracking to identify and consider emerging shortcomings. </a:t>
            </a:r>
            <a:endParaRPr sz="9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t/>
            </a:r>
            <a:endParaRPr b="1" sz="900">
              <a:solidFill>
                <a:schemeClr val="lt1"/>
              </a:solidFill>
              <a:latin typeface="Playfair Display"/>
              <a:ea typeface="Playfair Display"/>
              <a:cs typeface="Playfair Display"/>
              <a:sym typeface="Playfair Display"/>
            </a:endParaRPr>
          </a:p>
          <a:p>
            <a:pPr indent="-285750" lvl="0" marL="457200" rtl="0" algn="l">
              <a:spcBef>
                <a:spcPts val="0"/>
              </a:spcBef>
              <a:spcAft>
                <a:spcPts val="0"/>
              </a:spcAft>
              <a:buClr>
                <a:schemeClr val="lt1"/>
              </a:buClr>
              <a:buSzPts val="900"/>
              <a:buFont typeface="Playfair Display"/>
              <a:buAutoNum type="alphaLcPeriod"/>
            </a:pPr>
            <a:r>
              <a:rPr lang="en" sz="900">
                <a:solidFill>
                  <a:schemeClr val="lt1"/>
                </a:solidFill>
                <a:latin typeface="Playfair Display"/>
                <a:ea typeface="Playfair Display"/>
                <a:cs typeface="Playfair Display"/>
                <a:sym typeface="Playfair Display"/>
              </a:rPr>
              <a:t>Repetition and tedium eliminated last step of solid plan to on store shelves fast, painless, for all involved now through minimizing </a:t>
            </a:r>
            <a:r>
              <a:rPr lang="en" sz="900">
                <a:solidFill>
                  <a:schemeClr val="lt1"/>
                </a:solidFill>
                <a:latin typeface="Playfair Display"/>
                <a:ea typeface="Playfair Display"/>
                <a:cs typeface="Playfair Display"/>
                <a:sym typeface="Playfair Display"/>
              </a:rPr>
              <a:t>communication delay, opacity, needs for manual approval, data fragmentation</a:t>
            </a:r>
            <a:endParaRPr sz="900">
              <a:solidFill>
                <a:schemeClr val="lt1"/>
              </a:solidFill>
              <a:latin typeface="Playfair Display"/>
              <a:ea typeface="Playfair Display"/>
              <a:cs typeface="Playfair Display"/>
              <a:sym typeface="Playfair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9"/>
          <p:cNvSpPr txBox="1"/>
          <p:nvPr>
            <p:ph idx="5" type="body"/>
          </p:nvPr>
        </p:nvSpPr>
        <p:spPr>
          <a:xfrm>
            <a:off x="611101" y="1388599"/>
            <a:ext cx="8015700" cy="2395800"/>
          </a:xfrm>
          <a:prstGeom prst="rect">
            <a:avLst/>
          </a:prstGeom>
        </p:spPr>
        <p:txBody>
          <a:bodyPr anchorCtr="0" anchor="t" bIns="156375" lIns="156375" spcFirstLastPara="1" rIns="156375" wrap="square" tIns="156375">
            <a:spAutoFit/>
          </a:bodyPr>
          <a:lstStyle/>
          <a:p>
            <a:pPr indent="-337208" lvl="0" marL="457200" rtl="0" algn="l">
              <a:lnSpc>
                <a:spcPct val="115000"/>
              </a:lnSpc>
              <a:spcBef>
                <a:spcPts val="0"/>
              </a:spcBef>
              <a:spcAft>
                <a:spcPts val="0"/>
              </a:spcAft>
              <a:buSzPts val="1710"/>
              <a:buChar char="●"/>
            </a:pPr>
            <a:r>
              <a:rPr lang="en" sz="1710"/>
              <a:t>Centralize operational workflows</a:t>
            </a:r>
            <a:endParaRPr sz="1710"/>
          </a:p>
          <a:p>
            <a:pPr indent="-337208" lvl="0" marL="457200" rtl="0" algn="l">
              <a:spcBef>
                <a:spcPts val="0"/>
              </a:spcBef>
              <a:spcAft>
                <a:spcPts val="0"/>
              </a:spcAft>
              <a:buSzPts val="1710"/>
              <a:buChar char="●"/>
            </a:pPr>
            <a:r>
              <a:rPr lang="en" sz="1710"/>
              <a:t>Improve communication between stakeholders</a:t>
            </a:r>
            <a:endParaRPr sz="1710"/>
          </a:p>
          <a:p>
            <a:pPr indent="-337208" lvl="0" marL="457200" rtl="0" algn="l">
              <a:lnSpc>
                <a:spcPct val="115000"/>
              </a:lnSpc>
              <a:spcBef>
                <a:spcPts val="0"/>
              </a:spcBef>
              <a:spcAft>
                <a:spcPts val="0"/>
              </a:spcAft>
              <a:buSzPts val="1710"/>
              <a:buChar char="●"/>
            </a:pPr>
            <a:r>
              <a:rPr lang="en" sz="1710"/>
              <a:t>Track quotes, approvals, and purchase orders</a:t>
            </a:r>
            <a:endParaRPr sz="1710"/>
          </a:p>
          <a:p>
            <a:pPr indent="-337208" lvl="0" marL="457200" rtl="0" algn="l">
              <a:lnSpc>
                <a:spcPct val="115000"/>
              </a:lnSpc>
              <a:spcBef>
                <a:spcPts val="0"/>
              </a:spcBef>
              <a:spcAft>
                <a:spcPts val="0"/>
              </a:spcAft>
              <a:buSzPts val="1710"/>
              <a:buChar char="●"/>
            </a:pPr>
            <a:r>
              <a:rPr lang="en" sz="1710"/>
              <a:t>Manage production scheduling and tracking</a:t>
            </a:r>
            <a:endParaRPr sz="1710"/>
          </a:p>
          <a:p>
            <a:pPr indent="-337208" lvl="0" marL="457200" rtl="0" algn="l">
              <a:lnSpc>
                <a:spcPct val="115000"/>
              </a:lnSpc>
              <a:spcBef>
                <a:spcPts val="0"/>
              </a:spcBef>
              <a:spcAft>
                <a:spcPts val="0"/>
              </a:spcAft>
              <a:buSzPts val="1710"/>
              <a:buChar char="●"/>
            </a:pPr>
            <a:r>
              <a:rPr lang="en" sz="1710"/>
              <a:t>Coordinate logistics activities</a:t>
            </a:r>
            <a:endParaRPr sz="1710"/>
          </a:p>
          <a:p>
            <a:pPr indent="-337208" lvl="0" marL="457200" rtl="0" algn="l">
              <a:lnSpc>
                <a:spcPct val="115000"/>
              </a:lnSpc>
              <a:spcBef>
                <a:spcPts val="0"/>
              </a:spcBef>
              <a:spcAft>
                <a:spcPts val="0"/>
              </a:spcAft>
              <a:buSzPts val="1710"/>
              <a:buChar char="●"/>
            </a:pPr>
            <a:r>
              <a:rPr lang="en" sz="1710"/>
              <a:t>Store and organize operational documents</a:t>
            </a:r>
            <a:endParaRPr sz="1710"/>
          </a:p>
          <a:p>
            <a:pPr indent="-337208" lvl="0" marL="457200" rtl="0" algn="l">
              <a:lnSpc>
                <a:spcPct val="115000"/>
              </a:lnSpc>
              <a:spcBef>
                <a:spcPts val="0"/>
              </a:spcBef>
              <a:spcAft>
                <a:spcPts val="0"/>
              </a:spcAft>
              <a:buSzPts val="1710"/>
              <a:buChar char="●"/>
            </a:pPr>
            <a:r>
              <a:rPr lang="en" sz="1710"/>
              <a:t>Provide visibility through dashboards and reporting</a:t>
            </a:r>
            <a:endParaRPr sz="1710"/>
          </a:p>
        </p:txBody>
      </p:sp>
      <p:sp>
        <p:nvSpPr>
          <p:cNvPr id="515" name="Google Shape;515;p59"/>
          <p:cNvSpPr txBox="1"/>
          <p:nvPr>
            <p:ph type="title"/>
          </p:nvPr>
        </p:nvSpPr>
        <p:spPr>
          <a:xfrm>
            <a:off x="276075" y="612700"/>
            <a:ext cx="60726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What BevOS Will Do</a:t>
            </a:r>
            <a:endParaRPr/>
          </a:p>
        </p:txBody>
      </p:sp>
      <p:pic>
        <p:nvPicPr>
          <p:cNvPr id="516" name="Google Shape;516;p59"/>
          <p:cNvPicPr preferRelativeResize="0"/>
          <p:nvPr/>
        </p:nvPicPr>
        <p:blipFill rotWithShape="1">
          <a:blip r:embed="rId3">
            <a:alphaModFix/>
          </a:blip>
          <a:srcRect b="33044" l="0" r="0" t="33047"/>
          <a:stretch/>
        </p:blipFill>
        <p:spPr>
          <a:xfrm>
            <a:off x="6877850" y="0"/>
            <a:ext cx="2266146" cy="1152051"/>
          </a:xfrm>
          <a:prstGeom prst="rect">
            <a:avLst/>
          </a:prstGeom>
          <a:noFill/>
          <a:ln>
            <a:noFill/>
          </a:ln>
        </p:spPr>
      </p:pic>
      <p:sp>
        <p:nvSpPr>
          <p:cNvPr id="517" name="Google Shape;517;p59"/>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18" name="Google Shape;518;p59"/>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pic>
        <p:nvPicPr>
          <p:cNvPr descr="An architectural detail of a modern building." id="519" name="Google Shape;519;p59"/>
          <p:cNvPicPr preferRelativeResize="0"/>
          <p:nvPr>
            <p:ph idx="2" type="pic"/>
          </p:nvPr>
        </p:nvPicPr>
        <p:blipFill rotWithShape="1">
          <a:blip r:embed="rId4">
            <a:alphaModFix/>
          </a:blip>
          <a:srcRect b="33062" l="0" r="0" t="33066"/>
          <a:stretch/>
        </p:blipFill>
        <p:spPr>
          <a:xfrm>
            <a:off x="6802800" y="0"/>
            <a:ext cx="2341200" cy="1189801"/>
          </a:xfrm>
          <a:prstGeom prst="rect">
            <a:avLst/>
          </a:prstGeom>
        </p:spPr>
      </p:pic>
      <p:cxnSp>
        <p:nvCxnSpPr>
          <p:cNvPr id="520" name="Google Shape;520;p59"/>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0"/>
          <p:cNvSpPr/>
          <p:nvPr>
            <p:ph idx="2" type="pic"/>
          </p:nvPr>
        </p:nvSpPr>
        <p:spPr>
          <a:xfrm>
            <a:off x="6802800" y="0"/>
            <a:ext cx="2341200" cy="1189800"/>
          </a:xfrm>
          <a:prstGeom prst="rect">
            <a:avLst/>
          </a:prstGeom>
        </p:spPr>
      </p:sp>
      <p:sp>
        <p:nvSpPr>
          <p:cNvPr id="526" name="Google Shape;526;p60"/>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a:p>
            <a:pPr indent="0" lvl="0" marL="0" rtl="0" algn="l">
              <a:spcBef>
                <a:spcPts val="0"/>
              </a:spcBef>
              <a:spcAft>
                <a:spcPts val="0"/>
              </a:spcAft>
              <a:buNone/>
            </a:pPr>
            <a:r>
              <a:t/>
            </a:r>
            <a:endParaRPr/>
          </a:p>
        </p:txBody>
      </p:sp>
      <p:cxnSp>
        <p:nvCxnSpPr>
          <p:cNvPr id="527" name="Google Shape;527;p60"/>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sp>
        <p:nvSpPr>
          <p:cNvPr id="528" name="Google Shape;528;p60"/>
          <p:cNvSpPr txBox="1"/>
          <p:nvPr/>
        </p:nvSpPr>
        <p:spPr>
          <a:xfrm>
            <a:off x="228600" y="1858525"/>
            <a:ext cx="7430100" cy="174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10">
                <a:solidFill>
                  <a:schemeClr val="lt1"/>
                </a:solidFill>
                <a:latin typeface="Lato"/>
                <a:ea typeface="Lato"/>
                <a:cs typeface="Lato"/>
                <a:sym typeface="Lato"/>
              </a:rPr>
              <a:t>Enterprise Resource Planning (ERP)</a:t>
            </a:r>
            <a:r>
              <a:rPr lang="en" sz="1810">
                <a:solidFill>
                  <a:schemeClr val="lt1"/>
                </a:solidFill>
                <a:latin typeface="Lato"/>
                <a:ea typeface="Lato"/>
                <a:cs typeface="Lato"/>
                <a:sym typeface="Lato"/>
              </a:rPr>
              <a:t> is a software system that integrates and manages core business processes such as finance, inventory, manufacturing, sales, and HR all with one platform. ERP provides a centralized database for unified workflow that allows multiple people to share information across departments. </a:t>
            </a:r>
            <a:endParaRPr sz="1810">
              <a:solidFill>
                <a:schemeClr val="lt1"/>
              </a:solidFill>
              <a:latin typeface="Lato"/>
              <a:ea typeface="Lato"/>
              <a:cs typeface="Lato"/>
              <a:sym typeface="Lato"/>
            </a:endParaRPr>
          </a:p>
        </p:txBody>
      </p:sp>
      <p:pic>
        <p:nvPicPr>
          <p:cNvPr descr="An architectural detail of a modern building." id="529" name="Google Shape;529;p60"/>
          <p:cNvPicPr preferRelativeResize="0"/>
          <p:nvPr>
            <p:ph idx="2" type="pic"/>
          </p:nvPr>
        </p:nvPicPr>
        <p:blipFill rotWithShape="1">
          <a:blip r:embed="rId3">
            <a:alphaModFix/>
          </a:blip>
          <a:srcRect b="33062" l="0" r="0" t="33066"/>
          <a:stretch/>
        </p:blipFill>
        <p:spPr>
          <a:xfrm>
            <a:off x="6802800" y="0"/>
            <a:ext cx="2341200" cy="1189801"/>
          </a:xfrm>
          <a:prstGeom prst="rect">
            <a:avLst/>
          </a:prstGeom>
        </p:spPr>
      </p:pic>
      <p:sp>
        <p:nvSpPr>
          <p:cNvPr id="530" name="Google Shape;530;p60"/>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31" name="Google Shape;531;p60"/>
          <p:cNvSpPr txBox="1"/>
          <p:nvPr>
            <p:ph type="title"/>
          </p:nvPr>
        </p:nvSpPr>
        <p:spPr>
          <a:xfrm>
            <a:off x="276075" y="612700"/>
            <a:ext cx="6072600" cy="754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Enterprise Resource Planning</a:t>
            </a:r>
            <a:endParaRPr/>
          </a:p>
          <a:p>
            <a:pPr indent="0" lvl="0" marL="0" rtl="0" algn="l">
              <a:lnSpc>
                <a:spcPct val="85000"/>
              </a:lnSpc>
              <a:spcBef>
                <a:spcPts val="0"/>
              </a:spcBef>
              <a:spcAft>
                <a:spcPts val="0"/>
              </a:spcAft>
              <a:buClr>
                <a:schemeClr val="lt1"/>
              </a:buClr>
              <a:buSzPts val="11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1"/>
          <p:cNvSpPr txBox="1"/>
          <p:nvPr>
            <p:ph type="title"/>
          </p:nvPr>
        </p:nvSpPr>
        <p:spPr>
          <a:xfrm>
            <a:off x="276075" y="612700"/>
            <a:ext cx="60726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What BevOS Will NOT Do</a:t>
            </a:r>
            <a:endParaRPr/>
          </a:p>
        </p:txBody>
      </p:sp>
      <p:pic>
        <p:nvPicPr>
          <p:cNvPr id="537" name="Google Shape;537;p61"/>
          <p:cNvPicPr preferRelativeResize="0"/>
          <p:nvPr/>
        </p:nvPicPr>
        <p:blipFill rotWithShape="1">
          <a:blip r:embed="rId3">
            <a:alphaModFix/>
          </a:blip>
          <a:srcRect b="33044" l="0" r="0" t="33047"/>
          <a:stretch/>
        </p:blipFill>
        <p:spPr>
          <a:xfrm>
            <a:off x="6877850" y="0"/>
            <a:ext cx="2266146" cy="1152051"/>
          </a:xfrm>
          <a:prstGeom prst="rect">
            <a:avLst/>
          </a:prstGeom>
          <a:noFill/>
          <a:ln>
            <a:noFill/>
          </a:ln>
        </p:spPr>
      </p:pic>
      <p:sp>
        <p:nvSpPr>
          <p:cNvPr id="538" name="Google Shape;538;p61"/>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39" name="Google Shape;539;p61"/>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pic>
        <p:nvPicPr>
          <p:cNvPr descr="An architectural detail of a modern building." id="540" name="Google Shape;540;p61"/>
          <p:cNvPicPr preferRelativeResize="0"/>
          <p:nvPr>
            <p:ph idx="2" type="pic"/>
          </p:nvPr>
        </p:nvPicPr>
        <p:blipFill rotWithShape="1">
          <a:blip r:embed="rId4">
            <a:alphaModFix/>
          </a:blip>
          <a:srcRect b="33062" l="0" r="0" t="33066"/>
          <a:stretch/>
        </p:blipFill>
        <p:spPr>
          <a:xfrm>
            <a:off x="6802800" y="0"/>
            <a:ext cx="2341200" cy="1189801"/>
          </a:xfrm>
          <a:prstGeom prst="rect">
            <a:avLst/>
          </a:prstGeom>
        </p:spPr>
      </p:pic>
      <p:sp>
        <p:nvSpPr>
          <p:cNvPr id="541" name="Google Shape;541;p61"/>
          <p:cNvSpPr txBox="1"/>
          <p:nvPr>
            <p:ph idx="6" type="body"/>
          </p:nvPr>
        </p:nvSpPr>
        <p:spPr>
          <a:xfrm>
            <a:off x="920450" y="1460250"/>
            <a:ext cx="5957400" cy="2092800"/>
          </a:xfrm>
          <a:prstGeom prst="rect">
            <a:avLst/>
          </a:prstGeom>
        </p:spPr>
        <p:txBody>
          <a:bodyPr anchorCtr="0" anchor="t" bIns="156375" lIns="156375" spcFirstLastPara="1" rIns="156375" wrap="square" tIns="156375">
            <a:spAutoFit/>
          </a:bodyPr>
          <a:lstStyle/>
          <a:p>
            <a:pPr indent="-337208" lvl="0" marL="457200" rtl="0" algn="l">
              <a:spcBef>
                <a:spcPts val="0"/>
              </a:spcBef>
              <a:spcAft>
                <a:spcPts val="0"/>
              </a:spcAft>
              <a:buSzPts val="1710"/>
              <a:buChar char="●"/>
            </a:pPr>
            <a:r>
              <a:rPr lang="en" sz="1710"/>
              <a:t>Physically manufacture products</a:t>
            </a:r>
            <a:endParaRPr sz="1710"/>
          </a:p>
          <a:p>
            <a:pPr indent="-337208" lvl="0" marL="457200" rtl="0" algn="l">
              <a:spcBef>
                <a:spcPts val="0"/>
              </a:spcBef>
              <a:spcAft>
                <a:spcPts val="0"/>
              </a:spcAft>
              <a:buSzPts val="1710"/>
              <a:buChar char="●"/>
            </a:pPr>
            <a:r>
              <a:rPr lang="en" sz="1710"/>
              <a:t>Operate production equipment</a:t>
            </a:r>
            <a:endParaRPr sz="1710"/>
          </a:p>
          <a:p>
            <a:pPr indent="-337208" lvl="0" marL="457200" rtl="0" algn="l">
              <a:spcBef>
                <a:spcPts val="0"/>
              </a:spcBef>
              <a:spcAft>
                <a:spcPts val="0"/>
              </a:spcAft>
              <a:buSzPts val="1710"/>
              <a:buChar char="●"/>
            </a:pPr>
            <a:r>
              <a:rPr lang="en" sz="1710"/>
              <a:t>Replace all existing </a:t>
            </a:r>
            <a:r>
              <a:rPr lang="en" sz="1710"/>
              <a:t>ERP</a:t>
            </a:r>
            <a:r>
              <a:rPr lang="en" sz="1710"/>
              <a:t> systems</a:t>
            </a:r>
            <a:endParaRPr sz="1710"/>
          </a:p>
          <a:p>
            <a:pPr indent="-337208" lvl="0" marL="457200" rtl="0" algn="l">
              <a:spcBef>
                <a:spcPts val="0"/>
              </a:spcBef>
              <a:spcAft>
                <a:spcPts val="0"/>
              </a:spcAft>
              <a:buSzPts val="1710"/>
              <a:buChar char="●"/>
            </a:pPr>
            <a:r>
              <a:rPr lang="en" sz="1710"/>
              <a:t>Handle direct consumer sales</a:t>
            </a:r>
            <a:endParaRPr sz="1710"/>
          </a:p>
          <a:p>
            <a:pPr indent="-337208" lvl="0" marL="457200" rtl="0" algn="l">
              <a:spcBef>
                <a:spcPts val="0"/>
              </a:spcBef>
              <a:spcAft>
                <a:spcPts val="0"/>
              </a:spcAft>
              <a:buSzPts val="1710"/>
              <a:buChar char="●"/>
            </a:pPr>
            <a:r>
              <a:rPr lang="en" sz="1710"/>
              <a:t>Manage warehouse automation systems</a:t>
            </a:r>
            <a:endParaRPr sz="1710"/>
          </a:p>
          <a:p>
            <a:pPr indent="-337208" lvl="0" marL="457200" rtl="0" algn="l">
              <a:spcBef>
                <a:spcPts val="0"/>
              </a:spcBef>
              <a:spcAft>
                <a:spcPts val="0"/>
              </a:spcAft>
              <a:buSzPts val="1710"/>
              <a:buChar char="●"/>
            </a:pPr>
            <a:r>
              <a:rPr lang="en" sz="1710"/>
              <a:t>Replace human decision-making processes</a:t>
            </a:r>
            <a:endParaRPr sz="1710"/>
          </a:p>
        </p:txBody>
      </p:sp>
      <p:cxnSp>
        <p:nvCxnSpPr>
          <p:cNvPr id="542" name="Google Shape;542;p61"/>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2"/>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Development</a:t>
            </a:r>
            <a:r>
              <a:rPr lang="en"/>
              <a:t> Tools</a:t>
            </a:r>
            <a:endParaRPr/>
          </a:p>
        </p:txBody>
      </p:sp>
      <p:pic>
        <p:nvPicPr>
          <p:cNvPr id="548" name="Google Shape;548;p62" title="programming-languages.jpeg"/>
          <p:cNvPicPr preferRelativeResize="0"/>
          <p:nvPr>
            <p:ph idx="2" type="pic"/>
          </p:nvPr>
        </p:nvPicPr>
        <p:blipFill rotWithShape="1">
          <a:blip r:embed="rId3">
            <a:alphaModFix/>
          </a:blip>
          <a:srcRect b="1988" l="0" r="0" t="1978"/>
          <a:stretch/>
        </p:blipFill>
        <p:spPr>
          <a:xfrm>
            <a:off x="6802800" y="0"/>
            <a:ext cx="2341200" cy="1189800"/>
          </a:xfrm>
          <a:prstGeom prst="rect">
            <a:avLst/>
          </a:prstGeom>
        </p:spPr>
      </p:pic>
      <p:sp>
        <p:nvSpPr>
          <p:cNvPr id="549" name="Google Shape;549;p62"/>
          <p:cNvSpPr txBox="1"/>
          <p:nvPr>
            <p:ph idx="4" type="subTitle"/>
          </p:nvPr>
        </p:nvSpPr>
        <p:spPr>
          <a:xfrm>
            <a:off x="200038" y="4816875"/>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a:p>
            <a:pPr indent="0" lvl="0" marL="0" rtl="0" algn="l">
              <a:spcBef>
                <a:spcPts val="0"/>
              </a:spcBef>
              <a:spcAft>
                <a:spcPts val="0"/>
              </a:spcAft>
              <a:buNone/>
            </a:pPr>
            <a:r>
              <a:t/>
            </a:r>
            <a:endParaRPr/>
          </a:p>
        </p:txBody>
      </p:sp>
      <p:cxnSp>
        <p:nvCxnSpPr>
          <p:cNvPr id="550" name="Google Shape;550;p62"/>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pic>
        <p:nvPicPr>
          <p:cNvPr id="551" name="Google Shape;551;p62"/>
          <p:cNvPicPr preferRelativeResize="0"/>
          <p:nvPr/>
        </p:nvPicPr>
        <p:blipFill>
          <a:blip r:embed="rId4">
            <a:alphaModFix/>
          </a:blip>
          <a:stretch>
            <a:fillRect/>
          </a:stretch>
        </p:blipFill>
        <p:spPr>
          <a:xfrm>
            <a:off x="3101175" y="1768821"/>
            <a:ext cx="2341200" cy="1315153"/>
          </a:xfrm>
          <a:prstGeom prst="rect">
            <a:avLst/>
          </a:prstGeom>
          <a:noFill/>
          <a:ln>
            <a:noFill/>
          </a:ln>
        </p:spPr>
      </p:pic>
      <p:pic>
        <p:nvPicPr>
          <p:cNvPr id="552" name="Google Shape;552;p62" title="vscode.png"/>
          <p:cNvPicPr preferRelativeResize="0"/>
          <p:nvPr/>
        </p:nvPicPr>
        <p:blipFill>
          <a:blip r:embed="rId5">
            <a:alphaModFix/>
          </a:blip>
          <a:stretch>
            <a:fillRect/>
          </a:stretch>
        </p:blipFill>
        <p:spPr>
          <a:xfrm>
            <a:off x="5668500" y="1728687"/>
            <a:ext cx="2630300" cy="1315150"/>
          </a:xfrm>
          <a:prstGeom prst="rect">
            <a:avLst/>
          </a:prstGeom>
          <a:noFill/>
          <a:ln>
            <a:noFill/>
          </a:ln>
        </p:spPr>
      </p:pic>
      <p:sp>
        <p:nvSpPr>
          <p:cNvPr id="553" name="Google Shape;553;p62"/>
          <p:cNvSpPr txBox="1"/>
          <p:nvPr/>
        </p:nvSpPr>
        <p:spPr>
          <a:xfrm>
            <a:off x="3573350" y="2693450"/>
            <a:ext cx="1582200" cy="27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Source control</a:t>
            </a:r>
            <a:endParaRPr>
              <a:solidFill>
                <a:schemeClr val="lt1"/>
              </a:solidFill>
              <a:latin typeface="Lato"/>
              <a:ea typeface="Lato"/>
              <a:cs typeface="Lato"/>
              <a:sym typeface="Lato"/>
            </a:endParaRPr>
          </a:p>
        </p:txBody>
      </p:sp>
      <p:sp>
        <p:nvSpPr>
          <p:cNvPr id="554" name="Google Shape;554;p62"/>
          <p:cNvSpPr txBox="1"/>
          <p:nvPr/>
        </p:nvSpPr>
        <p:spPr>
          <a:xfrm>
            <a:off x="5922625" y="2912963"/>
            <a:ext cx="2251800" cy="50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Integrated Development Environment</a:t>
            </a:r>
            <a:endParaRPr>
              <a:solidFill>
                <a:schemeClr val="lt1"/>
              </a:solidFill>
              <a:latin typeface="Lato"/>
              <a:ea typeface="Lato"/>
              <a:cs typeface="Lato"/>
              <a:sym typeface="Lato"/>
            </a:endParaRPr>
          </a:p>
        </p:txBody>
      </p:sp>
      <p:sp>
        <p:nvSpPr>
          <p:cNvPr id="555" name="Google Shape;555;p62"/>
          <p:cNvSpPr txBox="1"/>
          <p:nvPr/>
        </p:nvSpPr>
        <p:spPr>
          <a:xfrm>
            <a:off x="2508913" y="4138900"/>
            <a:ext cx="1582200" cy="27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Framework</a:t>
            </a:r>
            <a:endParaRPr>
              <a:solidFill>
                <a:schemeClr val="lt1"/>
              </a:solidFill>
              <a:latin typeface="Lato"/>
              <a:ea typeface="Lato"/>
              <a:cs typeface="Lato"/>
              <a:sym typeface="Lato"/>
            </a:endParaRPr>
          </a:p>
        </p:txBody>
      </p:sp>
      <p:sp>
        <p:nvSpPr>
          <p:cNvPr id="556" name="Google Shape;556;p62"/>
          <p:cNvSpPr txBox="1"/>
          <p:nvPr/>
        </p:nvSpPr>
        <p:spPr>
          <a:xfrm>
            <a:off x="4484725" y="4558975"/>
            <a:ext cx="2293800" cy="33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CI/CD</a:t>
            </a:r>
            <a:endParaRPr>
              <a:solidFill>
                <a:schemeClr val="lt1"/>
              </a:solidFill>
              <a:latin typeface="Lato"/>
              <a:ea typeface="Lato"/>
              <a:cs typeface="Lato"/>
              <a:sym typeface="Lato"/>
            </a:endParaRPr>
          </a:p>
        </p:txBody>
      </p:sp>
      <p:pic>
        <p:nvPicPr>
          <p:cNvPr id="557" name="Google Shape;557;p62"/>
          <p:cNvPicPr preferRelativeResize="0"/>
          <p:nvPr/>
        </p:nvPicPr>
        <p:blipFill>
          <a:blip r:embed="rId6">
            <a:alphaModFix/>
          </a:blip>
          <a:stretch>
            <a:fillRect/>
          </a:stretch>
        </p:blipFill>
        <p:spPr>
          <a:xfrm>
            <a:off x="4235776" y="3243901"/>
            <a:ext cx="2842650" cy="1449500"/>
          </a:xfrm>
          <a:prstGeom prst="rect">
            <a:avLst/>
          </a:prstGeom>
          <a:noFill/>
          <a:ln>
            <a:noFill/>
          </a:ln>
        </p:spPr>
      </p:pic>
      <p:sp>
        <p:nvSpPr>
          <p:cNvPr id="558" name="Google Shape;558;p62"/>
          <p:cNvSpPr txBox="1"/>
          <p:nvPr/>
        </p:nvSpPr>
        <p:spPr>
          <a:xfrm>
            <a:off x="961250" y="2729200"/>
            <a:ext cx="1582200" cy="27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Testing</a:t>
            </a:r>
            <a:endParaRPr>
              <a:solidFill>
                <a:schemeClr val="lt1"/>
              </a:solidFill>
              <a:latin typeface="Lato"/>
              <a:ea typeface="Lato"/>
              <a:cs typeface="Lato"/>
              <a:sym typeface="Lato"/>
            </a:endParaRPr>
          </a:p>
        </p:txBody>
      </p:sp>
      <p:sp>
        <p:nvSpPr>
          <p:cNvPr id="559" name="Google Shape;559;p62"/>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560" name="Google Shape;560;p62"/>
          <p:cNvPicPr preferRelativeResize="0"/>
          <p:nvPr/>
        </p:nvPicPr>
        <p:blipFill>
          <a:blip r:embed="rId7">
            <a:alphaModFix/>
          </a:blip>
          <a:stretch>
            <a:fillRect/>
          </a:stretch>
        </p:blipFill>
        <p:spPr>
          <a:xfrm>
            <a:off x="1175450" y="1601029"/>
            <a:ext cx="1153800" cy="1128164"/>
          </a:xfrm>
          <a:prstGeom prst="rect">
            <a:avLst/>
          </a:prstGeom>
          <a:noFill/>
          <a:ln>
            <a:noFill/>
          </a:ln>
        </p:spPr>
      </p:pic>
      <p:pic>
        <p:nvPicPr>
          <p:cNvPr id="561" name="Google Shape;561;p62"/>
          <p:cNvPicPr preferRelativeResize="0"/>
          <p:nvPr/>
        </p:nvPicPr>
        <p:blipFill>
          <a:blip r:embed="rId8">
            <a:alphaModFix/>
          </a:blip>
          <a:stretch>
            <a:fillRect/>
          </a:stretch>
        </p:blipFill>
        <p:spPr>
          <a:xfrm>
            <a:off x="2674825" y="3750877"/>
            <a:ext cx="1250397" cy="435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63"/>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Major Functional Components</a:t>
            </a:r>
            <a:endParaRPr/>
          </a:p>
        </p:txBody>
      </p:sp>
      <p:pic>
        <p:nvPicPr>
          <p:cNvPr id="567" name="Google Shape;567;p63" title="vuejs-components-fundamentals.png"/>
          <p:cNvPicPr preferRelativeResize="0"/>
          <p:nvPr>
            <p:ph idx="2" type="pic"/>
          </p:nvPr>
        </p:nvPicPr>
        <p:blipFill rotWithShape="1">
          <a:blip r:embed="rId3">
            <a:alphaModFix/>
          </a:blip>
          <a:srcRect b="16120" l="0" r="0" t="16120"/>
          <a:stretch/>
        </p:blipFill>
        <p:spPr>
          <a:xfrm>
            <a:off x="6802800" y="0"/>
            <a:ext cx="2461950" cy="1189800"/>
          </a:xfrm>
          <a:prstGeom prst="rect">
            <a:avLst/>
          </a:prstGeom>
        </p:spPr>
      </p:pic>
      <p:sp>
        <p:nvSpPr>
          <p:cNvPr id="568" name="Google Shape;568;p63"/>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a:p>
            <a:pPr indent="0" lvl="0" marL="0" rtl="0" algn="l">
              <a:spcBef>
                <a:spcPts val="0"/>
              </a:spcBef>
              <a:spcAft>
                <a:spcPts val="0"/>
              </a:spcAft>
              <a:buNone/>
            </a:pPr>
            <a:r>
              <a:t/>
            </a:r>
            <a:endParaRPr/>
          </a:p>
        </p:txBody>
      </p:sp>
      <p:cxnSp>
        <p:nvCxnSpPr>
          <p:cNvPr id="569" name="Google Shape;569;p63"/>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pic>
        <p:nvPicPr>
          <p:cNvPr id="570" name="Google Shape;570;p63" title="Microsoft.VisualStudio.Services.Icons.png"/>
          <p:cNvPicPr preferRelativeResize="0"/>
          <p:nvPr/>
        </p:nvPicPr>
        <p:blipFill>
          <a:blip r:embed="rId4">
            <a:alphaModFix/>
          </a:blip>
          <a:stretch>
            <a:fillRect/>
          </a:stretch>
        </p:blipFill>
        <p:spPr>
          <a:xfrm>
            <a:off x="1012008" y="2076400"/>
            <a:ext cx="1862722" cy="1593797"/>
          </a:xfrm>
          <a:prstGeom prst="rect">
            <a:avLst/>
          </a:prstGeom>
          <a:noFill/>
          <a:ln>
            <a:noFill/>
          </a:ln>
        </p:spPr>
      </p:pic>
      <p:sp>
        <p:nvSpPr>
          <p:cNvPr id="571" name="Google Shape;571;p63"/>
          <p:cNvSpPr txBox="1"/>
          <p:nvPr/>
        </p:nvSpPr>
        <p:spPr>
          <a:xfrm>
            <a:off x="984650" y="3670200"/>
            <a:ext cx="1917300" cy="329100"/>
          </a:xfrm>
          <a:prstGeom prst="rect">
            <a:avLst/>
          </a:prstGeom>
          <a:noFill/>
          <a:ln>
            <a:noFill/>
          </a:ln>
        </p:spPr>
        <p:txBody>
          <a:bodyPr anchorCtr="0" anchor="t" bIns="110800" lIns="110800" spcFirstLastPara="1" rIns="110800" wrap="square" tIns="110800">
            <a:noAutofit/>
          </a:bodyPr>
          <a:lstStyle/>
          <a:p>
            <a:pPr indent="0" lvl="0" marL="0" rtl="0" algn="ctr">
              <a:spcBef>
                <a:spcPts val="0"/>
              </a:spcBef>
              <a:spcAft>
                <a:spcPts val="0"/>
              </a:spcAft>
              <a:buNone/>
            </a:pPr>
            <a:r>
              <a:rPr lang="en" sz="1697">
                <a:solidFill>
                  <a:schemeClr val="lt1"/>
                </a:solidFill>
                <a:latin typeface="Lato"/>
                <a:ea typeface="Lato"/>
                <a:cs typeface="Lato"/>
                <a:sym typeface="Lato"/>
              </a:rPr>
              <a:t>Containerization</a:t>
            </a:r>
            <a:endParaRPr sz="1697">
              <a:solidFill>
                <a:schemeClr val="lt1"/>
              </a:solidFill>
              <a:latin typeface="Lato"/>
              <a:ea typeface="Lato"/>
              <a:cs typeface="Lato"/>
              <a:sym typeface="Lato"/>
            </a:endParaRPr>
          </a:p>
        </p:txBody>
      </p:sp>
      <p:pic>
        <p:nvPicPr>
          <p:cNvPr id="572" name="Google Shape;572;p63"/>
          <p:cNvPicPr preferRelativeResize="0"/>
          <p:nvPr/>
        </p:nvPicPr>
        <p:blipFill>
          <a:blip r:embed="rId5">
            <a:alphaModFix/>
          </a:blip>
          <a:stretch>
            <a:fillRect/>
          </a:stretch>
        </p:blipFill>
        <p:spPr>
          <a:xfrm>
            <a:off x="6050901" y="1900900"/>
            <a:ext cx="2551400" cy="2510900"/>
          </a:xfrm>
          <a:prstGeom prst="rect">
            <a:avLst/>
          </a:prstGeom>
          <a:noFill/>
          <a:ln>
            <a:noFill/>
          </a:ln>
        </p:spPr>
      </p:pic>
      <p:sp>
        <p:nvSpPr>
          <p:cNvPr id="573" name="Google Shape;573;p63"/>
          <p:cNvSpPr txBox="1"/>
          <p:nvPr/>
        </p:nvSpPr>
        <p:spPr>
          <a:xfrm>
            <a:off x="6414300" y="3950000"/>
            <a:ext cx="1917300" cy="329100"/>
          </a:xfrm>
          <a:prstGeom prst="rect">
            <a:avLst/>
          </a:prstGeom>
          <a:noFill/>
          <a:ln>
            <a:noFill/>
          </a:ln>
        </p:spPr>
        <p:txBody>
          <a:bodyPr anchorCtr="0" anchor="t" bIns="110800" lIns="110800" spcFirstLastPara="1" rIns="110800" wrap="square" tIns="110800">
            <a:noAutofit/>
          </a:bodyPr>
          <a:lstStyle/>
          <a:p>
            <a:pPr indent="0" lvl="0" marL="0" rtl="0" algn="ctr">
              <a:spcBef>
                <a:spcPts val="0"/>
              </a:spcBef>
              <a:spcAft>
                <a:spcPts val="0"/>
              </a:spcAft>
              <a:buNone/>
            </a:pPr>
            <a:r>
              <a:rPr lang="en" sz="1697">
                <a:solidFill>
                  <a:schemeClr val="lt1"/>
                </a:solidFill>
                <a:latin typeface="Lato"/>
                <a:ea typeface="Lato"/>
                <a:cs typeface="Lato"/>
                <a:sym typeface="Lato"/>
              </a:rPr>
              <a:t>Database</a:t>
            </a:r>
            <a:endParaRPr sz="1697">
              <a:solidFill>
                <a:schemeClr val="lt1"/>
              </a:solidFill>
              <a:latin typeface="Lato"/>
              <a:ea typeface="Lato"/>
              <a:cs typeface="Lato"/>
              <a:sym typeface="Lato"/>
            </a:endParaRPr>
          </a:p>
        </p:txBody>
      </p:sp>
      <p:sp>
        <p:nvSpPr>
          <p:cNvPr id="574" name="Google Shape;574;p63"/>
          <p:cNvSpPr txBox="1"/>
          <p:nvPr/>
        </p:nvSpPr>
        <p:spPr>
          <a:xfrm>
            <a:off x="3685850" y="4532975"/>
            <a:ext cx="1917300" cy="329100"/>
          </a:xfrm>
          <a:prstGeom prst="rect">
            <a:avLst/>
          </a:prstGeom>
          <a:noFill/>
          <a:ln>
            <a:noFill/>
          </a:ln>
        </p:spPr>
        <p:txBody>
          <a:bodyPr anchorCtr="0" anchor="t" bIns="110800" lIns="110800" spcFirstLastPara="1" rIns="110800" wrap="square" tIns="110800">
            <a:noAutofit/>
          </a:bodyPr>
          <a:lstStyle/>
          <a:p>
            <a:pPr indent="0" lvl="0" marL="0" rtl="0" algn="ctr">
              <a:spcBef>
                <a:spcPts val="0"/>
              </a:spcBef>
              <a:spcAft>
                <a:spcPts val="0"/>
              </a:spcAft>
              <a:buNone/>
            </a:pPr>
            <a:r>
              <a:rPr lang="en" sz="1697">
                <a:solidFill>
                  <a:schemeClr val="lt1"/>
                </a:solidFill>
                <a:latin typeface="Lato"/>
                <a:ea typeface="Lato"/>
                <a:cs typeface="Lato"/>
                <a:sym typeface="Lato"/>
              </a:rPr>
              <a:t>Main language</a:t>
            </a:r>
            <a:endParaRPr sz="1697">
              <a:solidFill>
                <a:schemeClr val="lt1"/>
              </a:solidFill>
              <a:latin typeface="Lato"/>
              <a:ea typeface="Lato"/>
              <a:cs typeface="Lato"/>
              <a:sym typeface="Lato"/>
            </a:endParaRPr>
          </a:p>
        </p:txBody>
      </p:sp>
      <p:sp>
        <p:nvSpPr>
          <p:cNvPr id="575" name="Google Shape;575;p63"/>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576" name="Google Shape;576;p63"/>
          <p:cNvPicPr preferRelativeResize="0"/>
          <p:nvPr/>
        </p:nvPicPr>
        <p:blipFill>
          <a:blip r:embed="rId6">
            <a:alphaModFix/>
          </a:blip>
          <a:stretch>
            <a:fillRect/>
          </a:stretch>
        </p:blipFill>
        <p:spPr>
          <a:xfrm>
            <a:off x="3622560" y="2047176"/>
            <a:ext cx="1804989" cy="628750"/>
          </a:xfrm>
          <a:prstGeom prst="rect">
            <a:avLst/>
          </a:prstGeom>
          <a:noFill/>
          <a:ln>
            <a:noFill/>
          </a:ln>
        </p:spPr>
      </p:pic>
      <p:sp>
        <p:nvSpPr>
          <p:cNvPr id="577" name="Google Shape;577;p63"/>
          <p:cNvSpPr txBox="1"/>
          <p:nvPr/>
        </p:nvSpPr>
        <p:spPr>
          <a:xfrm>
            <a:off x="3613338" y="2609675"/>
            <a:ext cx="1917300" cy="329100"/>
          </a:xfrm>
          <a:prstGeom prst="rect">
            <a:avLst/>
          </a:prstGeom>
          <a:noFill/>
          <a:ln>
            <a:noFill/>
          </a:ln>
        </p:spPr>
        <p:txBody>
          <a:bodyPr anchorCtr="0" anchor="t" bIns="110800" lIns="110800" spcFirstLastPara="1" rIns="110800" wrap="square" tIns="110800">
            <a:noAutofit/>
          </a:bodyPr>
          <a:lstStyle/>
          <a:p>
            <a:pPr indent="0" lvl="0" marL="0" rtl="0" algn="ctr">
              <a:spcBef>
                <a:spcPts val="0"/>
              </a:spcBef>
              <a:spcAft>
                <a:spcPts val="0"/>
              </a:spcAft>
              <a:buNone/>
            </a:pPr>
            <a:r>
              <a:rPr lang="en" sz="1697">
                <a:solidFill>
                  <a:schemeClr val="lt1"/>
                </a:solidFill>
                <a:latin typeface="Lato"/>
                <a:ea typeface="Lato"/>
                <a:cs typeface="Lato"/>
                <a:sym typeface="Lato"/>
              </a:rPr>
              <a:t>Framework</a:t>
            </a:r>
            <a:endParaRPr sz="1697">
              <a:solidFill>
                <a:schemeClr val="lt1"/>
              </a:solidFill>
              <a:latin typeface="Lato"/>
              <a:ea typeface="Lato"/>
              <a:cs typeface="Lato"/>
              <a:sym typeface="Lato"/>
            </a:endParaRPr>
          </a:p>
        </p:txBody>
      </p:sp>
      <p:pic>
        <p:nvPicPr>
          <p:cNvPr id="578" name="Google Shape;578;p63"/>
          <p:cNvPicPr preferRelativeResize="0"/>
          <p:nvPr/>
        </p:nvPicPr>
        <p:blipFill>
          <a:blip r:embed="rId7">
            <a:alphaModFix/>
          </a:blip>
          <a:stretch>
            <a:fillRect/>
          </a:stretch>
        </p:blipFill>
        <p:spPr>
          <a:xfrm>
            <a:off x="4011750" y="3367025"/>
            <a:ext cx="1059424" cy="10594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4"/>
          <p:cNvSpPr txBox="1"/>
          <p:nvPr>
            <p:ph type="title"/>
          </p:nvPr>
        </p:nvSpPr>
        <p:spPr>
          <a:xfrm>
            <a:off x="276075" y="457200"/>
            <a:ext cx="6432900" cy="775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Major Functional Components Diagram           (MFCD)</a:t>
            </a:r>
            <a:endParaRPr/>
          </a:p>
        </p:txBody>
      </p:sp>
      <p:sp>
        <p:nvSpPr>
          <p:cNvPr id="584" name="Google Shape;584;p64"/>
          <p:cNvSpPr/>
          <p:nvPr>
            <p:ph idx="2" type="pic"/>
          </p:nvPr>
        </p:nvSpPr>
        <p:spPr>
          <a:xfrm>
            <a:off x="6802800" y="0"/>
            <a:ext cx="2341200" cy="1189800"/>
          </a:xfrm>
          <a:prstGeom prst="rect">
            <a:avLst/>
          </a:prstGeom>
        </p:spPr>
      </p:sp>
      <p:sp>
        <p:nvSpPr>
          <p:cNvPr id="585" name="Google Shape;585;p64"/>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a:p>
            <a:pPr indent="0" lvl="0" marL="0" rtl="0" algn="l">
              <a:spcBef>
                <a:spcPts val="0"/>
              </a:spcBef>
              <a:spcAft>
                <a:spcPts val="0"/>
              </a:spcAft>
              <a:buNone/>
            </a:pPr>
            <a:r>
              <a:t/>
            </a:r>
            <a:endParaRPr/>
          </a:p>
        </p:txBody>
      </p:sp>
      <p:cxnSp>
        <p:nvCxnSpPr>
          <p:cNvPr id="586" name="Google Shape;586;p64"/>
          <p:cNvCxnSpPr/>
          <p:nvPr/>
        </p:nvCxnSpPr>
        <p:spPr>
          <a:xfrm>
            <a:off x="286350" y="1324300"/>
            <a:ext cx="8571300" cy="31200"/>
          </a:xfrm>
          <a:prstGeom prst="straightConnector1">
            <a:avLst/>
          </a:prstGeom>
          <a:noFill/>
          <a:ln cap="flat" cmpd="sng" w="9525">
            <a:solidFill>
              <a:schemeClr val="lt2"/>
            </a:solidFill>
            <a:prstDash val="solid"/>
            <a:round/>
            <a:headEnd len="med" w="med" type="none"/>
            <a:tailEnd len="med" w="med" type="none"/>
          </a:ln>
        </p:spPr>
      </p:cxnSp>
      <p:pic>
        <p:nvPicPr>
          <p:cNvPr id="587" name="Google Shape;587;p64" title="vuejs-components-fundamentals.png"/>
          <p:cNvPicPr preferRelativeResize="0"/>
          <p:nvPr>
            <p:ph idx="2" type="pic"/>
          </p:nvPr>
        </p:nvPicPr>
        <p:blipFill rotWithShape="1">
          <a:blip r:embed="rId3">
            <a:alphaModFix/>
          </a:blip>
          <a:srcRect b="16120" l="0" r="0" t="16120"/>
          <a:stretch/>
        </p:blipFill>
        <p:spPr>
          <a:xfrm>
            <a:off x="6802800" y="0"/>
            <a:ext cx="2461950" cy="1189800"/>
          </a:xfrm>
          <a:prstGeom prst="rect">
            <a:avLst/>
          </a:prstGeom>
        </p:spPr>
      </p:pic>
      <p:sp>
        <p:nvSpPr>
          <p:cNvPr id="588" name="Google Shape;588;p64"/>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89" name="Google Shape;589;p64"/>
          <p:cNvSpPr/>
          <p:nvPr/>
        </p:nvSpPr>
        <p:spPr>
          <a:xfrm>
            <a:off x="3920660" y="2039997"/>
            <a:ext cx="1328700" cy="382200"/>
          </a:xfrm>
          <a:prstGeom prst="rect">
            <a:avLst/>
          </a:prstGeom>
          <a:solidFill>
            <a:srgbClr val="085630"/>
          </a:solidFill>
          <a:ln>
            <a:noFill/>
          </a:ln>
        </p:spPr>
        <p:txBody>
          <a:bodyPr anchorCtr="0" anchor="ctr" bIns="66525" lIns="66525" spcFirstLastPara="1" rIns="66525" wrap="square" tIns="66525">
            <a:noAutofit/>
          </a:bodyPr>
          <a:lstStyle/>
          <a:p>
            <a:pPr indent="0" lvl="0" marL="0" rtl="0" algn="ctr">
              <a:spcBef>
                <a:spcPts val="0"/>
              </a:spcBef>
              <a:spcAft>
                <a:spcPts val="0"/>
              </a:spcAft>
              <a:buNone/>
            </a:pPr>
            <a:r>
              <a:rPr lang="en" sz="728">
                <a:solidFill>
                  <a:srgbClr val="FFFFFF"/>
                </a:solidFill>
                <a:latin typeface="Roboto"/>
                <a:ea typeface="Roboto"/>
                <a:cs typeface="Roboto"/>
                <a:sym typeface="Roboto"/>
              </a:rPr>
              <a:t>BevOS UI</a:t>
            </a:r>
            <a:endParaRPr sz="1019">
              <a:solidFill>
                <a:srgbClr val="FFFFFF"/>
              </a:solidFill>
            </a:endParaRPr>
          </a:p>
        </p:txBody>
      </p:sp>
      <p:sp>
        <p:nvSpPr>
          <p:cNvPr id="590" name="Google Shape;590;p64"/>
          <p:cNvSpPr/>
          <p:nvPr/>
        </p:nvSpPr>
        <p:spPr>
          <a:xfrm>
            <a:off x="3920643" y="2533468"/>
            <a:ext cx="1328700" cy="382200"/>
          </a:xfrm>
          <a:prstGeom prst="rect">
            <a:avLst/>
          </a:prstGeom>
          <a:solidFill>
            <a:srgbClr val="0B7743"/>
          </a:solidFill>
          <a:ln>
            <a:noFill/>
          </a:ln>
        </p:spPr>
        <p:txBody>
          <a:bodyPr anchorCtr="0" anchor="ctr" bIns="66525" lIns="66525" spcFirstLastPara="1" rIns="66525" wrap="square" tIns="66525">
            <a:noAutofit/>
          </a:bodyPr>
          <a:lstStyle/>
          <a:p>
            <a:pPr indent="0" lvl="0" marL="0" rtl="0" algn="ctr">
              <a:spcBef>
                <a:spcPts val="0"/>
              </a:spcBef>
              <a:spcAft>
                <a:spcPts val="0"/>
              </a:spcAft>
              <a:buNone/>
            </a:pPr>
            <a:r>
              <a:rPr lang="en" sz="728">
                <a:solidFill>
                  <a:srgbClr val="FFFFFF"/>
                </a:solidFill>
                <a:latin typeface="Roboto"/>
                <a:ea typeface="Roboto"/>
                <a:cs typeface="Roboto"/>
                <a:sym typeface="Roboto"/>
              </a:rPr>
              <a:t>BevOS Core Services</a:t>
            </a:r>
            <a:endParaRPr sz="728">
              <a:solidFill>
                <a:srgbClr val="FFFFFF"/>
              </a:solidFill>
              <a:latin typeface="Roboto"/>
              <a:ea typeface="Roboto"/>
              <a:cs typeface="Roboto"/>
              <a:sym typeface="Roboto"/>
            </a:endParaRPr>
          </a:p>
        </p:txBody>
      </p:sp>
      <p:sp>
        <p:nvSpPr>
          <p:cNvPr id="591" name="Google Shape;591;p64"/>
          <p:cNvSpPr/>
          <p:nvPr/>
        </p:nvSpPr>
        <p:spPr>
          <a:xfrm>
            <a:off x="3920431" y="1549688"/>
            <a:ext cx="1328700" cy="382200"/>
          </a:xfrm>
          <a:prstGeom prst="rect">
            <a:avLst/>
          </a:prstGeom>
          <a:solidFill>
            <a:srgbClr val="0B7743"/>
          </a:solidFill>
          <a:ln>
            <a:noFill/>
          </a:ln>
        </p:spPr>
        <p:txBody>
          <a:bodyPr anchorCtr="0" anchor="ctr" bIns="66525" lIns="66525" spcFirstLastPara="1" rIns="66525" wrap="square" tIns="66525">
            <a:noAutofit/>
          </a:bodyPr>
          <a:lstStyle/>
          <a:p>
            <a:pPr indent="0" lvl="0" marL="0" rtl="0" algn="ctr">
              <a:spcBef>
                <a:spcPts val="0"/>
              </a:spcBef>
              <a:spcAft>
                <a:spcPts val="0"/>
              </a:spcAft>
              <a:buNone/>
            </a:pPr>
            <a:r>
              <a:rPr lang="en" sz="728">
                <a:solidFill>
                  <a:srgbClr val="FFFFFF"/>
                </a:solidFill>
                <a:latin typeface="Roboto"/>
                <a:ea typeface="Roboto"/>
                <a:cs typeface="Roboto"/>
                <a:sym typeface="Roboto"/>
              </a:rPr>
              <a:t>Users</a:t>
            </a:r>
            <a:endParaRPr sz="728">
              <a:solidFill>
                <a:srgbClr val="FFFFFF"/>
              </a:solidFill>
              <a:latin typeface="Roboto"/>
              <a:ea typeface="Roboto"/>
              <a:cs typeface="Roboto"/>
              <a:sym typeface="Roboto"/>
            </a:endParaRPr>
          </a:p>
          <a:p>
            <a:pPr indent="0" lvl="0" marL="0" rtl="0" algn="ctr">
              <a:spcBef>
                <a:spcPts val="0"/>
              </a:spcBef>
              <a:spcAft>
                <a:spcPts val="0"/>
              </a:spcAft>
              <a:buNone/>
            </a:pPr>
            <a:r>
              <a:rPr lang="en" sz="728">
                <a:solidFill>
                  <a:srgbClr val="FFFFFF"/>
                </a:solidFill>
                <a:latin typeface="Roboto"/>
                <a:ea typeface="Roboto"/>
                <a:cs typeface="Roboto"/>
                <a:sym typeface="Roboto"/>
              </a:rPr>
              <a:t>(Brand - Distributor - Supplier)</a:t>
            </a:r>
            <a:endParaRPr sz="728">
              <a:solidFill>
                <a:srgbClr val="FFFFFF"/>
              </a:solidFill>
              <a:latin typeface="Roboto"/>
              <a:ea typeface="Roboto"/>
              <a:cs typeface="Roboto"/>
              <a:sym typeface="Roboto"/>
            </a:endParaRPr>
          </a:p>
        </p:txBody>
      </p:sp>
      <p:sp>
        <p:nvSpPr>
          <p:cNvPr id="592" name="Google Shape;592;p64"/>
          <p:cNvSpPr/>
          <p:nvPr/>
        </p:nvSpPr>
        <p:spPr>
          <a:xfrm>
            <a:off x="7528958" y="3211610"/>
            <a:ext cx="1328700" cy="382200"/>
          </a:xfrm>
          <a:prstGeom prst="rect">
            <a:avLst/>
          </a:prstGeom>
          <a:solidFill>
            <a:srgbClr val="0E9453"/>
          </a:solidFill>
          <a:ln>
            <a:noFill/>
          </a:ln>
        </p:spPr>
        <p:txBody>
          <a:bodyPr anchorCtr="0" anchor="ctr" bIns="66525" lIns="66525" spcFirstLastPara="1" rIns="66525" wrap="square" tIns="66525">
            <a:noAutofit/>
          </a:bodyPr>
          <a:lstStyle/>
          <a:p>
            <a:pPr indent="0" lvl="0" marL="0" rtl="0" algn="ctr">
              <a:spcBef>
                <a:spcPts val="0"/>
              </a:spcBef>
              <a:spcAft>
                <a:spcPts val="0"/>
              </a:spcAft>
              <a:buNone/>
            </a:pPr>
            <a:r>
              <a:rPr lang="en" sz="728">
                <a:solidFill>
                  <a:srgbClr val="FFFFFF"/>
                </a:solidFill>
                <a:latin typeface="Roboto"/>
                <a:ea typeface="Roboto"/>
                <a:cs typeface="Roboto"/>
                <a:sym typeface="Roboto"/>
              </a:rPr>
              <a:t>Reports</a:t>
            </a:r>
            <a:endParaRPr sz="1019">
              <a:solidFill>
                <a:srgbClr val="FFFFFF"/>
              </a:solidFill>
            </a:endParaRPr>
          </a:p>
        </p:txBody>
      </p:sp>
      <p:sp>
        <p:nvSpPr>
          <p:cNvPr id="593" name="Google Shape;593;p64"/>
          <p:cNvSpPr/>
          <p:nvPr/>
        </p:nvSpPr>
        <p:spPr>
          <a:xfrm>
            <a:off x="4684717" y="3211610"/>
            <a:ext cx="1328700" cy="382200"/>
          </a:xfrm>
          <a:prstGeom prst="rect">
            <a:avLst/>
          </a:prstGeom>
          <a:solidFill>
            <a:srgbClr val="0E9453"/>
          </a:solidFill>
          <a:ln>
            <a:noFill/>
          </a:ln>
        </p:spPr>
        <p:txBody>
          <a:bodyPr anchorCtr="0" anchor="ctr" bIns="66525" lIns="66525" spcFirstLastPara="1" rIns="66525" wrap="square" tIns="66525">
            <a:noAutofit/>
          </a:bodyPr>
          <a:lstStyle/>
          <a:p>
            <a:pPr indent="0" lvl="0" marL="0" rtl="0" algn="ctr">
              <a:spcBef>
                <a:spcPts val="0"/>
              </a:spcBef>
              <a:spcAft>
                <a:spcPts val="0"/>
              </a:spcAft>
              <a:buNone/>
            </a:pPr>
            <a:r>
              <a:rPr lang="en" sz="728">
                <a:solidFill>
                  <a:srgbClr val="FFFFFF"/>
                </a:solidFill>
                <a:latin typeface="Roboto"/>
                <a:ea typeface="Roboto"/>
                <a:cs typeface="Roboto"/>
                <a:sym typeface="Roboto"/>
              </a:rPr>
              <a:t>Logistics</a:t>
            </a:r>
            <a:endParaRPr sz="1019">
              <a:solidFill>
                <a:srgbClr val="FFFFFF"/>
              </a:solidFill>
            </a:endParaRPr>
          </a:p>
        </p:txBody>
      </p:sp>
      <p:sp>
        <p:nvSpPr>
          <p:cNvPr id="594" name="Google Shape;594;p64"/>
          <p:cNvSpPr/>
          <p:nvPr/>
        </p:nvSpPr>
        <p:spPr>
          <a:xfrm>
            <a:off x="3224491" y="3211610"/>
            <a:ext cx="1328700" cy="382200"/>
          </a:xfrm>
          <a:prstGeom prst="rect">
            <a:avLst/>
          </a:prstGeom>
          <a:solidFill>
            <a:srgbClr val="0E9453"/>
          </a:solidFill>
          <a:ln>
            <a:noFill/>
          </a:ln>
        </p:spPr>
        <p:txBody>
          <a:bodyPr anchorCtr="0" anchor="ctr" bIns="66525" lIns="66525" spcFirstLastPara="1" rIns="66525" wrap="square" tIns="66525">
            <a:noAutofit/>
          </a:bodyPr>
          <a:lstStyle/>
          <a:p>
            <a:pPr indent="0" lvl="0" marL="0" rtl="0" algn="ctr">
              <a:spcBef>
                <a:spcPts val="0"/>
              </a:spcBef>
              <a:spcAft>
                <a:spcPts val="0"/>
              </a:spcAft>
              <a:buNone/>
            </a:pPr>
            <a:r>
              <a:rPr lang="en" sz="728">
                <a:solidFill>
                  <a:srgbClr val="FFFFFF"/>
                </a:solidFill>
                <a:latin typeface="Roboto"/>
                <a:ea typeface="Roboto"/>
                <a:cs typeface="Roboto"/>
                <a:sym typeface="Roboto"/>
              </a:rPr>
              <a:t>Production</a:t>
            </a:r>
            <a:endParaRPr sz="1019">
              <a:solidFill>
                <a:srgbClr val="FFFFFF"/>
              </a:solidFill>
            </a:endParaRPr>
          </a:p>
        </p:txBody>
      </p:sp>
      <p:sp>
        <p:nvSpPr>
          <p:cNvPr id="595" name="Google Shape;595;p64"/>
          <p:cNvSpPr/>
          <p:nvPr/>
        </p:nvSpPr>
        <p:spPr>
          <a:xfrm>
            <a:off x="388625" y="3211610"/>
            <a:ext cx="1328700" cy="382200"/>
          </a:xfrm>
          <a:prstGeom prst="rect">
            <a:avLst/>
          </a:prstGeom>
          <a:solidFill>
            <a:srgbClr val="0E9453"/>
          </a:solidFill>
          <a:ln>
            <a:noFill/>
          </a:ln>
        </p:spPr>
        <p:txBody>
          <a:bodyPr anchorCtr="0" anchor="ctr" bIns="66525" lIns="66525" spcFirstLastPara="1" rIns="66525" wrap="square" tIns="66525">
            <a:noAutofit/>
          </a:bodyPr>
          <a:lstStyle/>
          <a:p>
            <a:pPr indent="0" lvl="0" marL="0" rtl="0" algn="ctr">
              <a:spcBef>
                <a:spcPts val="0"/>
              </a:spcBef>
              <a:spcAft>
                <a:spcPts val="0"/>
              </a:spcAft>
              <a:buNone/>
            </a:pPr>
            <a:r>
              <a:rPr lang="en" sz="728">
                <a:solidFill>
                  <a:srgbClr val="FFFFFF"/>
                </a:solidFill>
                <a:latin typeface="Roboto"/>
                <a:ea typeface="Roboto"/>
                <a:cs typeface="Roboto"/>
                <a:sym typeface="Roboto"/>
              </a:rPr>
              <a:t>Quotes</a:t>
            </a:r>
            <a:endParaRPr sz="1019">
              <a:solidFill>
                <a:srgbClr val="FFFFFF"/>
              </a:solidFill>
            </a:endParaRPr>
          </a:p>
        </p:txBody>
      </p:sp>
      <p:cxnSp>
        <p:nvCxnSpPr>
          <p:cNvPr id="596" name="Google Shape;596;p64"/>
          <p:cNvCxnSpPr>
            <a:stCxn id="589" idx="0"/>
            <a:endCxn id="591" idx="2"/>
          </p:cNvCxnSpPr>
          <p:nvPr/>
        </p:nvCxnSpPr>
        <p:spPr>
          <a:xfrm rot="10800000">
            <a:off x="4584710" y="1931997"/>
            <a:ext cx="300" cy="108000"/>
          </a:xfrm>
          <a:prstGeom prst="straightConnector1">
            <a:avLst/>
          </a:prstGeom>
          <a:noFill/>
          <a:ln cap="flat" cmpd="sng" w="9525">
            <a:solidFill>
              <a:srgbClr val="C2C2C2"/>
            </a:solidFill>
            <a:prstDash val="solid"/>
            <a:round/>
            <a:headEnd len="sm" w="sm" type="none"/>
            <a:tailEnd len="sm" w="sm" type="none"/>
          </a:ln>
        </p:spPr>
      </p:cxnSp>
      <p:cxnSp>
        <p:nvCxnSpPr>
          <p:cNvPr id="597" name="Google Shape;597;p64"/>
          <p:cNvCxnSpPr>
            <a:stCxn id="590" idx="0"/>
            <a:endCxn id="589" idx="2"/>
          </p:cNvCxnSpPr>
          <p:nvPr/>
        </p:nvCxnSpPr>
        <p:spPr>
          <a:xfrm rot="-5400000">
            <a:off x="4529643" y="2477518"/>
            <a:ext cx="111300" cy="600"/>
          </a:xfrm>
          <a:prstGeom prst="bentConnector3">
            <a:avLst>
              <a:gd fmla="val 50003" name="adj1"/>
            </a:avLst>
          </a:prstGeom>
          <a:noFill/>
          <a:ln cap="flat" cmpd="sng" w="9525">
            <a:solidFill>
              <a:srgbClr val="C2C2C2"/>
            </a:solidFill>
            <a:prstDash val="solid"/>
            <a:round/>
            <a:headEnd len="sm" w="sm" type="none"/>
            <a:tailEnd len="sm" w="sm" type="none"/>
          </a:ln>
        </p:spPr>
      </p:cxnSp>
      <p:cxnSp>
        <p:nvCxnSpPr>
          <p:cNvPr id="598" name="Google Shape;598;p64"/>
          <p:cNvCxnSpPr>
            <a:stCxn id="590" idx="2"/>
            <a:endCxn id="594" idx="0"/>
          </p:cNvCxnSpPr>
          <p:nvPr/>
        </p:nvCxnSpPr>
        <p:spPr>
          <a:xfrm rot="5400000">
            <a:off x="4088943" y="2715418"/>
            <a:ext cx="295800" cy="696300"/>
          </a:xfrm>
          <a:prstGeom prst="bentConnector3">
            <a:avLst>
              <a:gd fmla="val 49992" name="adj1"/>
            </a:avLst>
          </a:prstGeom>
          <a:noFill/>
          <a:ln cap="flat" cmpd="sng" w="9525">
            <a:solidFill>
              <a:srgbClr val="C2C2C2"/>
            </a:solidFill>
            <a:prstDash val="solid"/>
            <a:round/>
            <a:headEnd len="sm" w="sm" type="none"/>
            <a:tailEnd len="sm" w="sm" type="none"/>
          </a:ln>
        </p:spPr>
      </p:cxnSp>
      <p:cxnSp>
        <p:nvCxnSpPr>
          <p:cNvPr id="599" name="Google Shape;599;p64"/>
          <p:cNvCxnSpPr>
            <a:stCxn id="595" idx="0"/>
            <a:endCxn id="590" idx="2"/>
          </p:cNvCxnSpPr>
          <p:nvPr/>
        </p:nvCxnSpPr>
        <p:spPr>
          <a:xfrm rot="-5400000">
            <a:off x="2671025" y="1297760"/>
            <a:ext cx="295800" cy="3531900"/>
          </a:xfrm>
          <a:prstGeom prst="bentConnector3">
            <a:avLst>
              <a:gd fmla="val 50024" name="adj1"/>
            </a:avLst>
          </a:prstGeom>
          <a:noFill/>
          <a:ln cap="flat" cmpd="sng" w="9525">
            <a:solidFill>
              <a:srgbClr val="C2C2C2"/>
            </a:solidFill>
            <a:prstDash val="solid"/>
            <a:round/>
            <a:headEnd len="sm" w="sm" type="none"/>
            <a:tailEnd len="sm" w="sm" type="none"/>
          </a:ln>
        </p:spPr>
      </p:cxnSp>
      <p:cxnSp>
        <p:nvCxnSpPr>
          <p:cNvPr id="600" name="Google Shape;600;p64"/>
          <p:cNvCxnSpPr>
            <a:stCxn id="592" idx="0"/>
            <a:endCxn id="590" idx="2"/>
          </p:cNvCxnSpPr>
          <p:nvPr/>
        </p:nvCxnSpPr>
        <p:spPr>
          <a:xfrm flipH="1" rot="5400000">
            <a:off x="6241208" y="1259510"/>
            <a:ext cx="295800" cy="3608400"/>
          </a:xfrm>
          <a:prstGeom prst="bentConnector3">
            <a:avLst>
              <a:gd fmla="val 50024" name="adj1"/>
            </a:avLst>
          </a:prstGeom>
          <a:noFill/>
          <a:ln cap="flat" cmpd="sng" w="9525">
            <a:solidFill>
              <a:srgbClr val="C2C2C2"/>
            </a:solidFill>
            <a:prstDash val="solid"/>
            <a:round/>
            <a:headEnd len="sm" w="sm" type="none"/>
            <a:tailEnd len="sm" w="sm" type="none"/>
          </a:ln>
        </p:spPr>
      </p:cxnSp>
      <p:cxnSp>
        <p:nvCxnSpPr>
          <p:cNvPr id="601" name="Google Shape;601;p64"/>
          <p:cNvCxnSpPr>
            <a:stCxn id="590" idx="2"/>
            <a:endCxn id="593" idx="0"/>
          </p:cNvCxnSpPr>
          <p:nvPr/>
        </p:nvCxnSpPr>
        <p:spPr>
          <a:xfrm flipH="1" rot="-5400000">
            <a:off x="4819143" y="2681518"/>
            <a:ext cx="295800" cy="764100"/>
          </a:xfrm>
          <a:prstGeom prst="bentConnector3">
            <a:avLst>
              <a:gd fmla="val 50024" name="adj1"/>
            </a:avLst>
          </a:prstGeom>
          <a:noFill/>
          <a:ln cap="flat" cmpd="sng" w="9525">
            <a:solidFill>
              <a:srgbClr val="C2C2C2"/>
            </a:solidFill>
            <a:prstDash val="solid"/>
            <a:round/>
            <a:headEnd len="sm" w="sm" type="none"/>
            <a:tailEnd len="sm" w="sm" type="none"/>
          </a:ln>
        </p:spPr>
      </p:cxnSp>
      <p:sp>
        <p:nvSpPr>
          <p:cNvPr id="602" name="Google Shape;602;p64"/>
          <p:cNvSpPr/>
          <p:nvPr/>
        </p:nvSpPr>
        <p:spPr>
          <a:xfrm>
            <a:off x="1806554" y="3211610"/>
            <a:ext cx="1328700" cy="382200"/>
          </a:xfrm>
          <a:prstGeom prst="rect">
            <a:avLst/>
          </a:prstGeom>
          <a:solidFill>
            <a:srgbClr val="0E9453"/>
          </a:solidFill>
          <a:ln>
            <a:noFill/>
          </a:ln>
        </p:spPr>
        <p:txBody>
          <a:bodyPr anchorCtr="0" anchor="ctr" bIns="66525" lIns="66525" spcFirstLastPara="1" rIns="66525" wrap="square" tIns="66525">
            <a:noAutofit/>
          </a:bodyPr>
          <a:lstStyle/>
          <a:p>
            <a:pPr indent="0" lvl="0" marL="0" rtl="0" algn="ctr">
              <a:spcBef>
                <a:spcPts val="0"/>
              </a:spcBef>
              <a:spcAft>
                <a:spcPts val="0"/>
              </a:spcAft>
              <a:buNone/>
            </a:pPr>
            <a:r>
              <a:rPr lang="en" sz="728">
                <a:solidFill>
                  <a:srgbClr val="FFFFFF"/>
                </a:solidFill>
                <a:latin typeface="Roboto"/>
                <a:ea typeface="Roboto"/>
                <a:cs typeface="Roboto"/>
                <a:sym typeface="Roboto"/>
              </a:rPr>
              <a:t>Communications</a:t>
            </a:r>
            <a:endParaRPr sz="1019">
              <a:solidFill>
                <a:srgbClr val="FFFFFF"/>
              </a:solidFill>
            </a:endParaRPr>
          </a:p>
        </p:txBody>
      </p:sp>
      <p:sp>
        <p:nvSpPr>
          <p:cNvPr id="603" name="Google Shape;603;p64"/>
          <p:cNvSpPr/>
          <p:nvPr/>
        </p:nvSpPr>
        <p:spPr>
          <a:xfrm>
            <a:off x="6106829" y="3211610"/>
            <a:ext cx="1328700" cy="382200"/>
          </a:xfrm>
          <a:prstGeom prst="rect">
            <a:avLst/>
          </a:prstGeom>
          <a:solidFill>
            <a:srgbClr val="0E9453"/>
          </a:solidFill>
          <a:ln>
            <a:noFill/>
          </a:ln>
        </p:spPr>
        <p:txBody>
          <a:bodyPr anchorCtr="0" anchor="ctr" bIns="66525" lIns="66525" spcFirstLastPara="1" rIns="66525" wrap="square" tIns="66525">
            <a:noAutofit/>
          </a:bodyPr>
          <a:lstStyle/>
          <a:p>
            <a:pPr indent="0" lvl="0" marL="0" rtl="0" algn="ctr">
              <a:spcBef>
                <a:spcPts val="0"/>
              </a:spcBef>
              <a:spcAft>
                <a:spcPts val="0"/>
              </a:spcAft>
              <a:buNone/>
            </a:pPr>
            <a:r>
              <a:rPr lang="en" sz="728">
                <a:solidFill>
                  <a:srgbClr val="FFFFFF"/>
                </a:solidFill>
                <a:latin typeface="Roboto"/>
                <a:ea typeface="Roboto"/>
                <a:cs typeface="Roboto"/>
                <a:sym typeface="Roboto"/>
              </a:rPr>
              <a:t>Documents Storage</a:t>
            </a:r>
            <a:endParaRPr sz="1019">
              <a:solidFill>
                <a:srgbClr val="FFFFFF"/>
              </a:solidFill>
            </a:endParaRPr>
          </a:p>
        </p:txBody>
      </p:sp>
      <p:sp>
        <p:nvSpPr>
          <p:cNvPr id="604" name="Google Shape;604;p64"/>
          <p:cNvSpPr/>
          <p:nvPr/>
        </p:nvSpPr>
        <p:spPr>
          <a:xfrm>
            <a:off x="3920941" y="3889735"/>
            <a:ext cx="1328700" cy="382200"/>
          </a:xfrm>
          <a:prstGeom prst="rect">
            <a:avLst/>
          </a:prstGeom>
          <a:solidFill>
            <a:srgbClr val="0E9453"/>
          </a:solidFill>
          <a:ln>
            <a:noFill/>
          </a:ln>
        </p:spPr>
        <p:txBody>
          <a:bodyPr anchorCtr="0" anchor="ctr" bIns="66525" lIns="66525" spcFirstLastPara="1" rIns="66525" wrap="square" tIns="66525">
            <a:noAutofit/>
          </a:bodyPr>
          <a:lstStyle/>
          <a:p>
            <a:pPr indent="0" lvl="0" marL="0" rtl="0" algn="ctr">
              <a:spcBef>
                <a:spcPts val="0"/>
              </a:spcBef>
              <a:spcAft>
                <a:spcPts val="0"/>
              </a:spcAft>
              <a:buNone/>
            </a:pPr>
            <a:r>
              <a:rPr lang="en" sz="728">
                <a:solidFill>
                  <a:srgbClr val="FFFFFF"/>
                </a:solidFill>
                <a:latin typeface="Roboto"/>
                <a:ea typeface="Roboto"/>
                <a:cs typeface="Roboto"/>
                <a:sym typeface="Roboto"/>
              </a:rPr>
              <a:t>PostgreSQL</a:t>
            </a:r>
            <a:endParaRPr sz="1019">
              <a:solidFill>
                <a:srgbClr val="FFFFFF"/>
              </a:solidFill>
            </a:endParaRPr>
          </a:p>
        </p:txBody>
      </p:sp>
      <p:cxnSp>
        <p:nvCxnSpPr>
          <p:cNvPr id="605" name="Google Shape;605;p64"/>
          <p:cNvCxnSpPr>
            <a:stCxn id="590" idx="2"/>
            <a:endCxn id="602" idx="0"/>
          </p:cNvCxnSpPr>
          <p:nvPr/>
        </p:nvCxnSpPr>
        <p:spPr>
          <a:xfrm rot="5400000">
            <a:off x="3380043" y="2006518"/>
            <a:ext cx="295800" cy="2114100"/>
          </a:xfrm>
          <a:prstGeom prst="bentConnector3">
            <a:avLst>
              <a:gd fmla="val 50024" name="adj1"/>
            </a:avLst>
          </a:prstGeom>
          <a:noFill/>
          <a:ln cap="flat" cmpd="sng" w="9525">
            <a:solidFill>
              <a:srgbClr val="C2C2C2"/>
            </a:solidFill>
            <a:prstDash val="solid"/>
            <a:round/>
            <a:headEnd len="sm" w="sm" type="none"/>
            <a:tailEnd len="sm" w="sm" type="none"/>
          </a:ln>
        </p:spPr>
      </p:cxnSp>
      <p:cxnSp>
        <p:nvCxnSpPr>
          <p:cNvPr id="606" name="Google Shape;606;p64"/>
          <p:cNvCxnSpPr>
            <a:stCxn id="590" idx="2"/>
            <a:endCxn id="603" idx="0"/>
          </p:cNvCxnSpPr>
          <p:nvPr/>
        </p:nvCxnSpPr>
        <p:spPr>
          <a:xfrm flipH="1" rot="-5400000">
            <a:off x="5530143" y="1970518"/>
            <a:ext cx="295800" cy="2186100"/>
          </a:xfrm>
          <a:prstGeom prst="bentConnector3">
            <a:avLst>
              <a:gd fmla="val 50024" name="adj1"/>
            </a:avLst>
          </a:prstGeom>
          <a:noFill/>
          <a:ln cap="flat" cmpd="sng" w="9525">
            <a:solidFill>
              <a:srgbClr val="C2C2C2"/>
            </a:solidFill>
            <a:prstDash val="solid"/>
            <a:round/>
            <a:headEnd len="sm" w="sm" type="none"/>
            <a:tailEnd len="sm" w="sm" type="none"/>
          </a:ln>
        </p:spPr>
      </p:cxnSp>
      <p:cxnSp>
        <p:nvCxnSpPr>
          <p:cNvPr id="607" name="Google Shape;607;p64"/>
          <p:cNvCxnSpPr>
            <a:stCxn id="604" idx="0"/>
            <a:endCxn id="590" idx="2"/>
          </p:cNvCxnSpPr>
          <p:nvPr/>
        </p:nvCxnSpPr>
        <p:spPr>
          <a:xfrm rot="-5400000">
            <a:off x="4098541" y="3402385"/>
            <a:ext cx="974100" cy="600"/>
          </a:xfrm>
          <a:prstGeom prst="bentConnector3">
            <a:avLst>
              <a:gd fmla="val 49998" name="adj1"/>
            </a:avLst>
          </a:prstGeom>
          <a:noFill/>
          <a:ln cap="flat" cmpd="sng" w="9525">
            <a:solidFill>
              <a:srgbClr val="C2C2C2"/>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5"/>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Client Risks</a:t>
            </a:r>
            <a:endParaRPr/>
          </a:p>
        </p:txBody>
      </p:sp>
      <p:pic>
        <p:nvPicPr>
          <p:cNvPr id="613" name="Google Shape;613;p65" title="depositphotos_101363144-stock-photo-metaphor-of-business-solution.jpeg"/>
          <p:cNvPicPr preferRelativeResize="0"/>
          <p:nvPr>
            <p:ph idx="2" type="pic"/>
          </p:nvPr>
        </p:nvPicPr>
        <p:blipFill rotWithShape="1">
          <a:blip r:embed="rId4">
            <a:alphaModFix/>
          </a:blip>
          <a:srcRect b="0" l="8187" r="8187" t="0"/>
          <a:stretch/>
        </p:blipFill>
        <p:spPr>
          <a:xfrm>
            <a:off x="6802800" y="0"/>
            <a:ext cx="2341200" cy="1189800"/>
          </a:xfrm>
          <a:prstGeom prst="rect">
            <a:avLst/>
          </a:prstGeom>
        </p:spPr>
      </p:pic>
      <p:sp>
        <p:nvSpPr>
          <p:cNvPr id="614" name="Google Shape;614;p65"/>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615" name="Google Shape;615;p65"/>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616" name="Google Shape;616;p65"/>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CR1</a:t>
                      </a:r>
                      <a:r>
                        <a:rPr lang="en" sz="1100"/>
                        <a:t>: Breach of Client Confidentiality/IP</a:t>
                      </a:r>
                      <a:endParaRPr sz="1100"/>
                    </a:p>
                    <a:p>
                      <a:pPr indent="0" lvl="0" marL="0" rtl="0" algn="l">
                        <a:spcBef>
                          <a:spcPts val="0"/>
                        </a:spcBef>
                        <a:spcAft>
                          <a:spcPts val="0"/>
                        </a:spcAft>
                        <a:buNone/>
                      </a:pPr>
                      <a:r>
                        <a:rPr b="1" lang="en" sz="1100"/>
                        <a:t>CR2</a:t>
                      </a:r>
                      <a:r>
                        <a:rPr lang="en" sz="1100"/>
                        <a:t>: Adoption Friction and </a:t>
                      </a:r>
                      <a:r>
                        <a:rPr lang="en" sz="1100"/>
                        <a:t>Production Error</a:t>
                      </a:r>
                      <a:endParaRPr sz="1100"/>
                    </a:p>
                    <a:p>
                      <a:pPr indent="0" lvl="0" marL="0" rtl="0" algn="l">
                        <a:spcBef>
                          <a:spcPts val="0"/>
                        </a:spcBef>
                        <a:spcAft>
                          <a:spcPts val="0"/>
                        </a:spcAft>
                        <a:buNone/>
                      </a:pPr>
                      <a:r>
                        <a:rPr b="1" lang="en" sz="1100"/>
                        <a:t>CR3</a:t>
                      </a:r>
                      <a:r>
                        <a:rPr lang="en" sz="1100"/>
                        <a:t>: Centralized </a:t>
                      </a:r>
                      <a:r>
                        <a:rPr lang="en" sz="1100"/>
                        <a:t>Service Outages</a:t>
                      </a:r>
                      <a:endParaRPr sz="1100"/>
                    </a:p>
                    <a:p>
                      <a:pPr indent="0" lvl="0" marL="0" rtl="0" algn="l">
                        <a:spcBef>
                          <a:spcPts val="0"/>
                        </a:spcBef>
                        <a:spcAft>
                          <a:spcPts val="0"/>
                        </a:spcAft>
                        <a:buNone/>
                      </a:pPr>
                      <a:r>
                        <a:rPr b="1" lang="en" sz="1100"/>
                        <a:t>CR4</a:t>
                      </a:r>
                      <a:r>
                        <a:rPr lang="en" sz="1100"/>
                        <a:t>: Wrong Information</a:t>
                      </a:r>
                      <a:endParaRPr sz="1100"/>
                    </a:p>
                    <a:p>
                      <a:pPr indent="0" lvl="0" marL="0" rtl="0" algn="l">
                        <a:spcBef>
                          <a:spcPts val="0"/>
                        </a:spcBef>
                        <a:spcAft>
                          <a:spcPts val="0"/>
                        </a:spcAft>
                        <a:buNone/>
                      </a:pPr>
                      <a:r>
                        <a:rPr b="1" lang="en" sz="1100"/>
                        <a:t>CR5</a:t>
                      </a:r>
                      <a:r>
                        <a:rPr lang="en" sz="1100"/>
                        <a:t>: Customer Trust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CM1</a:t>
                      </a:r>
                      <a:r>
                        <a:rPr lang="en" sz="1000"/>
                        <a:t>: </a:t>
                      </a:r>
                      <a:r>
                        <a:rPr lang="en" sz="1000"/>
                        <a:t>Role-based access controls with only need to know data provided break up single point of failure potential. </a:t>
                      </a:r>
                      <a:endParaRPr sz="1000"/>
                    </a:p>
                    <a:p>
                      <a:pPr indent="0" lvl="0" marL="0" rtl="0" algn="l">
                        <a:spcBef>
                          <a:spcPts val="0"/>
                        </a:spcBef>
                        <a:spcAft>
                          <a:spcPts val="0"/>
                        </a:spcAft>
                        <a:buNone/>
                      </a:pPr>
                      <a:r>
                        <a:rPr b="1" lang="en" sz="1000"/>
                        <a:t>CM2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CM3</a:t>
                      </a:r>
                      <a:r>
                        <a:rPr lang="en" sz="1000"/>
                        <a:t>: Local redundancy in infrastructure alongside minimizing need for communication with central database provides tolerance for partial functionality during minor outages.</a:t>
                      </a:r>
                      <a:endParaRPr sz="1000"/>
                    </a:p>
                    <a:p>
                      <a:pPr indent="0" lvl="0" marL="0" rtl="0" algn="l">
                        <a:spcBef>
                          <a:spcPts val="0"/>
                        </a:spcBef>
                        <a:spcAft>
                          <a:spcPts val="0"/>
                        </a:spcAft>
                        <a:buNone/>
                      </a:pPr>
                      <a:r>
                        <a:rPr b="1" lang="en" sz="1000"/>
                        <a:t>CM4</a:t>
                      </a:r>
                      <a:r>
                        <a:rPr lang="en" sz="1000"/>
                        <a:t>: System design emphasizes cohering with reality as provided by the user but prevents entry of known nonsensical data, validation falls to user facilitated by system metrics.</a:t>
                      </a:r>
                      <a:endParaRPr sz="1000"/>
                    </a:p>
                    <a:p>
                      <a:pPr indent="0" lvl="0" marL="0" rtl="0" algn="l">
                        <a:spcBef>
                          <a:spcPts val="0"/>
                        </a:spcBef>
                        <a:spcAft>
                          <a:spcPts val="0"/>
                        </a:spcAft>
                        <a:buNone/>
                      </a:pPr>
                      <a:r>
                        <a:rPr b="1" lang="en" sz="1000"/>
                        <a:t>CM5</a:t>
                      </a:r>
                      <a:r>
                        <a:rPr lang="en" sz="1000"/>
                        <a:t>: Emphasis on transparent and continuing dialogue between development and domain clients gradually handing off to client tools to self-maintain workflows.</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617" name="Google Shape;617;p65"/>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618" name="Google Shape;618;p65"/>
          <p:cNvSpPr txBox="1"/>
          <p:nvPr/>
        </p:nvSpPr>
        <p:spPr>
          <a:xfrm>
            <a:off x="4307063" y="3399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a:t>
            </a:r>
            <a:r>
              <a:rPr b="1" lang="en" sz="1100"/>
              <a:t>R1</a:t>
            </a:r>
            <a:endParaRPr sz="1200">
              <a:solidFill>
                <a:schemeClr val="lt1"/>
              </a:solidFill>
              <a:latin typeface="Lato"/>
              <a:ea typeface="Lato"/>
              <a:cs typeface="Lato"/>
              <a:sym typeface="Lato"/>
            </a:endParaRPr>
          </a:p>
        </p:txBody>
      </p:sp>
      <p:sp>
        <p:nvSpPr>
          <p:cNvPr id="619" name="Google Shape;619;p65"/>
          <p:cNvSpPr txBox="1"/>
          <p:nvPr/>
        </p:nvSpPr>
        <p:spPr>
          <a:xfrm>
            <a:off x="3764875"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CR2</a:t>
            </a:r>
            <a:endParaRPr sz="1200">
              <a:solidFill>
                <a:srgbClr val="B7B7B7"/>
              </a:solidFill>
              <a:latin typeface="Lato"/>
              <a:ea typeface="Lato"/>
              <a:cs typeface="Lato"/>
              <a:sym typeface="Lato"/>
            </a:endParaRPr>
          </a:p>
        </p:txBody>
      </p:sp>
      <p:sp>
        <p:nvSpPr>
          <p:cNvPr id="620" name="Google Shape;620;p65"/>
          <p:cNvSpPr txBox="1"/>
          <p:nvPr/>
        </p:nvSpPr>
        <p:spPr>
          <a:xfrm>
            <a:off x="3439900" y="27335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CR3</a:t>
            </a:r>
            <a:endParaRPr sz="1200">
              <a:solidFill>
                <a:srgbClr val="B7B7B7"/>
              </a:solidFill>
              <a:latin typeface="Lato"/>
              <a:ea typeface="Lato"/>
              <a:cs typeface="Lato"/>
              <a:sym typeface="Lato"/>
            </a:endParaRPr>
          </a:p>
        </p:txBody>
      </p:sp>
      <p:sp>
        <p:nvSpPr>
          <p:cNvPr id="621" name="Google Shape;621;p65"/>
          <p:cNvSpPr txBox="1"/>
          <p:nvPr/>
        </p:nvSpPr>
        <p:spPr>
          <a:xfrm>
            <a:off x="3673050"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CR4</a:t>
            </a:r>
            <a:endParaRPr sz="1200">
              <a:solidFill>
                <a:srgbClr val="B7B7B7"/>
              </a:solidFill>
              <a:latin typeface="Lato"/>
              <a:ea typeface="Lato"/>
              <a:cs typeface="Lato"/>
              <a:sym typeface="Lato"/>
            </a:endParaRPr>
          </a:p>
        </p:txBody>
      </p:sp>
      <p:sp>
        <p:nvSpPr>
          <p:cNvPr id="622" name="Google Shape;622;p65"/>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CR5</a:t>
            </a:r>
            <a:endParaRPr sz="1200">
              <a:solidFill>
                <a:srgbClr val="B7B7B7"/>
              </a:solidFill>
              <a:latin typeface="Lato"/>
              <a:ea typeface="Lato"/>
              <a:cs typeface="Lato"/>
              <a:sym typeface="Lato"/>
            </a:endParaRPr>
          </a:p>
        </p:txBody>
      </p:sp>
      <p:sp>
        <p:nvSpPr>
          <p:cNvPr id="623" name="Google Shape;623;p65"/>
          <p:cNvSpPr txBox="1"/>
          <p:nvPr/>
        </p:nvSpPr>
        <p:spPr>
          <a:xfrm>
            <a:off x="3485088"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CM1</a:t>
            </a:r>
            <a:endParaRPr sz="1200">
              <a:solidFill>
                <a:schemeClr val="l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6"/>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Client Risks</a:t>
            </a:r>
            <a:endParaRPr/>
          </a:p>
        </p:txBody>
      </p:sp>
      <p:pic>
        <p:nvPicPr>
          <p:cNvPr id="629" name="Google Shape;629;p66"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630" name="Google Shape;630;p66"/>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cxnSp>
        <p:nvCxnSpPr>
          <p:cNvPr id="631" name="Google Shape;631;p66"/>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632" name="Google Shape;632;p66"/>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CR1</a:t>
                      </a:r>
                      <a:r>
                        <a:rPr lang="en" sz="1100"/>
                        <a:t>: Breach of Client Confidentiality/IP</a:t>
                      </a:r>
                      <a:endParaRPr sz="1100"/>
                    </a:p>
                    <a:p>
                      <a:pPr indent="0" lvl="0" marL="0" rtl="0" algn="l">
                        <a:spcBef>
                          <a:spcPts val="0"/>
                        </a:spcBef>
                        <a:spcAft>
                          <a:spcPts val="0"/>
                        </a:spcAft>
                        <a:buNone/>
                      </a:pPr>
                      <a:r>
                        <a:rPr b="1" lang="en" sz="1100"/>
                        <a:t>CR2</a:t>
                      </a:r>
                      <a:r>
                        <a:rPr lang="en" sz="1100"/>
                        <a:t>: Adoption Friction and Production Error</a:t>
                      </a:r>
                      <a:endParaRPr sz="1100"/>
                    </a:p>
                    <a:p>
                      <a:pPr indent="0" lvl="0" marL="0" rtl="0" algn="l">
                        <a:spcBef>
                          <a:spcPts val="0"/>
                        </a:spcBef>
                        <a:spcAft>
                          <a:spcPts val="0"/>
                        </a:spcAft>
                        <a:buNone/>
                      </a:pPr>
                      <a:r>
                        <a:rPr b="1" lang="en" sz="1100"/>
                        <a:t>CR3</a:t>
                      </a:r>
                      <a:r>
                        <a:rPr lang="en" sz="1100"/>
                        <a:t>: Centralized Service Outages</a:t>
                      </a:r>
                      <a:endParaRPr sz="1100"/>
                    </a:p>
                    <a:p>
                      <a:pPr indent="0" lvl="0" marL="0" rtl="0" algn="l">
                        <a:spcBef>
                          <a:spcPts val="0"/>
                        </a:spcBef>
                        <a:spcAft>
                          <a:spcPts val="0"/>
                        </a:spcAft>
                        <a:buNone/>
                      </a:pPr>
                      <a:r>
                        <a:rPr b="1" lang="en" sz="1100"/>
                        <a:t>CR4</a:t>
                      </a:r>
                      <a:r>
                        <a:rPr lang="en" sz="1100"/>
                        <a:t>: Wrong Information</a:t>
                      </a:r>
                      <a:endParaRPr sz="1100"/>
                    </a:p>
                    <a:p>
                      <a:pPr indent="0" lvl="0" marL="0" rtl="0" algn="l">
                        <a:spcBef>
                          <a:spcPts val="0"/>
                        </a:spcBef>
                        <a:spcAft>
                          <a:spcPts val="0"/>
                        </a:spcAft>
                        <a:buNone/>
                      </a:pPr>
                      <a:r>
                        <a:rPr b="1" lang="en" sz="1100"/>
                        <a:t>CR5</a:t>
                      </a:r>
                      <a:r>
                        <a:rPr lang="en" sz="1100"/>
                        <a:t>: Customer Trust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CM1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CM2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CM3</a:t>
                      </a:r>
                      <a:r>
                        <a:rPr lang="en" sz="1000"/>
                        <a:t>: Local redundancy in infrastructure alongside minimizing need for communication with central database provides tolerance for partial functionality during minor outages.</a:t>
                      </a:r>
                      <a:endParaRPr sz="1000"/>
                    </a:p>
                    <a:p>
                      <a:pPr indent="0" lvl="0" marL="0" rtl="0" algn="l">
                        <a:spcBef>
                          <a:spcPts val="0"/>
                        </a:spcBef>
                        <a:spcAft>
                          <a:spcPts val="0"/>
                        </a:spcAft>
                        <a:buNone/>
                      </a:pPr>
                      <a:r>
                        <a:rPr b="1" lang="en" sz="1000"/>
                        <a:t>CM4</a:t>
                      </a:r>
                      <a:r>
                        <a:rPr lang="en" sz="1000"/>
                        <a:t>: System design emphasizes cohering with reality as provided by the user but prevents entry of known nonsensical data, validation falls to user facilitated by system metrics.</a:t>
                      </a:r>
                      <a:endParaRPr sz="1000"/>
                    </a:p>
                    <a:p>
                      <a:pPr indent="0" lvl="0" marL="0" rtl="0" algn="l">
                        <a:spcBef>
                          <a:spcPts val="0"/>
                        </a:spcBef>
                        <a:spcAft>
                          <a:spcPts val="0"/>
                        </a:spcAft>
                        <a:buNone/>
                      </a:pPr>
                      <a:r>
                        <a:rPr b="1" lang="en" sz="1000"/>
                        <a:t>CM5</a:t>
                      </a:r>
                      <a:r>
                        <a:rPr lang="en" sz="1000"/>
                        <a:t>: Emphasis on transparent and continuing dialogue between development and domain clients gradually handing off to client tools to self-maintain workflows.</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633" name="Google Shape;633;p66"/>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634" name="Google Shape;634;p66"/>
          <p:cNvSpPr txBox="1"/>
          <p:nvPr/>
        </p:nvSpPr>
        <p:spPr>
          <a:xfrm>
            <a:off x="4307063" y="3399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CR1</a:t>
            </a:r>
            <a:endParaRPr sz="1200">
              <a:solidFill>
                <a:schemeClr val="lt1"/>
              </a:solidFill>
              <a:latin typeface="Lato"/>
              <a:ea typeface="Lato"/>
              <a:cs typeface="Lato"/>
              <a:sym typeface="Lato"/>
            </a:endParaRPr>
          </a:p>
        </p:txBody>
      </p:sp>
      <p:sp>
        <p:nvSpPr>
          <p:cNvPr id="635" name="Google Shape;635;p66"/>
          <p:cNvSpPr txBox="1"/>
          <p:nvPr/>
        </p:nvSpPr>
        <p:spPr>
          <a:xfrm>
            <a:off x="3764875"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CR2</a:t>
            </a:r>
            <a:endParaRPr sz="1200">
              <a:solidFill>
                <a:srgbClr val="B7B7B7"/>
              </a:solidFill>
              <a:latin typeface="Lato"/>
              <a:ea typeface="Lato"/>
              <a:cs typeface="Lato"/>
              <a:sym typeface="Lato"/>
            </a:endParaRPr>
          </a:p>
        </p:txBody>
      </p:sp>
      <p:sp>
        <p:nvSpPr>
          <p:cNvPr id="636" name="Google Shape;636;p66"/>
          <p:cNvSpPr txBox="1"/>
          <p:nvPr/>
        </p:nvSpPr>
        <p:spPr>
          <a:xfrm>
            <a:off x="3439900" y="27335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CR3</a:t>
            </a:r>
            <a:endParaRPr sz="1200">
              <a:solidFill>
                <a:srgbClr val="B7B7B7"/>
              </a:solidFill>
              <a:latin typeface="Lato"/>
              <a:ea typeface="Lato"/>
              <a:cs typeface="Lato"/>
              <a:sym typeface="Lato"/>
            </a:endParaRPr>
          </a:p>
        </p:txBody>
      </p:sp>
      <p:sp>
        <p:nvSpPr>
          <p:cNvPr id="637" name="Google Shape;637;p66"/>
          <p:cNvSpPr txBox="1"/>
          <p:nvPr/>
        </p:nvSpPr>
        <p:spPr>
          <a:xfrm>
            <a:off x="3673050"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CR4</a:t>
            </a:r>
            <a:endParaRPr sz="1200">
              <a:solidFill>
                <a:srgbClr val="B7B7B7"/>
              </a:solidFill>
              <a:latin typeface="Lato"/>
              <a:ea typeface="Lato"/>
              <a:cs typeface="Lato"/>
              <a:sym typeface="Lato"/>
            </a:endParaRPr>
          </a:p>
        </p:txBody>
      </p:sp>
      <p:sp>
        <p:nvSpPr>
          <p:cNvPr id="638" name="Google Shape;638;p66"/>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CR5</a:t>
            </a:r>
            <a:endParaRPr sz="1200">
              <a:solidFill>
                <a:srgbClr val="B7B7B7"/>
              </a:solidFill>
              <a:latin typeface="Lato"/>
              <a:ea typeface="Lato"/>
              <a:cs typeface="Lato"/>
              <a:sym typeface="Lato"/>
            </a:endParaRPr>
          </a:p>
        </p:txBody>
      </p:sp>
      <p:sp>
        <p:nvSpPr>
          <p:cNvPr id="639" name="Google Shape;639;p66"/>
          <p:cNvSpPr txBox="1"/>
          <p:nvPr/>
        </p:nvSpPr>
        <p:spPr>
          <a:xfrm>
            <a:off x="3485088"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CM1</a:t>
            </a:r>
            <a:endParaRPr sz="1200">
              <a:latin typeface="Lato"/>
              <a:ea typeface="Lato"/>
              <a:cs typeface="Lato"/>
              <a:sym typeface="Lato"/>
            </a:endParaRPr>
          </a:p>
        </p:txBody>
      </p:sp>
      <p:cxnSp>
        <p:nvCxnSpPr>
          <p:cNvPr id="640" name="Google Shape;640;p66"/>
          <p:cNvCxnSpPr/>
          <p:nvPr/>
        </p:nvCxnSpPr>
        <p:spPr>
          <a:xfrm flipH="1">
            <a:off x="3769788" y="3685175"/>
            <a:ext cx="800100" cy="2958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7"/>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Client Risks</a:t>
            </a:r>
            <a:endParaRPr/>
          </a:p>
        </p:txBody>
      </p:sp>
      <p:pic>
        <p:nvPicPr>
          <p:cNvPr id="646" name="Google Shape;646;p67"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647" name="Google Shape;647;p67"/>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cxnSp>
        <p:nvCxnSpPr>
          <p:cNvPr id="648" name="Google Shape;648;p67"/>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649" name="Google Shape;649;p67"/>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CR1</a:t>
                      </a:r>
                      <a:r>
                        <a:rPr lang="en" sz="1100"/>
                        <a:t>: Breach of Client Confidentiality/IP</a:t>
                      </a:r>
                      <a:endParaRPr sz="1100"/>
                    </a:p>
                    <a:p>
                      <a:pPr indent="0" lvl="0" marL="0" rtl="0" algn="l">
                        <a:spcBef>
                          <a:spcPts val="0"/>
                        </a:spcBef>
                        <a:spcAft>
                          <a:spcPts val="0"/>
                        </a:spcAft>
                        <a:buNone/>
                      </a:pPr>
                      <a:r>
                        <a:rPr b="1" lang="en" sz="1100"/>
                        <a:t>CR2</a:t>
                      </a:r>
                      <a:r>
                        <a:rPr lang="en" sz="1100"/>
                        <a:t>: Adoption Friction and Production Error</a:t>
                      </a:r>
                      <a:endParaRPr sz="1100"/>
                    </a:p>
                    <a:p>
                      <a:pPr indent="0" lvl="0" marL="0" rtl="0" algn="l">
                        <a:spcBef>
                          <a:spcPts val="0"/>
                        </a:spcBef>
                        <a:spcAft>
                          <a:spcPts val="0"/>
                        </a:spcAft>
                        <a:buNone/>
                      </a:pPr>
                      <a:r>
                        <a:rPr b="1" lang="en" sz="1100"/>
                        <a:t>CR3</a:t>
                      </a:r>
                      <a:r>
                        <a:rPr lang="en" sz="1100"/>
                        <a:t>: Centralized Service Outages</a:t>
                      </a:r>
                      <a:endParaRPr sz="1100"/>
                    </a:p>
                    <a:p>
                      <a:pPr indent="0" lvl="0" marL="0" rtl="0" algn="l">
                        <a:spcBef>
                          <a:spcPts val="0"/>
                        </a:spcBef>
                        <a:spcAft>
                          <a:spcPts val="0"/>
                        </a:spcAft>
                        <a:buNone/>
                      </a:pPr>
                      <a:r>
                        <a:rPr b="1" lang="en" sz="1100"/>
                        <a:t>CR4</a:t>
                      </a:r>
                      <a:r>
                        <a:rPr lang="en" sz="1100"/>
                        <a:t>: Wrong Information</a:t>
                      </a:r>
                      <a:endParaRPr sz="1100"/>
                    </a:p>
                    <a:p>
                      <a:pPr indent="0" lvl="0" marL="0" rtl="0" algn="l">
                        <a:spcBef>
                          <a:spcPts val="0"/>
                        </a:spcBef>
                        <a:spcAft>
                          <a:spcPts val="0"/>
                        </a:spcAft>
                        <a:buNone/>
                      </a:pPr>
                      <a:r>
                        <a:rPr b="1" lang="en" sz="1100"/>
                        <a:t>CR5</a:t>
                      </a:r>
                      <a:r>
                        <a:rPr lang="en" sz="1100"/>
                        <a:t>: Customer Trust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CM1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CM2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CM3</a:t>
                      </a:r>
                      <a:r>
                        <a:rPr lang="en" sz="1000"/>
                        <a:t>: Local redundancy in infrastructure alongside minimizing need for communication with central database provides tolerance for partial functionality during minor outages.</a:t>
                      </a:r>
                      <a:endParaRPr sz="1000"/>
                    </a:p>
                    <a:p>
                      <a:pPr indent="0" lvl="0" marL="0" rtl="0" algn="l">
                        <a:spcBef>
                          <a:spcPts val="0"/>
                        </a:spcBef>
                        <a:spcAft>
                          <a:spcPts val="0"/>
                        </a:spcAft>
                        <a:buNone/>
                      </a:pPr>
                      <a:r>
                        <a:rPr b="1" lang="en" sz="1000"/>
                        <a:t>CM4</a:t>
                      </a:r>
                      <a:r>
                        <a:rPr lang="en" sz="1000"/>
                        <a:t>: System design emphasizes cohering with reality as provided by the user but prevents entry of known nonsensical data, validation falls to user facilitated by system metrics.</a:t>
                      </a:r>
                      <a:endParaRPr sz="1000"/>
                    </a:p>
                    <a:p>
                      <a:pPr indent="0" lvl="0" marL="0" rtl="0" algn="l">
                        <a:spcBef>
                          <a:spcPts val="0"/>
                        </a:spcBef>
                        <a:spcAft>
                          <a:spcPts val="0"/>
                        </a:spcAft>
                        <a:buNone/>
                      </a:pPr>
                      <a:r>
                        <a:rPr b="1" lang="en" sz="1000"/>
                        <a:t>CM5</a:t>
                      </a:r>
                      <a:r>
                        <a:rPr lang="en" sz="1000"/>
                        <a:t>: Emphasis on transparent and continuing dialogue between development and domain clients gradually handing off to client tools to self-maintain workflows.</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650" name="Google Shape;650;p67"/>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651" name="Google Shape;651;p67"/>
          <p:cNvSpPr txBox="1"/>
          <p:nvPr/>
        </p:nvSpPr>
        <p:spPr>
          <a:xfrm>
            <a:off x="4307063" y="3399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CR1</a:t>
            </a:r>
            <a:endParaRPr sz="1200">
              <a:solidFill>
                <a:srgbClr val="B7B7B7"/>
              </a:solidFill>
              <a:latin typeface="Lato"/>
              <a:ea typeface="Lato"/>
              <a:cs typeface="Lato"/>
              <a:sym typeface="Lato"/>
            </a:endParaRPr>
          </a:p>
        </p:txBody>
      </p:sp>
      <p:sp>
        <p:nvSpPr>
          <p:cNvPr id="652" name="Google Shape;652;p67"/>
          <p:cNvSpPr txBox="1"/>
          <p:nvPr/>
        </p:nvSpPr>
        <p:spPr>
          <a:xfrm>
            <a:off x="3764875"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lt1"/>
                </a:solidFill>
              </a:rPr>
              <a:t>CR2</a:t>
            </a:r>
            <a:endParaRPr sz="1200">
              <a:latin typeface="Lato"/>
              <a:ea typeface="Lato"/>
              <a:cs typeface="Lato"/>
              <a:sym typeface="Lato"/>
            </a:endParaRPr>
          </a:p>
        </p:txBody>
      </p:sp>
      <p:sp>
        <p:nvSpPr>
          <p:cNvPr id="653" name="Google Shape;653;p67"/>
          <p:cNvSpPr txBox="1"/>
          <p:nvPr/>
        </p:nvSpPr>
        <p:spPr>
          <a:xfrm>
            <a:off x="3439900" y="27335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CR3</a:t>
            </a:r>
            <a:endParaRPr sz="1200">
              <a:solidFill>
                <a:srgbClr val="B7B7B7"/>
              </a:solidFill>
              <a:latin typeface="Lato"/>
              <a:ea typeface="Lato"/>
              <a:cs typeface="Lato"/>
              <a:sym typeface="Lato"/>
            </a:endParaRPr>
          </a:p>
        </p:txBody>
      </p:sp>
      <p:sp>
        <p:nvSpPr>
          <p:cNvPr id="654" name="Google Shape;654;p67"/>
          <p:cNvSpPr txBox="1"/>
          <p:nvPr/>
        </p:nvSpPr>
        <p:spPr>
          <a:xfrm>
            <a:off x="3673050"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CR4</a:t>
            </a:r>
            <a:endParaRPr sz="1200">
              <a:solidFill>
                <a:srgbClr val="B7B7B7"/>
              </a:solidFill>
              <a:latin typeface="Lato"/>
              <a:ea typeface="Lato"/>
              <a:cs typeface="Lato"/>
              <a:sym typeface="Lato"/>
            </a:endParaRPr>
          </a:p>
        </p:txBody>
      </p:sp>
      <p:sp>
        <p:nvSpPr>
          <p:cNvPr id="655" name="Google Shape;655;p67"/>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CR5</a:t>
            </a:r>
            <a:endParaRPr sz="1200">
              <a:solidFill>
                <a:srgbClr val="B7B7B7"/>
              </a:solidFill>
              <a:latin typeface="Lato"/>
              <a:ea typeface="Lato"/>
              <a:cs typeface="Lato"/>
              <a:sym typeface="Lato"/>
            </a:endParaRPr>
          </a:p>
        </p:txBody>
      </p:sp>
      <p:sp>
        <p:nvSpPr>
          <p:cNvPr id="656" name="Google Shape;656;p67"/>
          <p:cNvSpPr txBox="1"/>
          <p:nvPr/>
        </p:nvSpPr>
        <p:spPr>
          <a:xfrm>
            <a:off x="2869950"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CM2</a:t>
            </a:r>
            <a:endParaRPr sz="1200">
              <a:solidFill>
                <a:schemeClr val="lt1"/>
              </a:solidFill>
              <a:latin typeface="Lato"/>
              <a:ea typeface="Lato"/>
              <a:cs typeface="Lato"/>
              <a:sym typeface="Lato"/>
            </a:endParaRPr>
          </a:p>
        </p:txBody>
      </p:sp>
      <p:sp>
        <p:nvSpPr>
          <p:cNvPr id="657" name="Google Shape;657;p67"/>
          <p:cNvSpPr txBox="1"/>
          <p:nvPr/>
        </p:nvSpPr>
        <p:spPr>
          <a:xfrm>
            <a:off x="3485088"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CM1</a:t>
            </a:r>
            <a:endParaRPr sz="1200">
              <a:solidFill>
                <a:srgbClr val="B7B7B7"/>
              </a:solidFill>
              <a:latin typeface="Lato"/>
              <a:ea typeface="Lato"/>
              <a:cs typeface="Lato"/>
              <a:sym typeface="Lato"/>
            </a:endParaRPr>
          </a:p>
        </p:txBody>
      </p:sp>
      <p:cxnSp>
        <p:nvCxnSpPr>
          <p:cNvPr id="658" name="Google Shape;658;p67"/>
          <p:cNvCxnSpPr>
            <a:endCxn id="657" idx="0"/>
          </p:cNvCxnSpPr>
          <p:nvPr/>
        </p:nvCxnSpPr>
        <p:spPr>
          <a:xfrm flipH="1">
            <a:off x="3769788" y="3685175"/>
            <a:ext cx="800100" cy="295800"/>
          </a:xfrm>
          <a:prstGeom prst="straightConnector1">
            <a:avLst/>
          </a:prstGeom>
          <a:noFill/>
          <a:ln cap="flat" cmpd="sng" w="9525">
            <a:solidFill>
              <a:srgbClr val="B7B7B7"/>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8"/>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Client Risks</a:t>
            </a:r>
            <a:endParaRPr/>
          </a:p>
        </p:txBody>
      </p:sp>
      <p:pic>
        <p:nvPicPr>
          <p:cNvPr id="664" name="Google Shape;664;p68"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665" name="Google Shape;665;p68"/>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cxnSp>
        <p:nvCxnSpPr>
          <p:cNvPr id="666" name="Google Shape;666;p68"/>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667" name="Google Shape;667;p68"/>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CR1</a:t>
                      </a:r>
                      <a:r>
                        <a:rPr lang="en" sz="1100"/>
                        <a:t>: Breach of Client Confidentiality/IP</a:t>
                      </a:r>
                      <a:endParaRPr sz="1100"/>
                    </a:p>
                    <a:p>
                      <a:pPr indent="0" lvl="0" marL="0" rtl="0" algn="l">
                        <a:spcBef>
                          <a:spcPts val="0"/>
                        </a:spcBef>
                        <a:spcAft>
                          <a:spcPts val="0"/>
                        </a:spcAft>
                        <a:buNone/>
                      </a:pPr>
                      <a:r>
                        <a:rPr b="1" lang="en" sz="1100"/>
                        <a:t>CR2</a:t>
                      </a:r>
                      <a:r>
                        <a:rPr lang="en" sz="1100"/>
                        <a:t>: Adoption Friction and Production Error</a:t>
                      </a:r>
                      <a:endParaRPr sz="1100"/>
                    </a:p>
                    <a:p>
                      <a:pPr indent="0" lvl="0" marL="0" rtl="0" algn="l">
                        <a:spcBef>
                          <a:spcPts val="0"/>
                        </a:spcBef>
                        <a:spcAft>
                          <a:spcPts val="0"/>
                        </a:spcAft>
                        <a:buNone/>
                      </a:pPr>
                      <a:r>
                        <a:rPr b="1" lang="en" sz="1100"/>
                        <a:t>CR3</a:t>
                      </a:r>
                      <a:r>
                        <a:rPr lang="en" sz="1100"/>
                        <a:t>: Centralized Service Outages</a:t>
                      </a:r>
                      <a:endParaRPr sz="1100"/>
                    </a:p>
                    <a:p>
                      <a:pPr indent="0" lvl="0" marL="0" rtl="0" algn="l">
                        <a:spcBef>
                          <a:spcPts val="0"/>
                        </a:spcBef>
                        <a:spcAft>
                          <a:spcPts val="0"/>
                        </a:spcAft>
                        <a:buNone/>
                      </a:pPr>
                      <a:r>
                        <a:rPr b="1" lang="en" sz="1100"/>
                        <a:t>CR4</a:t>
                      </a:r>
                      <a:r>
                        <a:rPr lang="en" sz="1100"/>
                        <a:t>: Wrong Information</a:t>
                      </a:r>
                      <a:endParaRPr sz="1100"/>
                    </a:p>
                    <a:p>
                      <a:pPr indent="0" lvl="0" marL="0" rtl="0" algn="l">
                        <a:spcBef>
                          <a:spcPts val="0"/>
                        </a:spcBef>
                        <a:spcAft>
                          <a:spcPts val="0"/>
                        </a:spcAft>
                        <a:buNone/>
                      </a:pPr>
                      <a:r>
                        <a:rPr b="1" lang="en" sz="1100"/>
                        <a:t>CR5</a:t>
                      </a:r>
                      <a:r>
                        <a:rPr lang="en" sz="1100"/>
                        <a:t>: Customer Trust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CM1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CM2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CM3</a:t>
                      </a:r>
                      <a:r>
                        <a:rPr lang="en" sz="1000"/>
                        <a:t>: Local redundancy in infrastructure alongside minimizing need for communication with central database provides tolerance for partial functionality during minor outages.</a:t>
                      </a:r>
                      <a:endParaRPr sz="1000"/>
                    </a:p>
                    <a:p>
                      <a:pPr indent="0" lvl="0" marL="0" rtl="0" algn="l">
                        <a:spcBef>
                          <a:spcPts val="0"/>
                        </a:spcBef>
                        <a:spcAft>
                          <a:spcPts val="0"/>
                        </a:spcAft>
                        <a:buNone/>
                      </a:pPr>
                      <a:r>
                        <a:rPr b="1" lang="en" sz="1000"/>
                        <a:t>CM4</a:t>
                      </a:r>
                      <a:r>
                        <a:rPr lang="en" sz="1000"/>
                        <a:t>: System design emphasizes cohering with reality as provided by the user but prevents entry of known nonsensical data, validation falls to user facilitated by system metrics.</a:t>
                      </a:r>
                      <a:endParaRPr sz="1000"/>
                    </a:p>
                    <a:p>
                      <a:pPr indent="0" lvl="0" marL="0" rtl="0" algn="l">
                        <a:spcBef>
                          <a:spcPts val="0"/>
                        </a:spcBef>
                        <a:spcAft>
                          <a:spcPts val="0"/>
                        </a:spcAft>
                        <a:buNone/>
                      </a:pPr>
                      <a:r>
                        <a:rPr b="1" lang="en" sz="1000"/>
                        <a:t>CM5</a:t>
                      </a:r>
                      <a:r>
                        <a:rPr lang="en" sz="1000"/>
                        <a:t>: Emphasis on transparent and continuing dialogue between development and domain clients gradually handing off to client tools to self-maintain workflows.</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668" name="Google Shape;668;p68"/>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669" name="Google Shape;669;p68"/>
          <p:cNvSpPr txBox="1"/>
          <p:nvPr/>
        </p:nvSpPr>
        <p:spPr>
          <a:xfrm>
            <a:off x="4307063" y="3399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CR1</a:t>
            </a:r>
            <a:endParaRPr sz="1200">
              <a:solidFill>
                <a:srgbClr val="B7B7B7"/>
              </a:solidFill>
              <a:latin typeface="Lato"/>
              <a:ea typeface="Lato"/>
              <a:cs typeface="Lato"/>
              <a:sym typeface="Lato"/>
            </a:endParaRPr>
          </a:p>
        </p:txBody>
      </p:sp>
      <p:sp>
        <p:nvSpPr>
          <p:cNvPr id="670" name="Google Shape;670;p68"/>
          <p:cNvSpPr txBox="1"/>
          <p:nvPr/>
        </p:nvSpPr>
        <p:spPr>
          <a:xfrm>
            <a:off x="3764875"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lt1"/>
                </a:solidFill>
              </a:rPr>
              <a:t>CR2</a:t>
            </a:r>
            <a:endParaRPr sz="1200">
              <a:latin typeface="Lato"/>
              <a:ea typeface="Lato"/>
              <a:cs typeface="Lato"/>
              <a:sym typeface="Lato"/>
            </a:endParaRPr>
          </a:p>
        </p:txBody>
      </p:sp>
      <p:sp>
        <p:nvSpPr>
          <p:cNvPr id="671" name="Google Shape;671;p68"/>
          <p:cNvSpPr txBox="1"/>
          <p:nvPr/>
        </p:nvSpPr>
        <p:spPr>
          <a:xfrm>
            <a:off x="3439900" y="27335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CR3</a:t>
            </a:r>
            <a:endParaRPr sz="1200">
              <a:solidFill>
                <a:srgbClr val="B7B7B7"/>
              </a:solidFill>
              <a:latin typeface="Lato"/>
              <a:ea typeface="Lato"/>
              <a:cs typeface="Lato"/>
              <a:sym typeface="Lato"/>
            </a:endParaRPr>
          </a:p>
        </p:txBody>
      </p:sp>
      <p:sp>
        <p:nvSpPr>
          <p:cNvPr id="672" name="Google Shape;672;p68"/>
          <p:cNvSpPr txBox="1"/>
          <p:nvPr/>
        </p:nvSpPr>
        <p:spPr>
          <a:xfrm>
            <a:off x="3673050"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CR4</a:t>
            </a:r>
            <a:endParaRPr sz="1200">
              <a:solidFill>
                <a:srgbClr val="B7B7B7"/>
              </a:solidFill>
              <a:latin typeface="Lato"/>
              <a:ea typeface="Lato"/>
              <a:cs typeface="Lato"/>
              <a:sym typeface="Lato"/>
            </a:endParaRPr>
          </a:p>
        </p:txBody>
      </p:sp>
      <p:sp>
        <p:nvSpPr>
          <p:cNvPr id="673" name="Google Shape;673;p68"/>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CR5</a:t>
            </a:r>
            <a:endParaRPr sz="1200">
              <a:solidFill>
                <a:srgbClr val="B7B7B7"/>
              </a:solidFill>
              <a:latin typeface="Lato"/>
              <a:ea typeface="Lato"/>
              <a:cs typeface="Lato"/>
              <a:sym typeface="Lato"/>
            </a:endParaRPr>
          </a:p>
        </p:txBody>
      </p:sp>
      <p:sp>
        <p:nvSpPr>
          <p:cNvPr id="674" name="Google Shape;674;p68"/>
          <p:cNvSpPr txBox="1"/>
          <p:nvPr/>
        </p:nvSpPr>
        <p:spPr>
          <a:xfrm>
            <a:off x="2869950"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CM2</a:t>
            </a:r>
            <a:endParaRPr sz="1200">
              <a:latin typeface="Lato"/>
              <a:ea typeface="Lato"/>
              <a:cs typeface="Lato"/>
              <a:sym typeface="Lato"/>
            </a:endParaRPr>
          </a:p>
        </p:txBody>
      </p:sp>
      <p:sp>
        <p:nvSpPr>
          <p:cNvPr id="675" name="Google Shape;675;p68"/>
          <p:cNvSpPr txBox="1"/>
          <p:nvPr/>
        </p:nvSpPr>
        <p:spPr>
          <a:xfrm>
            <a:off x="3485088"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CM1</a:t>
            </a:r>
            <a:endParaRPr sz="1200">
              <a:solidFill>
                <a:srgbClr val="B7B7B7"/>
              </a:solidFill>
              <a:latin typeface="Lato"/>
              <a:ea typeface="Lato"/>
              <a:cs typeface="Lato"/>
              <a:sym typeface="Lato"/>
            </a:endParaRPr>
          </a:p>
        </p:txBody>
      </p:sp>
      <p:cxnSp>
        <p:nvCxnSpPr>
          <p:cNvPr id="676" name="Google Shape;676;p68"/>
          <p:cNvCxnSpPr>
            <a:endCxn id="675" idx="0"/>
          </p:cNvCxnSpPr>
          <p:nvPr/>
        </p:nvCxnSpPr>
        <p:spPr>
          <a:xfrm flipH="1">
            <a:off x="3769788" y="3685175"/>
            <a:ext cx="800100" cy="295800"/>
          </a:xfrm>
          <a:prstGeom prst="straightConnector1">
            <a:avLst/>
          </a:prstGeom>
          <a:noFill/>
          <a:ln cap="flat" cmpd="sng" w="9525">
            <a:solidFill>
              <a:srgbClr val="B7B7B7"/>
            </a:solidFill>
            <a:prstDash val="solid"/>
            <a:round/>
            <a:headEnd len="med" w="med" type="none"/>
            <a:tailEnd len="med" w="med" type="triangle"/>
          </a:ln>
        </p:spPr>
      </p:cxnSp>
      <p:cxnSp>
        <p:nvCxnSpPr>
          <p:cNvPr id="677" name="Google Shape;677;p68"/>
          <p:cNvCxnSpPr/>
          <p:nvPr/>
        </p:nvCxnSpPr>
        <p:spPr>
          <a:xfrm flipH="1">
            <a:off x="3170000" y="3197925"/>
            <a:ext cx="775800" cy="8505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69"/>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Client Risks</a:t>
            </a:r>
            <a:endParaRPr/>
          </a:p>
        </p:txBody>
      </p:sp>
      <p:pic>
        <p:nvPicPr>
          <p:cNvPr id="683" name="Google Shape;683;p69"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684" name="Google Shape;684;p69"/>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cxnSp>
        <p:nvCxnSpPr>
          <p:cNvPr id="685" name="Google Shape;685;p69"/>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686" name="Google Shape;686;p69"/>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CR1</a:t>
                      </a:r>
                      <a:r>
                        <a:rPr lang="en" sz="1100"/>
                        <a:t>: Breach of Client Confidentiality/IP</a:t>
                      </a:r>
                      <a:endParaRPr sz="1100"/>
                    </a:p>
                    <a:p>
                      <a:pPr indent="0" lvl="0" marL="0" rtl="0" algn="l">
                        <a:spcBef>
                          <a:spcPts val="0"/>
                        </a:spcBef>
                        <a:spcAft>
                          <a:spcPts val="0"/>
                        </a:spcAft>
                        <a:buNone/>
                      </a:pPr>
                      <a:r>
                        <a:rPr b="1" lang="en" sz="1100"/>
                        <a:t>CR2</a:t>
                      </a:r>
                      <a:r>
                        <a:rPr lang="en" sz="1100"/>
                        <a:t>: Adoption Friction and Production Error</a:t>
                      </a:r>
                      <a:endParaRPr sz="1100"/>
                    </a:p>
                    <a:p>
                      <a:pPr indent="0" lvl="0" marL="0" rtl="0" algn="l">
                        <a:spcBef>
                          <a:spcPts val="0"/>
                        </a:spcBef>
                        <a:spcAft>
                          <a:spcPts val="0"/>
                        </a:spcAft>
                        <a:buNone/>
                      </a:pPr>
                      <a:r>
                        <a:rPr b="1" lang="en" sz="1100"/>
                        <a:t>CR3</a:t>
                      </a:r>
                      <a:r>
                        <a:rPr lang="en" sz="1100"/>
                        <a:t>: Centralized Service Outages</a:t>
                      </a:r>
                      <a:endParaRPr sz="1100"/>
                    </a:p>
                    <a:p>
                      <a:pPr indent="0" lvl="0" marL="0" rtl="0" algn="l">
                        <a:spcBef>
                          <a:spcPts val="0"/>
                        </a:spcBef>
                        <a:spcAft>
                          <a:spcPts val="0"/>
                        </a:spcAft>
                        <a:buNone/>
                      </a:pPr>
                      <a:r>
                        <a:rPr b="1" lang="en" sz="1100"/>
                        <a:t>CR4</a:t>
                      </a:r>
                      <a:r>
                        <a:rPr lang="en" sz="1100"/>
                        <a:t>: Wrong Information</a:t>
                      </a:r>
                      <a:endParaRPr sz="1100"/>
                    </a:p>
                    <a:p>
                      <a:pPr indent="0" lvl="0" marL="0" rtl="0" algn="l">
                        <a:spcBef>
                          <a:spcPts val="0"/>
                        </a:spcBef>
                        <a:spcAft>
                          <a:spcPts val="0"/>
                        </a:spcAft>
                        <a:buNone/>
                      </a:pPr>
                      <a:r>
                        <a:rPr b="1" lang="en" sz="1100"/>
                        <a:t>CR5</a:t>
                      </a:r>
                      <a:r>
                        <a:rPr lang="en" sz="1100"/>
                        <a:t>: Customer Trust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CM1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CM2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CM3</a:t>
                      </a:r>
                      <a:r>
                        <a:rPr lang="en" sz="1000"/>
                        <a:t>: Local redundancy in infrastructure alongside minimizing need for communication with central database provides tolerance for partial functionality during minor outages.</a:t>
                      </a:r>
                      <a:endParaRPr sz="1000"/>
                    </a:p>
                    <a:p>
                      <a:pPr indent="0" lvl="0" marL="0" rtl="0" algn="l">
                        <a:spcBef>
                          <a:spcPts val="0"/>
                        </a:spcBef>
                        <a:spcAft>
                          <a:spcPts val="0"/>
                        </a:spcAft>
                        <a:buNone/>
                      </a:pPr>
                      <a:r>
                        <a:rPr b="1" lang="en" sz="1000"/>
                        <a:t>CM4</a:t>
                      </a:r>
                      <a:r>
                        <a:rPr lang="en" sz="1000"/>
                        <a:t>: System design emphasizes cohering with reality as provided by the user but prevents entry of known nonsensical data, validation falls to user facilitated by system metrics.</a:t>
                      </a:r>
                      <a:endParaRPr sz="1000"/>
                    </a:p>
                    <a:p>
                      <a:pPr indent="0" lvl="0" marL="0" rtl="0" algn="l">
                        <a:spcBef>
                          <a:spcPts val="0"/>
                        </a:spcBef>
                        <a:spcAft>
                          <a:spcPts val="0"/>
                        </a:spcAft>
                        <a:buNone/>
                      </a:pPr>
                      <a:r>
                        <a:rPr b="1" lang="en" sz="1000"/>
                        <a:t>CM5</a:t>
                      </a:r>
                      <a:r>
                        <a:rPr lang="en" sz="1000"/>
                        <a:t>: Emphasis on transparent and continuing dialogue between development and domain clients gradually handing off to client tools to self-maintain workflows.</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687" name="Google Shape;687;p69"/>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688" name="Google Shape;688;p69"/>
          <p:cNvSpPr txBox="1"/>
          <p:nvPr/>
        </p:nvSpPr>
        <p:spPr>
          <a:xfrm>
            <a:off x="4307063" y="3399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CR1</a:t>
            </a:r>
            <a:endParaRPr sz="1200">
              <a:solidFill>
                <a:srgbClr val="B7B7B7"/>
              </a:solidFill>
              <a:latin typeface="Lato"/>
              <a:ea typeface="Lato"/>
              <a:cs typeface="Lato"/>
              <a:sym typeface="Lato"/>
            </a:endParaRPr>
          </a:p>
        </p:txBody>
      </p:sp>
      <p:sp>
        <p:nvSpPr>
          <p:cNvPr id="689" name="Google Shape;689;p69"/>
          <p:cNvSpPr txBox="1"/>
          <p:nvPr/>
        </p:nvSpPr>
        <p:spPr>
          <a:xfrm>
            <a:off x="3764875"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CR2</a:t>
            </a:r>
            <a:endParaRPr sz="1200">
              <a:solidFill>
                <a:srgbClr val="B7B7B7"/>
              </a:solidFill>
              <a:latin typeface="Lato"/>
              <a:ea typeface="Lato"/>
              <a:cs typeface="Lato"/>
              <a:sym typeface="Lato"/>
            </a:endParaRPr>
          </a:p>
        </p:txBody>
      </p:sp>
      <p:sp>
        <p:nvSpPr>
          <p:cNvPr id="690" name="Google Shape;690;p69"/>
          <p:cNvSpPr txBox="1"/>
          <p:nvPr/>
        </p:nvSpPr>
        <p:spPr>
          <a:xfrm>
            <a:off x="3439900" y="27335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CR3</a:t>
            </a:r>
            <a:endParaRPr sz="1200">
              <a:solidFill>
                <a:schemeClr val="lt1"/>
              </a:solidFill>
              <a:latin typeface="Lato"/>
              <a:ea typeface="Lato"/>
              <a:cs typeface="Lato"/>
              <a:sym typeface="Lato"/>
            </a:endParaRPr>
          </a:p>
        </p:txBody>
      </p:sp>
      <p:sp>
        <p:nvSpPr>
          <p:cNvPr id="691" name="Google Shape;691;p69"/>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CR5</a:t>
            </a:r>
            <a:endParaRPr sz="1200">
              <a:solidFill>
                <a:srgbClr val="B7B7B7"/>
              </a:solidFill>
              <a:latin typeface="Lato"/>
              <a:ea typeface="Lato"/>
              <a:cs typeface="Lato"/>
              <a:sym typeface="Lato"/>
            </a:endParaRPr>
          </a:p>
        </p:txBody>
      </p:sp>
      <p:sp>
        <p:nvSpPr>
          <p:cNvPr id="692" name="Google Shape;692;p69"/>
          <p:cNvSpPr txBox="1"/>
          <p:nvPr/>
        </p:nvSpPr>
        <p:spPr>
          <a:xfrm>
            <a:off x="1885788" y="4328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CM3</a:t>
            </a:r>
            <a:endParaRPr sz="1200">
              <a:solidFill>
                <a:schemeClr val="lt1"/>
              </a:solidFill>
              <a:latin typeface="Lato"/>
              <a:ea typeface="Lato"/>
              <a:cs typeface="Lato"/>
              <a:sym typeface="Lato"/>
            </a:endParaRPr>
          </a:p>
        </p:txBody>
      </p:sp>
      <p:sp>
        <p:nvSpPr>
          <p:cNvPr id="693" name="Google Shape;693;p69"/>
          <p:cNvSpPr txBox="1"/>
          <p:nvPr/>
        </p:nvSpPr>
        <p:spPr>
          <a:xfrm>
            <a:off x="2869950"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CM2</a:t>
            </a:r>
            <a:endParaRPr sz="1200">
              <a:solidFill>
                <a:srgbClr val="B7B7B7"/>
              </a:solidFill>
              <a:latin typeface="Lato"/>
              <a:ea typeface="Lato"/>
              <a:cs typeface="Lato"/>
              <a:sym typeface="Lato"/>
            </a:endParaRPr>
          </a:p>
        </p:txBody>
      </p:sp>
      <p:cxnSp>
        <p:nvCxnSpPr>
          <p:cNvPr id="694" name="Google Shape;694;p69"/>
          <p:cNvCxnSpPr/>
          <p:nvPr/>
        </p:nvCxnSpPr>
        <p:spPr>
          <a:xfrm flipH="1">
            <a:off x="3170000" y="3197925"/>
            <a:ext cx="775800" cy="850500"/>
          </a:xfrm>
          <a:prstGeom prst="straightConnector1">
            <a:avLst/>
          </a:prstGeom>
          <a:noFill/>
          <a:ln cap="flat" cmpd="sng" w="9525">
            <a:solidFill>
              <a:srgbClr val="B7B7B7"/>
            </a:solidFill>
            <a:prstDash val="solid"/>
            <a:round/>
            <a:headEnd len="med" w="med" type="none"/>
            <a:tailEnd len="med" w="med" type="triangle"/>
          </a:ln>
        </p:spPr>
      </p:cxnSp>
      <p:sp>
        <p:nvSpPr>
          <p:cNvPr id="695" name="Google Shape;695;p69"/>
          <p:cNvSpPr txBox="1"/>
          <p:nvPr/>
        </p:nvSpPr>
        <p:spPr>
          <a:xfrm>
            <a:off x="3485088"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CM1</a:t>
            </a:r>
            <a:endParaRPr sz="1200">
              <a:solidFill>
                <a:srgbClr val="B7B7B7"/>
              </a:solidFill>
              <a:latin typeface="Lato"/>
              <a:ea typeface="Lato"/>
              <a:cs typeface="Lato"/>
              <a:sym typeface="Lato"/>
            </a:endParaRPr>
          </a:p>
        </p:txBody>
      </p:sp>
      <p:cxnSp>
        <p:nvCxnSpPr>
          <p:cNvPr id="696" name="Google Shape;696;p69"/>
          <p:cNvCxnSpPr>
            <a:endCxn id="695" idx="0"/>
          </p:cNvCxnSpPr>
          <p:nvPr/>
        </p:nvCxnSpPr>
        <p:spPr>
          <a:xfrm flipH="1">
            <a:off x="3769788" y="3685175"/>
            <a:ext cx="800100" cy="295800"/>
          </a:xfrm>
          <a:prstGeom prst="straightConnector1">
            <a:avLst/>
          </a:prstGeom>
          <a:noFill/>
          <a:ln cap="flat" cmpd="sng" w="9525">
            <a:solidFill>
              <a:srgbClr val="B7B7B7"/>
            </a:solidFill>
            <a:prstDash val="solid"/>
            <a:round/>
            <a:headEnd len="med" w="med" type="none"/>
            <a:tailEnd len="med" w="med" type="triangle"/>
          </a:ln>
        </p:spPr>
      </p:cxnSp>
      <p:sp>
        <p:nvSpPr>
          <p:cNvPr id="697" name="Google Shape;697;p69"/>
          <p:cNvSpPr txBox="1"/>
          <p:nvPr/>
        </p:nvSpPr>
        <p:spPr>
          <a:xfrm>
            <a:off x="3673050"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CR4</a:t>
            </a:r>
            <a:endParaRPr sz="1200">
              <a:solidFill>
                <a:srgbClr val="B7B7B7"/>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70"/>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Client Risks</a:t>
            </a:r>
            <a:endParaRPr/>
          </a:p>
        </p:txBody>
      </p:sp>
      <p:pic>
        <p:nvPicPr>
          <p:cNvPr id="703" name="Google Shape;703;p70"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704" name="Google Shape;704;p70"/>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cxnSp>
        <p:nvCxnSpPr>
          <p:cNvPr id="705" name="Google Shape;705;p70"/>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706" name="Google Shape;706;p70"/>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CR1</a:t>
                      </a:r>
                      <a:r>
                        <a:rPr lang="en" sz="1100"/>
                        <a:t>: Breach of Client Confidentiality/IP</a:t>
                      </a:r>
                      <a:endParaRPr sz="1100"/>
                    </a:p>
                    <a:p>
                      <a:pPr indent="0" lvl="0" marL="0" rtl="0" algn="l">
                        <a:spcBef>
                          <a:spcPts val="0"/>
                        </a:spcBef>
                        <a:spcAft>
                          <a:spcPts val="0"/>
                        </a:spcAft>
                        <a:buNone/>
                      </a:pPr>
                      <a:r>
                        <a:rPr b="1" lang="en" sz="1100"/>
                        <a:t>CR2</a:t>
                      </a:r>
                      <a:r>
                        <a:rPr lang="en" sz="1100"/>
                        <a:t>: Adoption Friction and Production Error</a:t>
                      </a:r>
                      <a:endParaRPr sz="1100"/>
                    </a:p>
                    <a:p>
                      <a:pPr indent="0" lvl="0" marL="0" rtl="0" algn="l">
                        <a:spcBef>
                          <a:spcPts val="0"/>
                        </a:spcBef>
                        <a:spcAft>
                          <a:spcPts val="0"/>
                        </a:spcAft>
                        <a:buNone/>
                      </a:pPr>
                      <a:r>
                        <a:rPr b="1" lang="en" sz="1100"/>
                        <a:t>CR3</a:t>
                      </a:r>
                      <a:r>
                        <a:rPr lang="en" sz="1100"/>
                        <a:t>: Centralized Service Outages</a:t>
                      </a:r>
                      <a:endParaRPr sz="1100"/>
                    </a:p>
                    <a:p>
                      <a:pPr indent="0" lvl="0" marL="0" rtl="0" algn="l">
                        <a:spcBef>
                          <a:spcPts val="0"/>
                        </a:spcBef>
                        <a:spcAft>
                          <a:spcPts val="0"/>
                        </a:spcAft>
                        <a:buNone/>
                      </a:pPr>
                      <a:r>
                        <a:rPr b="1" lang="en" sz="1100"/>
                        <a:t>CR4</a:t>
                      </a:r>
                      <a:r>
                        <a:rPr lang="en" sz="1100"/>
                        <a:t>: Wrong Information</a:t>
                      </a:r>
                      <a:endParaRPr sz="1100"/>
                    </a:p>
                    <a:p>
                      <a:pPr indent="0" lvl="0" marL="0" rtl="0" algn="l">
                        <a:spcBef>
                          <a:spcPts val="0"/>
                        </a:spcBef>
                        <a:spcAft>
                          <a:spcPts val="0"/>
                        </a:spcAft>
                        <a:buNone/>
                      </a:pPr>
                      <a:r>
                        <a:rPr b="1" lang="en" sz="1100"/>
                        <a:t>CR5</a:t>
                      </a:r>
                      <a:r>
                        <a:rPr lang="en" sz="1100"/>
                        <a:t>: Customer Trust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CM1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CM2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CM3</a:t>
                      </a:r>
                      <a:r>
                        <a:rPr lang="en" sz="1000"/>
                        <a:t>: Local redundancy in infrastructure alongside minimizing need for communication with central database provides tolerance for partial functionality during minor outages.</a:t>
                      </a:r>
                      <a:endParaRPr sz="1000"/>
                    </a:p>
                    <a:p>
                      <a:pPr indent="0" lvl="0" marL="0" rtl="0" algn="l">
                        <a:spcBef>
                          <a:spcPts val="0"/>
                        </a:spcBef>
                        <a:spcAft>
                          <a:spcPts val="0"/>
                        </a:spcAft>
                        <a:buNone/>
                      </a:pPr>
                      <a:r>
                        <a:rPr b="1" lang="en" sz="1000"/>
                        <a:t>CM4</a:t>
                      </a:r>
                      <a:r>
                        <a:rPr lang="en" sz="1000"/>
                        <a:t>: System design emphasizes cohering with reality as provided by the user but prevents entry of known nonsensical data, validation falls to user facilitated by system metrics.</a:t>
                      </a:r>
                      <a:endParaRPr sz="1000"/>
                    </a:p>
                    <a:p>
                      <a:pPr indent="0" lvl="0" marL="0" rtl="0" algn="l">
                        <a:spcBef>
                          <a:spcPts val="0"/>
                        </a:spcBef>
                        <a:spcAft>
                          <a:spcPts val="0"/>
                        </a:spcAft>
                        <a:buNone/>
                      </a:pPr>
                      <a:r>
                        <a:rPr b="1" lang="en" sz="1000"/>
                        <a:t>CM5</a:t>
                      </a:r>
                      <a:r>
                        <a:rPr lang="en" sz="1000"/>
                        <a:t>: Emphasis on transparent and continuing dialogue between development and domain clients gradually handing off to client tools to self-maintain workflows.</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707" name="Google Shape;707;p70"/>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708" name="Google Shape;708;p70"/>
          <p:cNvSpPr txBox="1"/>
          <p:nvPr/>
        </p:nvSpPr>
        <p:spPr>
          <a:xfrm>
            <a:off x="4307063" y="3399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CR1</a:t>
            </a:r>
            <a:endParaRPr sz="1200">
              <a:solidFill>
                <a:srgbClr val="B7B7B7"/>
              </a:solidFill>
              <a:latin typeface="Lato"/>
              <a:ea typeface="Lato"/>
              <a:cs typeface="Lato"/>
              <a:sym typeface="Lato"/>
            </a:endParaRPr>
          </a:p>
        </p:txBody>
      </p:sp>
      <p:sp>
        <p:nvSpPr>
          <p:cNvPr id="709" name="Google Shape;709;p70"/>
          <p:cNvSpPr txBox="1"/>
          <p:nvPr/>
        </p:nvSpPr>
        <p:spPr>
          <a:xfrm>
            <a:off x="3764875"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CR2</a:t>
            </a:r>
            <a:endParaRPr sz="1200">
              <a:solidFill>
                <a:srgbClr val="B7B7B7"/>
              </a:solidFill>
              <a:latin typeface="Lato"/>
              <a:ea typeface="Lato"/>
              <a:cs typeface="Lato"/>
              <a:sym typeface="Lato"/>
            </a:endParaRPr>
          </a:p>
        </p:txBody>
      </p:sp>
      <p:sp>
        <p:nvSpPr>
          <p:cNvPr id="710" name="Google Shape;710;p70"/>
          <p:cNvSpPr txBox="1"/>
          <p:nvPr/>
        </p:nvSpPr>
        <p:spPr>
          <a:xfrm>
            <a:off x="3439900" y="27335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CR3</a:t>
            </a:r>
            <a:endParaRPr sz="1200">
              <a:solidFill>
                <a:schemeClr val="lt1"/>
              </a:solidFill>
              <a:latin typeface="Lato"/>
              <a:ea typeface="Lato"/>
              <a:cs typeface="Lato"/>
              <a:sym typeface="Lato"/>
            </a:endParaRPr>
          </a:p>
        </p:txBody>
      </p:sp>
      <p:sp>
        <p:nvSpPr>
          <p:cNvPr id="711" name="Google Shape;711;p70"/>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CR5</a:t>
            </a:r>
            <a:endParaRPr sz="1200">
              <a:solidFill>
                <a:srgbClr val="B7B7B7"/>
              </a:solidFill>
              <a:latin typeface="Lato"/>
              <a:ea typeface="Lato"/>
              <a:cs typeface="Lato"/>
              <a:sym typeface="Lato"/>
            </a:endParaRPr>
          </a:p>
        </p:txBody>
      </p:sp>
      <p:sp>
        <p:nvSpPr>
          <p:cNvPr id="712" name="Google Shape;712;p70"/>
          <p:cNvSpPr txBox="1"/>
          <p:nvPr/>
        </p:nvSpPr>
        <p:spPr>
          <a:xfrm>
            <a:off x="1885788" y="4328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CM3</a:t>
            </a:r>
            <a:endParaRPr sz="1200">
              <a:latin typeface="Lato"/>
              <a:ea typeface="Lato"/>
              <a:cs typeface="Lato"/>
              <a:sym typeface="Lato"/>
            </a:endParaRPr>
          </a:p>
        </p:txBody>
      </p:sp>
      <p:sp>
        <p:nvSpPr>
          <p:cNvPr id="713" name="Google Shape;713;p70"/>
          <p:cNvSpPr txBox="1"/>
          <p:nvPr/>
        </p:nvSpPr>
        <p:spPr>
          <a:xfrm>
            <a:off x="2869950"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CM2</a:t>
            </a:r>
            <a:endParaRPr sz="1200">
              <a:solidFill>
                <a:srgbClr val="B7B7B7"/>
              </a:solidFill>
              <a:latin typeface="Lato"/>
              <a:ea typeface="Lato"/>
              <a:cs typeface="Lato"/>
              <a:sym typeface="Lato"/>
            </a:endParaRPr>
          </a:p>
        </p:txBody>
      </p:sp>
      <p:cxnSp>
        <p:nvCxnSpPr>
          <p:cNvPr id="714" name="Google Shape;714;p70"/>
          <p:cNvCxnSpPr/>
          <p:nvPr/>
        </p:nvCxnSpPr>
        <p:spPr>
          <a:xfrm flipH="1">
            <a:off x="3170000" y="3197925"/>
            <a:ext cx="775800" cy="850500"/>
          </a:xfrm>
          <a:prstGeom prst="straightConnector1">
            <a:avLst/>
          </a:prstGeom>
          <a:noFill/>
          <a:ln cap="flat" cmpd="sng" w="9525">
            <a:solidFill>
              <a:srgbClr val="B7B7B7"/>
            </a:solidFill>
            <a:prstDash val="solid"/>
            <a:round/>
            <a:headEnd len="med" w="med" type="none"/>
            <a:tailEnd len="med" w="med" type="triangle"/>
          </a:ln>
        </p:spPr>
      </p:cxnSp>
      <p:sp>
        <p:nvSpPr>
          <p:cNvPr id="715" name="Google Shape;715;p70"/>
          <p:cNvSpPr txBox="1"/>
          <p:nvPr/>
        </p:nvSpPr>
        <p:spPr>
          <a:xfrm>
            <a:off x="3485088"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CM1</a:t>
            </a:r>
            <a:endParaRPr sz="1200">
              <a:solidFill>
                <a:srgbClr val="B7B7B7"/>
              </a:solidFill>
              <a:latin typeface="Lato"/>
              <a:ea typeface="Lato"/>
              <a:cs typeface="Lato"/>
              <a:sym typeface="Lato"/>
            </a:endParaRPr>
          </a:p>
        </p:txBody>
      </p:sp>
      <p:cxnSp>
        <p:nvCxnSpPr>
          <p:cNvPr id="716" name="Google Shape;716;p70"/>
          <p:cNvCxnSpPr>
            <a:endCxn id="715" idx="0"/>
          </p:cNvCxnSpPr>
          <p:nvPr/>
        </p:nvCxnSpPr>
        <p:spPr>
          <a:xfrm flipH="1">
            <a:off x="3769788" y="3685175"/>
            <a:ext cx="800100" cy="295800"/>
          </a:xfrm>
          <a:prstGeom prst="straightConnector1">
            <a:avLst/>
          </a:prstGeom>
          <a:noFill/>
          <a:ln cap="flat" cmpd="sng" w="9525">
            <a:solidFill>
              <a:srgbClr val="B7B7B7"/>
            </a:solidFill>
            <a:prstDash val="solid"/>
            <a:round/>
            <a:headEnd len="med" w="med" type="none"/>
            <a:tailEnd len="med" w="med" type="triangle"/>
          </a:ln>
        </p:spPr>
      </p:cxnSp>
      <p:cxnSp>
        <p:nvCxnSpPr>
          <p:cNvPr id="717" name="Google Shape;717;p70"/>
          <p:cNvCxnSpPr/>
          <p:nvPr/>
        </p:nvCxnSpPr>
        <p:spPr>
          <a:xfrm flipH="1">
            <a:off x="2423688" y="2965000"/>
            <a:ext cx="1061400" cy="1486200"/>
          </a:xfrm>
          <a:prstGeom prst="straightConnector1">
            <a:avLst/>
          </a:prstGeom>
          <a:noFill/>
          <a:ln cap="flat" cmpd="sng" w="9525">
            <a:solidFill>
              <a:schemeClr val="lt1"/>
            </a:solidFill>
            <a:prstDash val="solid"/>
            <a:round/>
            <a:headEnd len="med" w="med" type="none"/>
            <a:tailEnd len="med" w="med" type="triangle"/>
          </a:ln>
        </p:spPr>
      </p:cxnSp>
      <p:sp>
        <p:nvSpPr>
          <p:cNvPr id="718" name="Google Shape;718;p70"/>
          <p:cNvSpPr txBox="1"/>
          <p:nvPr/>
        </p:nvSpPr>
        <p:spPr>
          <a:xfrm>
            <a:off x="3673050"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CR4</a:t>
            </a:r>
            <a:endParaRPr sz="1200">
              <a:solidFill>
                <a:srgbClr val="B7B7B7"/>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71"/>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Client Risks</a:t>
            </a:r>
            <a:endParaRPr/>
          </a:p>
        </p:txBody>
      </p:sp>
      <p:pic>
        <p:nvPicPr>
          <p:cNvPr id="724" name="Google Shape;724;p71"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725" name="Google Shape;725;p71"/>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cxnSp>
        <p:nvCxnSpPr>
          <p:cNvPr id="726" name="Google Shape;726;p71"/>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727" name="Google Shape;727;p71"/>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CR1</a:t>
                      </a:r>
                      <a:r>
                        <a:rPr lang="en" sz="1100"/>
                        <a:t>: Breach of Client Confidentiality/IP</a:t>
                      </a:r>
                      <a:endParaRPr sz="1100"/>
                    </a:p>
                    <a:p>
                      <a:pPr indent="0" lvl="0" marL="0" rtl="0" algn="l">
                        <a:spcBef>
                          <a:spcPts val="0"/>
                        </a:spcBef>
                        <a:spcAft>
                          <a:spcPts val="0"/>
                        </a:spcAft>
                        <a:buNone/>
                      </a:pPr>
                      <a:r>
                        <a:rPr b="1" lang="en" sz="1100"/>
                        <a:t>CR2</a:t>
                      </a:r>
                      <a:r>
                        <a:rPr lang="en" sz="1100"/>
                        <a:t>: Adoption Friction and Production Error</a:t>
                      </a:r>
                      <a:endParaRPr sz="1100"/>
                    </a:p>
                    <a:p>
                      <a:pPr indent="0" lvl="0" marL="0" rtl="0" algn="l">
                        <a:spcBef>
                          <a:spcPts val="0"/>
                        </a:spcBef>
                        <a:spcAft>
                          <a:spcPts val="0"/>
                        </a:spcAft>
                        <a:buNone/>
                      </a:pPr>
                      <a:r>
                        <a:rPr b="1" lang="en" sz="1100"/>
                        <a:t>CR3</a:t>
                      </a:r>
                      <a:r>
                        <a:rPr lang="en" sz="1100"/>
                        <a:t>: Centralized Service Outages</a:t>
                      </a:r>
                      <a:endParaRPr sz="1100"/>
                    </a:p>
                    <a:p>
                      <a:pPr indent="0" lvl="0" marL="0" rtl="0" algn="l">
                        <a:spcBef>
                          <a:spcPts val="0"/>
                        </a:spcBef>
                        <a:spcAft>
                          <a:spcPts val="0"/>
                        </a:spcAft>
                        <a:buNone/>
                      </a:pPr>
                      <a:r>
                        <a:rPr b="1" lang="en" sz="1100"/>
                        <a:t>CR4</a:t>
                      </a:r>
                      <a:r>
                        <a:rPr lang="en" sz="1100"/>
                        <a:t>: Wrong Information</a:t>
                      </a:r>
                      <a:endParaRPr sz="1100"/>
                    </a:p>
                    <a:p>
                      <a:pPr indent="0" lvl="0" marL="0" rtl="0" algn="l">
                        <a:spcBef>
                          <a:spcPts val="0"/>
                        </a:spcBef>
                        <a:spcAft>
                          <a:spcPts val="0"/>
                        </a:spcAft>
                        <a:buNone/>
                      </a:pPr>
                      <a:r>
                        <a:rPr b="1" lang="en" sz="1100"/>
                        <a:t>CR5</a:t>
                      </a:r>
                      <a:r>
                        <a:rPr lang="en" sz="1100"/>
                        <a:t>: Customer Trust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CM1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CM2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CM3</a:t>
                      </a:r>
                      <a:r>
                        <a:rPr lang="en" sz="1000"/>
                        <a:t>: Local redundancy in infrastructure alongside minimizing need for communication with central database provides tolerance for partial functionality during minor outages.</a:t>
                      </a:r>
                      <a:endParaRPr sz="1000"/>
                    </a:p>
                    <a:p>
                      <a:pPr indent="0" lvl="0" marL="0" rtl="0" algn="l">
                        <a:spcBef>
                          <a:spcPts val="0"/>
                        </a:spcBef>
                        <a:spcAft>
                          <a:spcPts val="0"/>
                        </a:spcAft>
                        <a:buNone/>
                      </a:pPr>
                      <a:r>
                        <a:rPr b="1" lang="en" sz="1000"/>
                        <a:t>CM4</a:t>
                      </a:r>
                      <a:r>
                        <a:rPr lang="en" sz="1000"/>
                        <a:t>: System design emphasizes cohering with reality as provided by the user but prevents entry of known nonsensical data, validation falls to user facilitated by system metrics.</a:t>
                      </a:r>
                      <a:endParaRPr sz="1000"/>
                    </a:p>
                    <a:p>
                      <a:pPr indent="0" lvl="0" marL="0" rtl="0" algn="l">
                        <a:spcBef>
                          <a:spcPts val="0"/>
                        </a:spcBef>
                        <a:spcAft>
                          <a:spcPts val="0"/>
                        </a:spcAft>
                        <a:buNone/>
                      </a:pPr>
                      <a:r>
                        <a:rPr b="1" lang="en" sz="1000"/>
                        <a:t>CM5</a:t>
                      </a:r>
                      <a:r>
                        <a:rPr lang="en" sz="1000"/>
                        <a:t>: Emphasis on transparent and continuing dialogue between development and domain clients gradually handing off to client tools to self-maintain workflows.</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728" name="Google Shape;728;p71"/>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729" name="Google Shape;729;p71"/>
          <p:cNvSpPr txBox="1"/>
          <p:nvPr/>
        </p:nvSpPr>
        <p:spPr>
          <a:xfrm>
            <a:off x="4307063" y="3399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CR1</a:t>
            </a:r>
            <a:endParaRPr sz="1200">
              <a:solidFill>
                <a:srgbClr val="B7B7B7"/>
              </a:solidFill>
              <a:latin typeface="Lato"/>
              <a:ea typeface="Lato"/>
              <a:cs typeface="Lato"/>
              <a:sym typeface="Lato"/>
            </a:endParaRPr>
          </a:p>
        </p:txBody>
      </p:sp>
      <p:sp>
        <p:nvSpPr>
          <p:cNvPr id="730" name="Google Shape;730;p71"/>
          <p:cNvSpPr txBox="1"/>
          <p:nvPr/>
        </p:nvSpPr>
        <p:spPr>
          <a:xfrm>
            <a:off x="3764875"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CR2</a:t>
            </a:r>
            <a:endParaRPr sz="1200">
              <a:solidFill>
                <a:srgbClr val="B7B7B7"/>
              </a:solidFill>
              <a:latin typeface="Lato"/>
              <a:ea typeface="Lato"/>
              <a:cs typeface="Lato"/>
              <a:sym typeface="Lato"/>
            </a:endParaRPr>
          </a:p>
        </p:txBody>
      </p:sp>
      <p:sp>
        <p:nvSpPr>
          <p:cNvPr id="731" name="Google Shape;731;p71"/>
          <p:cNvSpPr txBox="1"/>
          <p:nvPr/>
        </p:nvSpPr>
        <p:spPr>
          <a:xfrm>
            <a:off x="3439900" y="27335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CR3</a:t>
            </a:r>
            <a:endParaRPr sz="1200">
              <a:solidFill>
                <a:srgbClr val="B7B7B7"/>
              </a:solidFill>
              <a:latin typeface="Lato"/>
              <a:ea typeface="Lato"/>
              <a:cs typeface="Lato"/>
              <a:sym typeface="Lato"/>
            </a:endParaRPr>
          </a:p>
        </p:txBody>
      </p:sp>
      <p:sp>
        <p:nvSpPr>
          <p:cNvPr id="732" name="Google Shape;732;p71"/>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CR5</a:t>
            </a:r>
            <a:endParaRPr sz="1200">
              <a:solidFill>
                <a:srgbClr val="B7B7B7"/>
              </a:solidFill>
              <a:latin typeface="Lato"/>
              <a:ea typeface="Lato"/>
              <a:cs typeface="Lato"/>
              <a:sym typeface="Lato"/>
            </a:endParaRPr>
          </a:p>
        </p:txBody>
      </p:sp>
      <p:sp>
        <p:nvSpPr>
          <p:cNvPr id="733" name="Google Shape;733;p71"/>
          <p:cNvSpPr txBox="1"/>
          <p:nvPr/>
        </p:nvSpPr>
        <p:spPr>
          <a:xfrm>
            <a:off x="1885788" y="4328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CM3</a:t>
            </a:r>
            <a:endParaRPr sz="1200">
              <a:solidFill>
                <a:srgbClr val="B7B7B7"/>
              </a:solidFill>
              <a:latin typeface="Lato"/>
              <a:ea typeface="Lato"/>
              <a:cs typeface="Lato"/>
              <a:sym typeface="Lato"/>
            </a:endParaRPr>
          </a:p>
        </p:txBody>
      </p:sp>
      <p:sp>
        <p:nvSpPr>
          <p:cNvPr id="734" name="Google Shape;734;p71"/>
          <p:cNvSpPr txBox="1"/>
          <p:nvPr/>
        </p:nvSpPr>
        <p:spPr>
          <a:xfrm>
            <a:off x="2869950"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CM2</a:t>
            </a:r>
            <a:endParaRPr sz="1200">
              <a:solidFill>
                <a:srgbClr val="B7B7B7"/>
              </a:solidFill>
              <a:latin typeface="Lato"/>
              <a:ea typeface="Lato"/>
              <a:cs typeface="Lato"/>
              <a:sym typeface="Lato"/>
            </a:endParaRPr>
          </a:p>
        </p:txBody>
      </p:sp>
      <p:cxnSp>
        <p:nvCxnSpPr>
          <p:cNvPr id="735" name="Google Shape;735;p71"/>
          <p:cNvCxnSpPr/>
          <p:nvPr/>
        </p:nvCxnSpPr>
        <p:spPr>
          <a:xfrm flipH="1">
            <a:off x="3170000" y="3197925"/>
            <a:ext cx="775800" cy="850500"/>
          </a:xfrm>
          <a:prstGeom prst="straightConnector1">
            <a:avLst/>
          </a:prstGeom>
          <a:noFill/>
          <a:ln cap="flat" cmpd="sng" w="9525">
            <a:solidFill>
              <a:srgbClr val="B7B7B7"/>
            </a:solidFill>
            <a:prstDash val="solid"/>
            <a:round/>
            <a:headEnd len="med" w="med" type="none"/>
            <a:tailEnd len="med" w="med" type="triangle"/>
          </a:ln>
        </p:spPr>
      </p:cxnSp>
      <p:sp>
        <p:nvSpPr>
          <p:cNvPr id="736" name="Google Shape;736;p71"/>
          <p:cNvSpPr txBox="1"/>
          <p:nvPr/>
        </p:nvSpPr>
        <p:spPr>
          <a:xfrm>
            <a:off x="3485088"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CM1</a:t>
            </a:r>
            <a:endParaRPr sz="1200">
              <a:solidFill>
                <a:srgbClr val="B7B7B7"/>
              </a:solidFill>
              <a:latin typeface="Lato"/>
              <a:ea typeface="Lato"/>
              <a:cs typeface="Lato"/>
              <a:sym typeface="Lato"/>
            </a:endParaRPr>
          </a:p>
        </p:txBody>
      </p:sp>
      <p:cxnSp>
        <p:nvCxnSpPr>
          <p:cNvPr id="737" name="Google Shape;737;p71"/>
          <p:cNvCxnSpPr>
            <a:endCxn id="736" idx="0"/>
          </p:cNvCxnSpPr>
          <p:nvPr/>
        </p:nvCxnSpPr>
        <p:spPr>
          <a:xfrm flipH="1">
            <a:off x="3769788" y="3685175"/>
            <a:ext cx="800100" cy="295800"/>
          </a:xfrm>
          <a:prstGeom prst="straightConnector1">
            <a:avLst/>
          </a:prstGeom>
          <a:noFill/>
          <a:ln cap="flat" cmpd="sng" w="9525">
            <a:solidFill>
              <a:srgbClr val="B7B7B7"/>
            </a:solidFill>
            <a:prstDash val="solid"/>
            <a:round/>
            <a:headEnd len="med" w="med" type="none"/>
            <a:tailEnd len="med" w="med" type="triangle"/>
          </a:ln>
        </p:spPr>
      </p:cxnSp>
      <p:cxnSp>
        <p:nvCxnSpPr>
          <p:cNvPr id="738" name="Google Shape;738;p71"/>
          <p:cNvCxnSpPr/>
          <p:nvPr/>
        </p:nvCxnSpPr>
        <p:spPr>
          <a:xfrm flipH="1">
            <a:off x="2423688" y="2965000"/>
            <a:ext cx="1061400" cy="1486200"/>
          </a:xfrm>
          <a:prstGeom prst="straightConnector1">
            <a:avLst/>
          </a:prstGeom>
          <a:noFill/>
          <a:ln cap="flat" cmpd="sng" w="9525">
            <a:solidFill>
              <a:srgbClr val="B7B7B7"/>
            </a:solidFill>
            <a:prstDash val="solid"/>
            <a:round/>
            <a:headEnd len="med" w="med" type="none"/>
            <a:tailEnd len="med" w="med" type="triangle"/>
          </a:ln>
        </p:spPr>
      </p:cxnSp>
      <p:sp>
        <p:nvSpPr>
          <p:cNvPr id="739" name="Google Shape;739;p71"/>
          <p:cNvSpPr txBox="1"/>
          <p:nvPr/>
        </p:nvSpPr>
        <p:spPr>
          <a:xfrm>
            <a:off x="3673050"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CR4</a:t>
            </a:r>
            <a:endParaRPr sz="1200">
              <a:solidFill>
                <a:schemeClr val="lt1"/>
              </a:solidFill>
              <a:latin typeface="Lato"/>
              <a:ea typeface="Lato"/>
              <a:cs typeface="Lato"/>
              <a:sym typeface="Lato"/>
            </a:endParaRPr>
          </a:p>
        </p:txBody>
      </p:sp>
      <p:sp>
        <p:nvSpPr>
          <p:cNvPr id="740" name="Google Shape;740;p71"/>
          <p:cNvSpPr txBox="1"/>
          <p:nvPr/>
        </p:nvSpPr>
        <p:spPr>
          <a:xfrm>
            <a:off x="2045088" y="389815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CM4</a:t>
            </a:r>
            <a:endParaRPr sz="1200">
              <a:solidFill>
                <a:schemeClr val="lt1"/>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72"/>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Client Risks</a:t>
            </a:r>
            <a:endParaRPr/>
          </a:p>
        </p:txBody>
      </p:sp>
      <p:pic>
        <p:nvPicPr>
          <p:cNvPr id="746" name="Google Shape;746;p72"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747" name="Google Shape;747;p72"/>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cxnSp>
        <p:nvCxnSpPr>
          <p:cNvPr id="748" name="Google Shape;748;p72"/>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749" name="Google Shape;749;p72"/>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CR1</a:t>
                      </a:r>
                      <a:r>
                        <a:rPr lang="en" sz="1100"/>
                        <a:t>: Breach of Client Confidentiality/IP</a:t>
                      </a:r>
                      <a:endParaRPr sz="1100"/>
                    </a:p>
                    <a:p>
                      <a:pPr indent="0" lvl="0" marL="0" rtl="0" algn="l">
                        <a:spcBef>
                          <a:spcPts val="0"/>
                        </a:spcBef>
                        <a:spcAft>
                          <a:spcPts val="0"/>
                        </a:spcAft>
                        <a:buNone/>
                      </a:pPr>
                      <a:r>
                        <a:rPr b="1" lang="en" sz="1100"/>
                        <a:t>CR2</a:t>
                      </a:r>
                      <a:r>
                        <a:rPr lang="en" sz="1100"/>
                        <a:t>: Adoption Friction and Production Error</a:t>
                      </a:r>
                      <a:endParaRPr sz="1100"/>
                    </a:p>
                    <a:p>
                      <a:pPr indent="0" lvl="0" marL="0" rtl="0" algn="l">
                        <a:spcBef>
                          <a:spcPts val="0"/>
                        </a:spcBef>
                        <a:spcAft>
                          <a:spcPts val="0"/>
                        </a:spcAft>
                        <a:buNone/>
                      </a:pPr>
                      <a:r>
                        <a:rPr b="1" lang="en" sz="1100"/>
                        <a:t>CR3</a:t>
                      </a:r>
                      <a:r>
                        <a:rPr lang="en" sz="1100"/>
                        <a:t>: Centralized Service Outages</a:t>
                      </a:r>
                      <a:endParaRPr sz="1100"/>
                    </a:p>
                    <a:p>
                      <a:pPr indent="0" lvl="0" marL="0" rtl="0" algn="l">
                        <a:spcBef>
                          <a:spcPts val="0"/>
                        </a:spcBef>
                        <a:spcAft>
                          <a:spcPts val="0"/>
                        </a:spcAft>
                        <a:buNone/>
                      </a:pPr>
                      <a:r>
                        <a:rPr b="1" lang="en" sz="1100"/>
                        <a:t>CR4</a:t>
                      </a:r>
                      <a:r>
                        <a:rPr lang="en" sz="1100"/>
                        <a:t>: Wrong Information</a:t>
                      </a:r>
                      <a:endParaRPr sz="1100"/>
                    </a:p>
                    <a:p>
                      <a:pPr indent="0" lvl="0" marL="0" rtl="0" algn="l">
                        <a:spcBef>
                          <a:spcPts val="0"/>
                        </a:spcBef>
                        <a:spcAft>
                          <a:spcPts val="0"/>
                        </a:spcAft>
                        <a:buNone/>
                      </a:pPr>
                      <a:r>
                        <a:rPr b="1" lang="en" sz="1100"/>
                        <a:t>CR5</a:t>
                      </a:r>
                      <a:r>
                        <a:rPr lang="en" sz="1100"/>
                        <a:t>: Customer Trust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CM1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CM2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CM3</a:t>
                      </a:r>
                      <a:r>
                        <a:rPr lang="en" sz="1000"/>
                        <a:t>: Local redundancy in infrastructure alongside minimizing need for communication with central database provides tolerance for partial functionality during minor outages.</a:t>
                      </a:r>
                      <a:endParaRPr sz="1000"/>
                    </a:p>
                    <a:p>
                      <a:pPr indent="0" lvl="0" marL="0" rtl="0" algn="l">
                        <a:spcBef>
                          <a:spcPts val="0"/>
                        </a:spcBef>
                        <a:spcAft>
                          <a:spcPts val="0"/>
                        </a:spcAft>
                        <a:buNone/>
                      </a:pPr>
                      <a:r>
                        <a:rPr b="1" lang="en" sz="1000"/>
                        <a:t>CM4</a:t>
                      </a:r>
                      <a:r>
                        <a:rPr lang="en" sz="1000"/>
                        <a:t>: System design emphasizes cohering with reality as provided by the user but prevents entry of known nonsensical data, validation falls to user facilitated by system metrics.</a:t>
                      </a:r>
                      <a:endParaRPr sz="1000"/>
                    </a:p>
                    <a:p>
                      <a:pPr indent="0" lvl="0" marL="0" rtl="0" algn="l">
                        <a:spcBef>
                          <a:spcPts val="0"/>
                        </a:spcBef>
                        <a:spcAft>
                          <a:spcPts val="0"/>
                        </a:spcAft>
                        <a:buNone/>
                      </a:pPr>
                      <a:r>
                        <a:rPr b="1" lang="en" sz="1000"/>
                        <a:t>CM5</a:t>
                      </a:r>
                      <a:r>
                        <a:rPr lang="en" sz="1000"/>
                        <a:t>: Emphasis on transparent and continuing dialogue between development and domain clients gradually handing off to client tools to self-maintain workflows.</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750" name="Google Shape;750;p72"/>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751" name="Google Shape;751;p72"/>
          <p:cNvSpPr txBox="1"/>
          <p:nvPr/>
        </p:nvSpPr>
        <p:spPr>
          <a:xfrm>
            <a:off x="4307063" y="3399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CR1</a:t>
            </a:r>
            <a:endParaRPr sz="1200">
              <a:solidFill>
                <a:srgbClr val="B7B7B7"/>
              </a:solidFill>
              <a:latin typeface="Lato"/>
              <a:ea typeface="Lato"/>
              <a:cs typeface="Lato"/>
              <a:sym typeface="Lato"/>
            </a:endParaRPr>
          </a:p>
        </p:txBody>
      </p:sp>
      <p:sp>
        <p:nvSpPr>
          <p:cNvPr id="752" name="Google Shape;752;p72"/>
          <p:cNvSpPr txBox="1"/>
          <p:nvPr/>
        </p:nvSpPr>
        <p:spPr>
          <a:xfrm>
            <a:off x="3764875"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CR2</a:t>
            </a:r>
            <a:endParaRPr sz="1200">
              <a:solidFill>
                <a:srgbClr val="B7B7B7"/>
              </a:solidFill>
              <a:latin typeface="Lato"/>
              <a:ea typeface="Lato"/>
              <a:cs typeface="Lato"/>
              <a:sym typeface="Lato"/>
            </a:endParaRPr>
          </a:p>
        </p:txBody>
      </p:sp>
      <p:sp>
        <p:nvSpPr>
          <p:cNvPr id="753" name="Google Shape;753;p72"/>
          <p:cNvSpPr txBox="1"/>
          <p:nvPr/>
        </p:nvSpPr>
        <p:spPr>
          <a:xfrm>
            <a:off x="3439900" y="27335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CR3</a:t>
            </a:r>
            <a:endParaRPr sz="1200">
              <a:solidFill>
                <a:srgbClr val="B7B7B7"/>
              </a:solidFill>
              <a:latin typeface="Lato"/>
              <a:ea typeface="Lato"/>
              <a:cs typeface="Lato"/>
              <a:sym typeface="Lato"/>
            </a:endParaRPr>
          </a:p>
        </p:txBody>
      </p:sp>
      <p:sp>
        <p:nvSpPr>
          <p:cNvPr id="754" name="Google Shape;754;p72"/>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CR5</a:t>
            </a:r>
            <a:endParaRPr sz="1200">
              <a:solidFill>
                <a:srgbClr val="B7B7B7"/>
              </a:solidFill>
              <a:latin typeface="Lato"/>
              <a:ea typeface="Lato"/>
              <a:cs typeface="Lato"/>
              <a:sym typeface="Lato"/>
            </a:endParaRPr>
          </a:p>
        </p:txBody>
      </p:sp>
      <p:sp>
        <p:nvSpPr>
          <p:cNvPr id="755" name="Google Shape;755;p72"/>
          <p:cNvSpPr txBox="1"/>
          <p:nvPr/>
        </p:nvSpPr>
        <p:spPr>
          <a:xfrm>
            <a:off x="1885788" y="4328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CM3</a:t>
            </a:r>
            <a:endParaRPr sz="1200">
              <a:solidFill>
                <a:srgbClr val="B7B7B7"/>
              </a:solidFill>
              <a:latin typeface="Lato"/>
              <a:ea typeface="Lato"/>
              <a:cs typeface="Lato"/>
              <a:sym typeface="Lato"/>
            </a:endParaRPr>
          </a:p>
        </p:txBody>
      </p:sp>
      <p:sp>
        <p:nvSpPr>
          <p:cNvPr id="756" name="Google Shape;756;p72"/>
          <p:cNvSpPr txBox="1"/>
          <p:nvPr/>
        </p:nvSpPr>
        <p:spPr>
          <a:xfrm>
            <a:off x="2869950"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CM2</a:t>
            </a:r>
            <a:endParaRPr sz="1200">
              <a:solidFill>
                <a:srgbClr val="B7B7B7"/>
              </a:solidFill>
              <a:latin typeface="Lato"/>
              <a:ea typeface="Lato"/>
              <a:cs typeface="Lato"/>
              <a:sym typeface="Lato"/>
            </a:endParaRPr>
          </a:p>
        </p:txBody>
      </p:sp>
      <p:cxnSp>
        <p:nvCxnSpPr>
          <p:cNvPr id="757" name="Google Shape;757;p72"/>
          <p:cNvCxnSpPr/>
          <p:nvPr/>
        </p:nvCxnSpPr>
        <p:spPr>
          <a:xfrm flipH="1">
            <a:off x="3170000" y="3197925"/>
            <a:ext cx="775800" cy="850500"/>
          </a:xfrm>
          <a:prstGeom prst="straightConnector1">
            <a:avLst/>
          </a:prstGeom>
          <a:noFill/>
          <a:ln cap="flat" cmpd="sng" w="9525">
            <a:solidFill>
              <a:srgbClr val="B7B7B7"/>
            </a:solidFill>
            <a:prstDash val="solid"/>
            <a:round/>
            <a:headEnd len="med" w="med" type="none"/>
            <a:tailEnd len="med" w="med" type="triangle"/>
          </a:ln>
        </p:spPr>
      </p:cxnSp>
      <p:sp>
        <p:nvSpPr>
          <p:cNvPr id="758" name="Google Shape;758;p72"/>
          <p:cNvSpPr txBox="1"/>
          <p:nvPr/>
        </p:nvSpPr>
        <p:spPr>
          <a:xfrm>
            <a:off x="3485088"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CM1</a:t>
            </a:r>
            <a:endParaRPr sz="1200">
              <a:solidFill>
                <a:srgbClr val="B7B7B7"/>
              </a:solidFill>
              <a:latin typeface="Lato"/>
              <a:ea typeface="Lato"/>
              <a:cs typeface="Lato"/>
              <a:sym typeface="Lato"/>
            </a:endParaRPr>
          </a:p>
        </p:txBody>
      </p:sp>
      <p:cxnSp>
        <p:nvCxnSpPr>
          <p:cNvPr id="759" name="Google Shape;759;p72"/>
          <p:cNvCxnSpPr>
            <a:endCxn id="758" idx="0"/>
          </p:cNvCxnSpPr>
          <p:nvPr/>
        </p:nvCxnSpPr>
        <p:spPr>
          <a:xfrm flipH="1">
            <a:off x="3769788" y="3685175"/>
            <a:ext cx="800100" cy="295800"/>
          </a:xfrm>
          <a:prstGeom prst="straightConnector1">
            <a:avLst/>
          </a:prstGeom>
          <a:noFill/>
          <a:ln cap="flat" cmpd="sng" w="9525">
            <a:solidFill>
              <a:srgbClr val="B7B7B7"/>
            </a:solidFill>
            <a:prstDash val="solid"/>
            <a:round/>
            <a:headEnd len="med" w="med" type="none"/>
            <a:tailEnd len="med" w="med" type="triangle"/>
          </a:ln>
        </p:spPr>
      </p:cxnSp>
      <p:cxnSp>
        <p:nvCxnSpPr>
          <p:cNvPr id="760" name="Google Shape;760;p72"/>
          <p:cNvCxnSpPr/>
          <p:nvPr/>
        </p:nvCxnSpPr>
        <p:spPr>
          <a:xfrm flipH="1">
            <a:off x="2423688" y="2965000"/>
            <a:ext cx="1061400" cy="1486200"/>
          </a:xfrm>
          <a:prstGeom prst="straightConnector1">
            <a:avLst/>
          </a:prstGeom>
          <a:noFill/>
          <a:ln cap="flat" cmpd="sng" w="9525">
            <a:solidFill>
              <a:srgbClr val="B7B7B7"/>
            </a:solidFill>
            <a:prstDash val="solid"/>
            <a:round/>
            <a:headEnd len="med" w="med" type="none"/>
            <a:tailEnd len="med" w="med" type="triangle"/>
          </a:ln>
        </p:spPr>
      </p:cxnSp>
      <p:sp>
        <p:nvSpPr>
          <p:cNvPr id="761" name="Google Shape;761;p72"/>
          <p:cNvSpPr txBox="1"/>
          <p:nvPr/>
        </p:nvSpPr>
        <p:spPr>
          <a:xfrm>
            <a:off x="3673050"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CR4</a:t>
            </a:r>
            <a:endParaRPr sz="1200">
              <a:solidFill>
                <a:schemeClr val="lt1"/>
              </a:solidFill>
              <a:latin typeface="Lato"/>
              <a:ea typeface="Lato"/>
              <a:cs typeface="Lato"/>
              <a:sym typeface="Lato"/>
            </a:endParaRPr>
          </a:p>
        </p:txBody>
      </p:sp>
      <p:sp>
        <p:nvSpPr>
          <p:cNvPr id="762" name="Google Shape;762;p72"/>
          <p:cNvSpPr txBox="1"/>
          <p:nvPr/>
        </p:nvSpPr>
        <p:spPr>
          <a:xfrm>
            <a:off x="2045088" y="389815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CM4</a:t>
            </a:r>
            <a:endParaRPr sz="1200">
              <a:latin typeface="Lato"/>
              <a:ea typeface="Lato"/>
              <a:cs typeface="Lato"/>
              <a:sym typeface="Lato"/>
            </a:endParaRPr>
          </a:p>
        </p:txBody>
      </p:sp>
      <p:cxnSp>
        <p:nvCxnSpPr>
          <p:cNvPr id="763" name="Google Shape;763;p72"/>
          <p:cNvCxnSpPr>
            <a:stCxn id="761" idx="1"/>
          </p:cNvCxnSpPr>
          <p:nvPr/>
        </p:nvCxnSpPr>
        <p:spPr>
          <a:xfrm flipH="1">
            <a:off x="2534250" y="3623175"/>
            <a:ext cx="1138800" cy="4179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73"/>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Client Risks</a:t>
            </a:r>
            <a:endParaRPr/>
          </a:p>
        </p:txBody>
      </p:sp>
      <p:pic>
        <p:nvPicPr>
          <p:cNvPr id="769" name="Google Shape;769;p73"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770" name="Google Shape;770;p73"/>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cxnSp>
        <p:nvCxnSpPr>
          <p:cNvPr id="771" name="Google Shape;771;p73"/>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772" name="Google Shape;772;p73"/>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CR1</a:t>
                      </a:r>
                      <a:r>
                        <a:rPr lang="en" sz="1100"/>
                        <a:t>: Breach of Client Confidentiality/IP</a:t>
                      </a:r>
                      <a:endParaRPr sz="1100"/>
                    </a:p>
                    <a:p>
                      <a:pPr indent="0" lvl="0" marL="0" rtl="0" algn="l">
                        <a:spcBef>
                          <a:spcPts val="0"/>
                        </a:spcBef>
                        <a:spcAft>
                          <a:spcPts val="0"/>
                        </a:spcAft>
                        <a:buNone/>
                      </a:pPr>
                      <a:r>
                        <a:rPr b="1" lang="en" sz="1100"/>
                        <a:t>CR2</a:t>
                      </a:r>
                      <a:r>
                        <a:rPr lang="en" sz="1100"/>
                        <a:t>: Adoption Friction and Production Error</a:t>
                      </a:r>
                      <a:endParaRPr sz="1100"/>
                    </a:p>
                    <a:p>
                      <a:pPr indent="0" lvl="0" marL="0" rtl="0" algn="l">
                        <a:spcBef>
                          <a:spcPts val="0"/>
                        </a:spcBef>
                        <a:spcAft>
                          <a:spcPts val="0"/>
                        </a:spcAft>
                        <a:buNone/>
                      </a:pPr>
                      <a:r>
                        <a:rPr b="1" lang="en" sz="1100"/>
                        <a:t>CR3</a:t>
                      </a:r>
                      <a:r>
                        <a:rPr lang="en" sz="1100"/>
                        <a:t>: Centralized Service Outages</a:t>
                      </a:r>
                      <a:endParaRPr sz="1100"/>
                    </a:p>
                    <a:p>
                      <a:pPr indent="0" lvl="0" marL="0" rtl="0" algn="l">
                        <a:spcBef>
                          <a:spcPts val="0"/>
                        </a:spcBef>
                        <a:spcAft>
                          <a:spcPts val="0"/>
                        </a:spcAft>
                        <a:buNone/>
                      </a:pPr>
                      <a:r>
                        <a:rPr b="1" lang="en" sz="1100"/>
                        <a:t>CR4</a:t>
                      </a:r>
                      <a:r>
                        <a:rPr lang="en" sz="1100"/>
                        <a:t>: Wrong Information</a:t>
                      </a:r>
                      <a:endParaRPr sz="1100"/>
                    </a:p>
                    <a:p>
                      <a:pPr indent="0" lvl="0" marL="0" rtl="0" algn="l">
                        <a:spcBef>
                          <a:spcPts val="0"/>
                        </a:spcBef>
                        <a:spcAft>
                          <a:spcPts val="0"/>
                        </a:spcAft>
                        <a:buNone/>
                      </a:pPr>
                      <a:r>
                        <a:rPr b="1" lang="en" sz="1100"/>
                        <a:t>CR5</a:t>
                      </a:r>
                      <a:r>
                        <a:rPr lang="en" sz="1100"/>
                        <a:t>: Customer Trust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CM1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CM2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CM3</a:t>
                      </a:r>
                      <a:r>
                        <a:rPr lang="en" sz="1000"/>
                        <a:t>: Local redundancy in infrastructure alongside minimizing need for communication with central database provides tolerance for partial functionality during minor outages.</a:t>
                      </a:r>
                      <a:endParaRPr sz="1000"/>
                    </a:p>
                    <a:p>
                      <a:pPr indent="0" lvl="0" marL="0" rtl="0" algn="l">
                        <a:spcBef>
                          <a:spcPts val="0"/>
                        </a:spcBef>
                        <a:spcAft>
                          <a:spcPts val="0"/>
                        </a:spcAft>
                        <a:buNone/>
                      </a:pPr>
                      <a:r>
                        <a:rPr b="1" lang="en" sz="1000"/>
                        <a:t>CM4</a:t>
                      </a:r>
                      <a:r>
                        <a:rPr lang="en" sz="1000"/>
                        <a:t>: System design emphasizes cohering with reality as provided by the user but prevents entry of known nonsensical data, validation falls to user facilitated by system metrics.</a:t>
                      </a:r>
                      <a:endParaRPr sz="1000"/>
                    </a:p>
                    <a:p>
                      <a:pPr indent="0" lvl="0" marL="0" rtl="0" algn="l">
                        <a:spcBef>
                          <a:spcPts val="0"/>
                        </a:spcBef>
                        <a:spcAft>
                          <a:spcPts val="0"/>
                        </a:spcAft>
                        <a:buNone/>
                      </a:pPr>
                      <a:r>
                        <a:rPr b="1" lang="en" sz="1000"/>
                        <a:t>CM5</a:t>
                      </a:r>
                      <a:r>
                        <a:rPr lang="en" sz="1000"/>
                        <a:t>: Emphasis on transparent and continuing dialogue between development and domain clients gradually handing off to client tools to self-maintain workflows.</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773" name="Google Shape;773;p73"/>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774" name="Google Shape;774;p73"/>
          <p:cNvSpPr txBox="1"/>
          <p:nvPr/>
        </p:nvSpPr>
        <p:spPr>
          <a:xfrm>
            <a:off x="4307063" y="3399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CR1</a:t>
            </a:r>
            <a:endParaRPr sz="1200">
              <a:solidFill>
                <a:srgbClr val="B7B7B7"/>
              </a:solidFill>
              <a:latin typeface="Lato"/>
              <a:ea typeface="Lato"/>
              <a:cs typeface="Lato"/>
              <a:sym typeface="Lato"/>
            </a:endParaRPr>
          </a:p>
        </p:txBody>
      </p:sp>
      <p:sp>
        <p:nvSpPr>
          <p:cNvPr id="775" name="Google Shape;775;p73"/>
          <p:cNvSpPr txBox="1"/>
          <p:nvPr/>
        </p:nvSpPr>
        <p:spPr>
          <a:xfrm>
            <a:off x="3764875"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CR2</a:t>
            </a:r>
            <a:endParaRPr sz="1200">
              <a:solidFill>
                <a:srgbClr val="B7B7B7"/>
              </a:solidFill>
              <a:latin typeface="Lato"/>
              <a:ea typeface="Lato"/>
              <a:cs typeface="Lato"/>
              <a:sym typeface="Lato"/>
            </a:endParaRPr>
          </a:p>
        </p:txBody>
      </p:sp>
      <p:sp>
        <p:nvSpPr>
          <p:cNvPr id="776" name="Google Shape;776;p73"/>
          <p:cNvSpPr txBox="1"/>
          <p:nvPr/>
        </p:nvSpPr>
        <p:spPr>
          <a:xfrm>
            <a:off x="3439900" y="27335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CR3</a:t>
            </a:r>
            <a:endParaRPr sz="1200">
              <a:solidFill>
                <a:srgbClr val="B7B7B7"/>
              </a:solidFill>
              <a:latin typeface="Lato"/>
              <a:ea typeface="Lato"/>
              <a:cs typeface="Lato"/>
              <a:sym typeface="Lato"/>
            </a:endParaRPr>
          </a:p>
        </p:txBody>
      </p:sp>
      <p:sp>
        <p:nvSpPr>
          <p:cNvPr id="777" name="Google Shape;777;p73"/>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CR5</a:t>
            </a:r>
            <a:endParaRPr sz="1200">
              <a:solidFill>
                <a:srgbClr val="B7B7B7"/>
              </a:solidFill>
              <a:latin typeface="Lato"/>
              <a:ea typeface="Lato"/>
              <a:cs typeface="Lato"/>
              <a:sym typeface="Lato"/>
            </a:endParaRPr>
          </a:p>
        </p:txBody>
      </p:sp>
      <p:sp>
        <p:nvSpPr>
          <p:cNvPr id="778" name="Google Shape;778;p73"/>
          <p:cNvSpPr txBox="1"/>
          <p:nvPr/>
        </p:nvSpPr>
        <p:spPr>
          <a:xfrm>
            <a:off x="1885788" y="4328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CM3</a:t>
            </a:r>
            <a:endParaRPr sz="1200">
              <a:solidFill>
                <a:srgbClr val="B7B7B7"/>
              </a:solidFill>
              <a:latin typeface="Lato"/>
              <a:ea typeface="Lato"/>
              <a:cs typeface="Lato"/>
              <a:sym typeface="Lato"/>
            </a:endParaRPr>
          </a:p>
        </p:txBody>
      </p:sp>
      <p:sp>
        <p:nvSpPr>
          <p:cNvPr id="779" name="Google Shape;779;p73"/>
          <p:cNvSpPr txBox="1"/>
          <p:nvPr/>
        </p:nvSpPr>
        <p:spPr>
          <a:xfrm>
            <a:off x="2869950"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CM2</a:t>
            </a:r>
            <a:endParaRPr sz="1200">
              <a:solidFill>
                <a:srgbClr val="B7B7B7"/>
              </a:solidFill>
              <a:latin typeface="Lato"/>
              <a:ea typeface="Lato"/>
              <a:cs typeface="Lato"/>
              <a:sym typeface="Lato"/>
            </a:endParaRPr>
          </a:p>
        </p:txBody>
      </p:sp>
      <p:cxnSp>
        <p:nvCxnSpPr>
          <p:cNvPr id="780" name="Google Shape;780;p73"/>
          <p:cNvCxnSpPr/>
          <p:nvPr/>
        </p:nvCxnSpPr>
        <p:spPr>
          <a:xfrm flipH="1">
            <a:off x="3170000" y="3197925"/>
            <a:ext cx="775800" cy="850500"/>
          </a:xfrm>
          <a:prstGeom prst="straightConnector1">
            <a:avLst/>
          </a:prstGeom>
          <a:noFill/>
          <a:ln cap="flat" cmpd="sng" w="9525">
            <a:solidFill>
              <a:srgbClr val="B7B7B7"/>
            </a:solidFill>
            <a:prstDash val="solid"/>
            <a:round/>
            <a:headEnd len="med" w="med" type="none"/>
            <a:tailEnd len="med" w="med" type="triangle"/>
          </a:ln>
        </p:spPr>
      </p:cxnSp>
      <p:sp>
        <p:nvSpPr>
          <p:cNvPr id="781" name="Google Shape;781;p73"/>
          <p:cNvSpPr txBox="1"/>
          <p:nvPr/>
        </p:nvSpPr>
        <p:spPr>
          <a:xfrm>
            <a:off x="3485088"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CM1</a:t>
            </a:r>
            <a:endParaRPr sz="1200">
              <a:solidFill>
                <a:srgbClr val="B7B7B7"/>
              </a:solidFill>
              <a:latin typeface="Lato"/>
              <a:ea typeface="Lato"/>
              <a:cs typeface="Lato"/>
              <a:sym typeface="Lato"/>
            </a:endParaRPr>
          </a:p>
        </p:txBody>
      </p:sp>
      <p:cxnSp>
        <p:nvCxnSpPr>
          <p:cNvPr id="782" name="Google Shape;782;p73"/>
          <p:cNvCxnSpPr>
            <a:endCxn id="781" idx="0"/>
          </p:cNvCxnSpPr>
          <p:nvPr/>
        </p:nvCxnSpPr>
        <p:spPr>
          <a:xfrm flipH="1">
            <a:off x="3769788" y="3685175"/>
            <a:ext cx="800100" cy="295800"/>
          </a:xfrm>
          <a:prstGeom prst="straightConnector1">
            <a:avLst/>
          </a:prstGeom>
          <a:noFill/>
          <a:ln cap="flat" cmpd="sng" w="9525">
            <a:solidFill>
              <a:srgbClr val="B7B7B7"/>
            </a:solidFill>
            <a:prstDash val="solid"/>
            <a:round/>
            <a:headEnd len="med" w="med" type="none"/>
            <a:tailEnd len="med" w="med" type="triangle"/>
          </a:ln>
        </p:spPr>
      </p:cxnSp>
      <p:cxnSp>
        <p:nvCxnSpPr>
          <p:cNvPr id="783" name="Google Shape;783;p73"/>
          <p:cNvCxnSpPr/>
          <p:nvPr/>
        </p:nvCxnSpPr>
        <p:spPr>
          <a:xfrm flipH="1">
            <a:off x="2423688" y="2965000"/>
            <a:ext cx="1061400" cy="1486200"/>
          </a:xfrm>
          <a:prstGeom prst="straightConnector1">
            <a:avLst/>
          </a:prstGeom>
          <a:noFill/>
          <a:ln cap="flat" cmpd="sng" w="9525">
            <a:solidFill>
              <a:srgbClr val="B7B7B7"/>
            </a:solidFill>
            <a:prstDash val="solid"/>
            <a:round/>
            <a:headEnd len="med" w="med" type="none"/>
            <a:tailEnd len="med" w="med" type="triangle"/>
          </a:ln>
        </p:spPr>
      </p:cxnSp>
      <p:sp>
        <p:nvSpPr>
          <p:cNvPr id="784" name="Google Shape;784;p73"/>
          <p:cNvSpPr txBox="1"/>
          <p:nvPr/>
        </p:nvSpPr>
        <p:spPr>
          <a:xfrm>
            <a:off x="3673050"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CR4</a:t>
            </a:r>
            <a:endParaRPr sz="1200">
              <a:solidFill>
                <a:srgbClr val="B7B7B7"/>
              </a:solidFill>
              <a:latin typeface="Lato"/>
              <a:ea typeface="Lato"/>
              <a:cs typeface="Lato"/>
              <a:sym typeface="Lato"/>
            </a:endParaRPr>
          </a:p>
        </p:txBody>
      </p:sp>
      <p:sp>
        <p:nvSpPr>
          <p:cNvPr id="785" name="Google Shape;785;p73"/>
          <p:cNvSpPr txBox="1"/>
          <p:nvPr/>
        </p:nvSpPr>
        <p:spPr>
          <a:xfrm>
            <a:off x="2045088" y="389815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CM4</a:t>
            </a:r>
            <a:endParaRPr sz="1200">
              <a:solidFill>
                <a:srgbClr val="B7B7B7"/>
              </a:solidFill>
              <a:latin typeface="Lato"/>
              <a:ea typeface="Lato"/>
              <a:cs typeface="Lato"/>
              <a:sym typeface="Lato"/>
            </a:endParaRPr>
          </a:p>
        </p:txBody>
      </p:sp>
      <p:cxnSp>
        <p:nvCxnSpPr>
          <p:cNvPr id="786" name="Google Shape;786;p73"/>
          <p:cNvCxnSpPr>
            <a:stCxn id="784" idx="1"/>
          </p:cNvCxnSpPr>
          <p:nvPr/>
        </p:nvCxnSpPr>
        <p:spPr>
          <a:xfrm flipH="1">
            <a:off x="2534250" y="3623175"/>
            <a:ext cx="1138800" cy="417900"/>
          </a:xfrm>
          <a:prstGeom prst="straightConnector1">
            <a:avLst/>
          </a:prstGeom>
          <a:noFill/>
          <a:ln cap="flat" cmpd="sng" w="9525">
            <a:solidFill>
              <a:srgbClr val="B7B7B7"/>
            </a:solidFill>
            <a:prstDash val="solid"/>
            <a:round/>
            <a:headEnd len="med" w="med" type="none"/>
            <a:tailEnd len="med" w="med" type="triangle"/>
          </a:ln>
        </p:spPr>
      </p:cxnSp>
      <p:sp>
        <p:nvSpPr>
          <p:cNvPr id="787" name="Google Shape;787;p73"/>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CR5</a:t>
            </a:r>
            <a:endParaRPr sz="1200">
              <a:solidFill>
                <a:schemeClr val="lt1"/>
              </a:solidFill>
              <a:latin typeface="Lato"/>
              <a:ea typeface="Lato"/>
              <a:cs typeface="Lato"/>
              <a:sym typeface="Lato"/>
            </a:endParaRPr>
          </a:p>
        </p:txBody>
      </p:sp>
      <p:sp>
        <p:nvSpPr>
          <p:cNvPr id="788" name="Google Shape;788;p73"/>
          <p:cNvSpPr txBox="1"/>
          <p:nvPr/>
        </p:nvSpPr>
        <p:spPr>
          <a:xfrm>
            <a:off x="2993713"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CM5</a:t>
            </a:r>
            <a:endParaRPr sz="1200">
              <a:solidFill>
                <a:schemeClr val="l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74"/>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Client Risks</a:t>
            </a:r>
            <a:endParaRPr/>
          </a:p>
        </p:txBody>
      </p:sp>
      <p:pic>
        <p:nvPicPr>
          <p:cNvPr id="794" name="Google Shape;794;p74"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795" name="Google Shape;795;p74"/>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cxnSp>
        <p:nvCxnSpPr>
          <p:cNvPr id="796" name="Google Shape;796;p74"/>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797" name="Google Shape;797;p74"/>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CR1</a:t>
                      </a:r>
                      <a:r>
                        <a:rPr lang="en" sz="1100"/>
                        <a:t>: Breach of Client Confidentiality/IP</a:t>
                      </a:r>
                      <a:endParaRPr sz="1100"/>
                    </a:p>
                    <a:p>
                      <a:pPr indent="0" lvl="0" marL="0" rtl="0" algn="l">
                        <a:spcBef>
                          <a:spcPts val="0"/>
                        </a:spcBef>
                        <a:spcAft>
                          <a:spcPts val="0"/>
                        </a:spcAft>
                        <a:buNone/>
                      </a:pPr>
                      <a:r>
                        <a:rPr b="1" lang="en" sz="1100"/>
                        <a:t>CR2</a:t>
                      </a:r>
                      <a:r>
                        <a:rPr lang="en" sz="1100"/>
                        <a:t>: Adoption Friction and Production Error</a:t>
                      </a:r>
                      <a:endParaRPr sz="1100"/>
                    </a:p>
                    <a:p>
                      <a:pPr indent="0" lvl="0" marL="0" rtl="0" algn="l">
                        <a:spcBef>
                          <a:spcPts val="0"/>
                        </a:spcBef>
                        <a:spcAft>
                          <a:spcPts val="0"/>
                        </a:spcAft>
                        <a:buNone/>
                      </a:pPr>
                      <a:r>
                        <a:rPr b="1" lang="en" sz="1100"/>
                        <a:t>CR3</a:t>
                      </a:r>
                      <a:r>
                        <a:rPr lang="en" sz="1100"/>
                        <a:t>: Centralized Service Outages</a:t>
                      </a:r>
                      <a:endParaRPr sz="1100"/>
                    </a:p>
                    <a:p>
                      <a:pPr indent="0" lvl="0" marL="0" rtl="0" algn="l">
                        <a:spcBef>
                          <a:spcPts val="0"/>
                        </a:spcBef>
                        <a:spcAft>
                          <a:spcPts val="0"/>
                        </a:spcAft>
                        <a:buNone/>
                      </a:pPr>
                      <a:r>
                        <a:rPr b="1" lang="en" sz="1100"/>
                        <a:t>CR4</a:t>
                      </a:r>
                      <a:r>
                        <a:rPr lang="en" sz="1100"/>
                        <a:t>: Wrong Information</a:t>
                      </a:r>
                      <a:endParaRPr sz="1100"/>
                    </a:p>
                    <a:p>
                      <a:pPr indent="0" lvl="0" marL="0" rtl="0" algn="l">
                        <a:spcBef>
                          <a:spcPts val="0"/>
                        </a:spcBef>
                        <a:spcAft>
                          <a:spcPts val="0"/>
                        </a:spcAft>
                        <a:buNone/>
                      </a:pPr>
                      <a:r>
                        <a:rPr b="1" lang="en" sz="1100"/>
                        <a:t>CR5</a:t>
                      </a:r>
                      <a:r>
                        <a:rPr lang="en" sz="1100"/>
                        <a:t>: Customer Trust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CM1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CM2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CM3</a:t>
                      </a:r>
                      <a:r>
                        <a:rPr lang="en" sz="1000"/>
                        <a:t>: Local redundancy in infrastructure alongside minimizing need for communication with central database provides tolerance for partial functionality during minor outages.</a:t>
                      </a:r>
                      <a:endParaRPr sz="1000"/>
                    </a:p>
                    <a:p>
                      <a:pPr indent="0" lvl="0" marL="0" rtl="0" algn="l">
                        <a:spcBef>
                          <a:spcPts val="0"/>
                        </a:spcBef>
                        <a:spcAft>
                          <a:spcPts val="0"/>
                        </a:spcAft>
                        <a:buNone/>
                      </a:pPr>
                      <a:r>
                        <a:rPr b="1" lang="en" sz="1000"/>
                        <a:t>CM4</a:t>
                      </a:r>
                      <a:r>
                        <a:rPr lang="en" sz="1000"/>
                        <a:t>: System design emphasizes cohering with reality as provided by the user but prevents entry of known nonsensical data, validation falls to user facilitated by system metrics.</a:t>
                      </a:r>
                      <a:endParaRPr sz="1000"/>
                    </a:p>
                    <a:p>
                      <a:pPr indent="0" lvl="0" marL="0" rtl="0" algn="l">
                        <a:spcBef>
                          <a:spcPts val="0"/>
                        </a:spcBef>
                        <a:spcAft>
                          <a:spcPts val="0"/>
                        </a:spcAft>
                        <a:buNone/>
                      </a:pPr>
                      <a:r>
                        <a:rPr b="1" lang="en" sz="1000"/>
                        <a:t>CM5</a:t>
                      </a:r>
                      <a:r>
                        <a:rPr lang="en" sz="1000"/>
                        <a:t>: Emphasis on transparent and continuing dialogue between development and domain clients gradually handing off to client tools to self-maintain workflows.</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798" name="Google Shape;798;p74"/>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799" name="Google Shape;799;p74"/>
          <p:cNvSpPr txBox="1"/>
          <p:nvPr/>
        </p:nvSpPr>
        <p:spPr>
          <a:xfrm>
            <a:off x="4307063" y="3399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CR1</a:t>
            </a:r>
            <a:endParaRPr sz="1200">
              <a:solidFill>
                <a:srgbClr val="B7B7B7"/>
              </a:solidFill>
              <a:latin typeface="Lato"/>
              <a:ea typeface="Lato"/>
              <a:cs typeface="Lato"/>
              <a:sym typeface="Lato"/>
            </a:endParaRPr>
          </a:p>
        </p:txBody>
      </p:sp>
      <p:sp>
        <p:nvSpPr>
          <p:cNvPr id="800" name="Google Shape;800;p74"/>
          <p:cNvSpPr txBox="1"/>
          <p:nvPr/>
        </p:nvSpPr>
        <p:spPr>
          <a:xfrm>
            <a:off x="3764875"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CR2</a:t>
            </a:r>
            <a:endParaRPr sz="1200">
              <a:solidFill>
                <a:srgbClr val="B7B7B7"/>
              </a:solidFill>
              <a:latin typeface="Lato"/>
              <a:ea typeface="Lato"/>
              <a:cs typeface="Lato"/>
              <a:sym typeface="Lato"/>
            </a:endParaRPr>
          </a:p>
        </p:txBody>
      </p:sp>
      <p:sp>
        <p:nvSpPr>
          <p:cNvPr id="801" name="Google Shape;801;p74"/>
          <p:cNvSpPr txBox="1"/>
          <p:nvPr/>
        </p:nvSpPr>
        <p:spPr>
          <a:xfrm>
            <a:off x="3439900" y="27335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CR3</a:t>
            </a:r>
            <a:endParaRPr sz="1200">
              <a:solidFill>
                <a:srgbClr val="B7B7B7"/>
              </a:solidFill>
              <a:latin typeface="Lato"/>
              <a:ea typeface="Lato"/>
              <a:cs typeface="Lato"/>
              <a:sym typeface="Lato"/>
            </a:endParaRPr>
          </a:p>
        </p:txBody>
      </p:sp>
      <p:sp>
        <p:nvSpPr>
          <p:cNvPr id="802" name="Google Shape;802;p74"/>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CR5</a:t>
            </a:r>
            <a:endParaRPr sz="1200">
              <a:solidFill>
                <a:srgbClr val="B7B7B7"/>
              </a:solidFill>
              <a:latin typeface="Lato"/>
              <a:ea typeface="Lato"/>
              <a:cs typeface="Lato"/>
              <a:sym typeface="Lato"/>
            </a:endParaRPr>
          </a:p>
        </p:txBody>
      </p:sp>
      <p:sp>
        <p:nvSpPr>
          <p:cNvPr id="803" name="Google Shape;803;p74"/>
          <p:cNvSpPr txBox="1"/>
          <p:nvPr/>
        </p:nvSpPr>
        <p:spPr>
          <a:xfrm>
            <a:off x="1885788" y="4328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CM3</a:t>
            </a:r>
            <a:endParaRPr sz="1200">
              <a:solidFill>
                <a:srgbClr val="B7B7B7"/>
              </a:solidFill>
              <a:latin typeface="Lato"/>
              <a:ea typeface="Lato"/>
              <a:cs typeface="Lato"/>
              <a:sym typeface="Lato"/>
            </a:endParaRPr>
          </a:p>
        </p:txBody>
      </p:sp>
      <p:sp>
        <p:nvSpPr>
          <p:cNvPr id="804" name="Google Shape;804;p74"/>
          <p:cNvSpPr txBox="1"/>
          <p:nvPr/>
        </p:nvSpPr>
        <p:spPr>
          <a:xfrm>
            <a:off x="2869950"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CM2</a:t>
            </a:r>
            <a:endParaRPr sz="1200">
              <a:solidFill>
                <a:srgbClr val="B7B7B7"/>
              </a:solidFill>
              <a:latin typeface="Lato"/>
              <a:ea typeface="Lato"/>
              <a:cs typeface="Lato"/>
              <a:sym typeface="Lato"/>
            </a:endParaRPr>
          </a:p>
        </p:txBody>
      </p:sp>
      <p:cxnSp>
        <p:nvCxnSpPr>
          <p:cNvPr id="805" name="Google Shape;805;p74"/>
          <p:cNvCxnSpPr/>
          <p:nvPr/>
        </p:nvCxnSpPr>
        <p:spPr>
          <a:xfrm flipH="1">
            <a:off x="3170000" y="3197925"/>
            <a:ext cx="775800" cy="850500"/>
          </a:xfrm>
          <a:prstGeom prst="straightConnector1">
            <a:avLst/>
          </a:prstGeom>
          <a:noFill/>
          <a:ln cap="flat" cmpd="sng" w="9525">
            <a:solidFill>
              <a:srgbClr val="B7B7B7"/>
            </a:solidFill>
            <a:prstDash val="solid"/>
            <a:round/>
            <a:headEnd len="med" w="med" type="none"/>
            <a:tailEnd len="med" w="med" type="triangle"/>
          </a:ln>
        </p:spPr>
      </p:cxnSp>
      <p:sp>
        <p:nvSpPr>
          <p:cNvPr id="806" name="Google Shape;806;p74"/>
          <p:cNvSpPr txBox="1"/>
          <p:nvPr/>
        </p:nvSpPr>
        <p:spPr>
          <a:xfrm>
            <a:off x="3485088" y="39809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CM1</a:t>
            </a:r>
            <a:endParaRPr sz="1200">
              <a:solidFill>
                <a:srgbClr val="B7B7B7"/>
              </a:solidFill>
              <a:latin typeface="Lato"/>
              <a:ea typeface="Lato"/>
              <a:cs typeface="Lato"/>
              <a:sym typeface="Lato"/>
            </a:endParaRPr>
          </a:p>
        </p:txBody>
      </p:sp>
      <p:cxnSp>
        <p:nvCxnSpPr>
          <p:cNvPr id="807" name="Google Shape;807;p74"/>
          <p:cNvCxnSpPr>
            <a:endCxn id="806" idx="0"/>
          </p:cNvCxnSpPr>
          <p:nvPr/>
        </p:nvCxnSpPr>
        <p:spPr>
          <a:xfrm flipH="1">
            <a:off x="3769788" y="3685175"/>
            <a:ext cx="800100" cy="295800"/>
          </a:xfrm>
          <a:prstGeom prst="straightConnector1">
            <a:avLst/>
          </a:prstGeom>
          <a:noFill/>
          <a:ln cap="flat" cmpd="sng" w="9525">
            <a:solidFill>
              <a:srgbClr val="B7B7B7"/>
            </a:solidFill>
            <a:prstDash val="solid"/>
            <a:round/>
            <a:headEnd len="med" w="med" type="none"/>
            <a:tailEnd len="med" w="med" type="triangle"/>
          </a:ln>
        </p:spPr>
      </p:cxnSp>
      <p:cxnSp>
        <p:nvCxnSpPr>
          <p:cNvPr id="808" name="Google Shape;808;p74"/>
          <p:cNvCxnSpPr/>
          <p:nvPr/>
        </p:nvCxnSpPr>
        <p:spPr>
          <a:xfrm flipH="1">
            <a:off x="2423688" y="2965000"/>
            <a:ext cx="1061400" cy="1486200"/>
          </a:xfrm>
          <a:prstGeom prst="straightConnector1">
            <a:avLst/>
          </a:prstGeom>
          <a:noFill/>
          <a:ln cap="flat" cmpd="sng" w="9525">
            <a:solidFill>
              <a:srgbClr val="B7B7B7"/>
            </a:solidFill>
            <a:prstDash val="solid"/>
            <a:round/>
            <a:headEnd len="med" w="med" type="none"/>
            <a:tailEnd len="med" w="med" type="triangle"/>
          </a:ln>
        </p:spPr>
      </p:cxnSp>
      <p:sp>
        <p:nvSpPr>
          <p:cNvPr id="809" name="Google Shape;809;p74"/>
          <p:cNvSpPr txBox="1"/>
          <p:nvPr/>
        </p:nvSpPr>
        <p:spPr>
          <a:xfrm>
            <a:off x="3673050"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CR4</a:t>
            </a:r>
            <a:endParaRPr sz="1200">
              <a:solidFill>
                <a:srgbClr val="B7B7B7"/>
              </a:solidFill>
              <a:latin typeface="Lato"/>
              <a:ea typeface="Lato"/>
              <a:cs typeface="Lato"/>
              <a:sym typeface="Lato"/>
            </a:endParaRPr>
          </a:p>
        </p:txBody>
      </p:sp>
      <p:sp>
        <p:nvSpPr>
          <p:cNvPr id="810" name="Google Shape;810;p74"/>
          <p:cNvSpPr txBox="1"/>
          <p:nvPr/>
        </p:nvSpPr>
        <p:spPr>
          <a:xfrm>
            <a:off x="2045088" y="389815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CM4</a:t>
            </a:r>
            <a:endParaRPr sz="1200">
              <a:solidFill>
                <a:srgbClr val="B7B7B7"/>
              </a:solidFill>
              <a:latin typeface="Lato"/>
              <a:ea typeface="Lato"/>
              <a:cs typeface="Lato"/>
              <a:sym typeface="Lato"/>
            </a:endParaRPr>
          </a:p>
        </p:txBody>
      </p:sp>
      <p:cxnSp>
        <p:nvCxnSpPr>
          <p:cNvPr id="811" name="Google Shape;811;p74"/>
          <p:cNvCxnSpPr>
            <a:stCxn id="809" idx="1"/>
          </p:cNvCxnSpPr>
          <p:nvPr/>
        </p:nvCxnSpPr>
        <p:spPr>
          <a:xfrm flipH="1">
            <a:off x="2534250" y="3623175"/>
            <a:ext cx="1138800" cy="417900"/>
          </a:xfrm>
          <a:prstGeom prst="straightConnector1">
            <a:avLst/>
          </a:prstGeom>
          <a:noFill/>
          <a:ln cap="flat" cmpd="sng" w="9525">
            <a:solidFill>
              <a:srgbClr val="B7B7B7"/>
            </a:solidFill>
            <a:prstDash val="solid"/>
            <a:round/>
            <a:headEnd len="med" w="med" type="none"/>
            <a:tailEnd len="med" w="med" type="triangle"/>
          </a:ln>
        </p:spPr>
      </p:cxnSp>
      <p:sp>
        <p:nvSpPr>
          <p:cNvPr id="812" name="Google Shape;812;p74"/>
          <p:cNvSpPr txBox="1"/>
          <p:nvPr/>
        </p:nvSpPr>
        <p:spPr>
          <a:xfrm>
            <a:off x="4501288" y="289742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CR5</a:t>
            </a:r>
            <a:endParaRPr sz="1200">
              <a:solidFill>
                <a:schemeClr val="lt1"/>
              </a:solidFill>
              <a:latin typeface="Lato"/>
              <a:ea typeface="Lato"/>
              <a:cs typeface="Lato"/>
              <a:sym typeface="Lato"/>
            </a:endParaRPr>
          </a:p>
        </p:txBody>
      </p:sp>
      <p:sp>
        <p:nvSpPr>
          <p:cNvPr id="813" name="Google Shape;813;p74"/>
          <p:cNvSpPr txBox="1"/>
          <p:nvPr/>
        </p:nvSpPr>
        <p:spPr>
          <a:xfrm>
            <a:off x="2993713" y="34491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CM5</a:t>
            </a:r>
            <a:endParaRPr sz="1200">
              <a:solidFill>
                <a:schemeClr val="lt1"/>
              </a:solidFill>
              <a:latin typeface="Lato"/>
              <a:ea typeface="Lato"/>
              <a:cs typeface="Lato"/>
              <a:sym typeface="Lato"/>
            </a:endParaRPr>
          </a:p>
        </p:txBody>
      </p:sp>
      <p:cxnSp>
        <p:nvCxnSpPr>
          <p:cNvPr id="814" name="Google Shape;814;p74"/>
          <p:cNvCxnSpPr>
            <a:stCxn id="812" idx="1"/>
          </p:cNvCxnSpPr>
          <p:nvPr/>
        </p:nvCxnSpPr>
        <p:spPr>
          <a:xfrm flipH="1">
            <a:off x="3439888" y="3071425"/>
            <a:ext cx="1061400" cy="4545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75"/>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Technical Risks</a:t>
            </a:r>
            <a:endParaRPr/>
          </a:p>
        </p:txBody>
      </p:sp>
      <p:pic>
        <p:nvPicPr>
          <p:cNvPr id="820" name="Google Shape;820;p75"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821" name="Google Shape;821;p75"/>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17</a:t>
            </a:r>
            <a:endParaRPr/>
          </a:p>
        </p:txBody>
      </p:sp>
      <p:cxnSp>
        <p:nvCxnSpPr>
          <p:cNvPr id="822" name="Google Shape;822;p75"/>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823" name="Google Shape;823;p75"/>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TR1</a:t>
                      </a:r>
                      <a:r>
                        <a:rPr lang="en" sz="1100"/>
                        <a:t>: Domain &amp; Process Scalability</a:t>
                      </a:r>
                      <a:endParaRPr sz="1100"/>
                    </a:p>
                    <a:p>
                      <a:pPr indent="0" lvl="0" marL="0" rtl="0" algn="l">
                        <a:spcBef>
                          <a:spcPts val="0"/>
                        </a:spcBef>
                        <a:spcAft>
                          <a:spcPts val="0"/>
                        </a:spcAft>
                        <a:buNone/>
                      </a:pPr>
                      <a:r>
                        <a:rPr b="1" lang="en" sz="1100"/>
                        <a:t>TR2</a:t>
                      </a:r>
                      <a:r>
                        <a:rPr lang="en" sz="1100"/>
                        <a:t>: Cybersecurity</a:t>
                      </a:r>
                      <a:endParaRPr sz="1100"/>
                    </a:p>
                    <a:p>
                      <a:pPr indent="0" lvl="0" marL="0" rtl="0" algn="l">
                        <a:spcBef>
                          <a:spcPts val="0"/>
                        </a:spcBef>
                        <a:spcAft>
                          <a:spcPts val="0"/>
                        </a:spcAft>
                        <a:buNone/>
                      </a:pPr>
                      <a:r>
                        <a:rPr b="1" lang="en" sz="1100"/>
                        <a:t>TR3</a:t>
                      </a:r>
                      <a:r>
                        <a:rPr lang="en" sz="1100"/>
                        <a:t>: Opaque Automation</a:t>
                      </a:r>
                      <a:endParaRPr sz="1100"/>
                    </a:p>
                    <a:p>
                      <a:pPr indent="0" lvl="0" marL="0" rtl="0" algn="l">
                        <a:spcBef>
                          <a:spcPts val="0"/>
                        </a:spcBef>
                        <a:spcAft>
                          <a:spcPts val="0"/>
                        </a:spcAft>
                        <a:buNone/>
                      </a:pPr>
                      <a:r>
                        <a:rPr b="1" lang="en" sz="1100"/>
                        <a:t>TR4</a:t>
                      </a:r>
                      <a:r>
                        <a:rPr lang="en" sz="1100"/>
                        <a:t>: Accumulating Technical Debt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TM1</a:t>
                      </a:r>
                      <a:r>
                        <a:rPr lang="en" sz="1000"/>
                        <a:t>: </a:t>
                      </a:r>
                      <a:r>
                        <a:rPr lang="en" sz="1000"/>
                        <a:t>Limited and gradual increase in system scope leaning towards strong foundation which clients and developers can build on to gradually encompass given process domain. Continual domain feedback and dialogue.</a:t>
                      </a:r>
                      <a:endParaRPr sz="1000"/>
                    </a:p>
                    <a:p>
                      <a:pPr indent="0" lvl="0" marL="0" rtl="0" algn="l">
                        <a:spcBef>
                          <a:spcPts val="0"/>
                        </a:spcBef>
                        <a:spcAft>
                          <a:spcPts val="0"/>
                        </a:spcAft>
                        <a:buNone/>
                      </a:pPr>
                      <a:r>
                        <a:rPr b="1" lang="en" sz="1000"/>
                        <a:t>TM2</a:t>
                      </a:r>
                      <a:r>
                        <a:rPr lang="en" sz="1000"/>
                        <a:t>: </a:t>
                      </a:r>
                      <a:r>
                        <a:rPr lang="en" sz="1000"/>
                        <a:t>Separation of process coordination network except through specific role interactions. Encryption and local emphasis on sensitive data storage.</a:t>
                      </a:r>
                      <a:endParaRPr sz="1000"/>
                    </a:p>
                    <a:p>
                      <a:pPr indent="0" lvl="0" marL="0" rtl="0" algn="l">
                        <a:spcBef>
                          <a:spcPts val="0"/>
                        </a:spcBef>
                        <a:spcAft>
                          <a:spcPts val="0"/>
                        </a:spcAft>
                        <a:buNone/>
                      </a:pPr>
                      <a:r>
                        <a:rPr b="1" lang="en" sz="1000"/>
                        <a:t>TM3</a:t>
                      </a:r>
                      <a:r>
                        <a:rPr lang="en" sz="1000"/>
                        <a:t>: </a:t>
                      </a:r>
                      <a:r>
                        <a:rPr lang="en" sz="1000"/>
                        <a:t>Data and metric visualization functionality which</a:t>
                      </a:r>
                      <a:endParaRPr sz="1000"/>
                    </a:p>
                    <a:p>
                      <a:pPr indent="0" lvl="0" marL="0" rtl="0" algn="l">
                        <a:spcBef>
                          <a:spcPts val="0"/>
                        </a:spcBef>
                        <a:spcAft>
                          <a:spcPts val="0"/>
                        </a:spcAft>
                        <a:buNone/>
                      </a:pPr>
                      <a:r>
                        <a:rPr lang="en" sz="1000"/>
                        <a:t>emphasizes multiple perspectives to a clear big picture.</a:t>
                      </a:r>
                      <a:endParaRPr sz="1000"/>
                    </a:p>
                    <a:p>
                      <a:pPr indent="0" lvl="0" marL="0" rtl="0" algn="l">
                        <a:spcBef>
                          <a:spcPts val="0"/>
                        </a:spcBef>
                        <a:spcAft>
                          <a:spcPts val="0"/>
                        </a:spcAft>
                        <a:buNone/>
                      </a:pPr>
                      <a:r>
                        <a:rPr b="1" lang="en" sz="1000"/>
                        <a:t>TM4</a:t>
                      </a:r>
                      <a:r>
                        <a:rPr lang="en" sz="1000"/>
                        <a:t>: Recognition of and minimization of the technical debt issue as fundamental tenet of BevOS with emphasis on futureproof Careful foundation construction and gradual architecture design</a:t>
                      </a:r>
                      <a:r>
                        <a:rPr lang="en" sz="1000"/>
                        <a:t>.</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824" name="Google Shape;824;p75"/>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825" name="Google Shape;825;p75"/>
          <p:cNvSpPr txBox="1"/>
          <p:nvPr/>
        </p:nvSpPr>
        <p:spPr>
          <a:xfrm>
            <a:off x="3638323" y="2281756"/>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a:t>
            </a:r>
            <a:r>
              <a:rPr b="1" lang="en" sz="1100"/>
              <a:t>R1</a:t>
            </a:r>
            <a:endParaRPr sz="1200">
              <a:solidFill>
                <a:schemeClr val="lt1"/>
              </a:solidFill>
              <a:latin typeface="Lato"/>
              <a:ea typeface="Lato"/>
              <a:cs typeface="Lato"/>
              <a:sym typeface="Lato"/>
            </a:endParaRPr>
          </a:p>
        </p:txBody>
      </p:sp>
      <p:sp>
        <p:nvSpPr>
          <p:cNvPr id="826" name="Google Shape;826;p75"/>
          <p:cNvSpPr txBox="1"/>
          <p:nvPr/>
        </p:nvSpPr>
        <p:spPr>
          <a:xfrm>
            <a:off x="4432492" y="3340043"/>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a:t>
            </a:r>
            <a:r>
              <a:rPr b="1" lang="en" sz="1100">
                <a:solidFill>
                  <a:srgbClr val="B7B7B7"/>
                </a:solidFill>
              </a:rPr>
              <a:t>R2</a:t>
            </a:r>
            <a:endParaRPr sz="1200">
              <a:solidFill>
                <a:srgbClr val="B7B7B7"/>
              </a:solidFill>
              <a:latin typeface="Lato"/>
              <a:ea typeface="Lato"/>
              <a:cs typeface="Lato"/>
              <a:sym typeface="Lato"/>
            </a:endParaRPr>
          </a:p>
        </p:txBody>
      </p:sp>
      <p:sp>
        <p:nvSpPr>
          <p:cNvPr id="827" name="Google Shape;827;p75"/>
          <p:cNvSpPr txBox="1"/>
          <p:nvPr/>
        </p:nvSpPr>
        <p:spPr>
          <a:xfrm>
            <a:off x="2823090" y="277379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a:t>
            </a:r>
            <a:r>
              <a:rPr b="1" lang="en" sz="1100">
                <a:solidFill>
                  <a:srgbClr val="B7B7B7"/>
                </a:solidFill>
              </a:rPr>
              <a:t>R3</a:t>
            </a:r>
            <a:endParaRPr sz="1200">
              <a:solidFill>
                <a:srgbClr val="B7B7B7"/>
              </a:solidFill>
              <a:latin typeface="Lato"/>
              <a:ea typeface="Lato"/>
              <a:cs typeface="Lato"/>
              <a:sym typeface="Lato"/>
            </a:endParaRPr>
          </a:p>
        </p:txBody>
      </p:sp>
      <p:sp>
        <p:nvSpPr>
          <p:cNvPr id="828" name="Google Shape;828;p75"/>
          <p:cNvSpPr txBox="1"/>
          <p:nvPr/>
        </p:nvSpPr>
        <p:spPr>
          <a:xfrm>
            <a:off x="4432171" y="28361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a:t>
            </a:r>
            <a:r>
              <a:rPr b="1" lang="en" sz="1100">
                <a:solidFill>
                  <a:srgbClr val="B7B7B7"/>
                </a:solidFill>
              </a:rPr>
              <a:t>R4</a:t>
            </a:r>
            <a:endParaRPr sz="1200">
              <a:solidFill>
                <a:srgbClr val="B7B7B7"/>
              </a:solidFill>
              <a:latin typeface="Lato"/>
              <a:ea typeface="Lato"/>
              <a:cs typeface="Lato"/>
              <a:sym typeface="Lato"/>
            </a:endParaRPr>
          </a:p>
        </p:txBody>
      </p:sp>
      <p:sp>
        <p:nvSpPr>
          <p:cNvPr id="829" name="Google Shape;829;p75"/>
          <p:cNvSpPr txBox="1"/>
          <p:nvPr/>
        </p:nvSpPr>
        <p:spPr>
          <a:xfrm>
            <a:off x="3005877" y="350028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a:t>
            </a:r>
            <a:r>
              <a:rPr b="1" lang="en" sz="1100">
                <a:solidFill>
                  <a:srgbClr val="B7B7B7"/>
                </a:solidFill>
              </a:rPr>
              <a:t>M4</a:t>
            </a:r>
            <a:endParaRPr sz="1200">
              <a:solidFill>
                <a:srgbClr val="B7B7B7"/>
              </a:solidFill>
              <a:latin typeface="Lato"/>
              <a:ea typeface="Lato"/>
              <a:cs typeface="Lato"/>
              <a:sym typeface="Lato"/>
            </a:endParaRPr>
          </a:p>
        </p:txBody>
      </p:sp>
      <p:sp>
        <p:nvSpPr>
          <p:cNvPr id="830" name="Google Shape;830;p75"/>
          <p:cNvSpPr txBox="1"/>
          <p:nvPr/>
        </p:nvSpPr>
        <p:spPr>
          <a:xfrm>
            <a:off x="2044954" y="334894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a:t>
            </a:r>
            <a:r>
              <a:rPr b="1" lang="en" sz="1100">
                <a:solidFill>
                  <a:srgbClr val="B7B7B7"/>
                </a:solidFill>
              </a:rPr>
              <a:t>M3</a:t>
            </a:r>
            <a:endParaRPr sz="1200">
              <a:solidFill>
                <a:srgbClr val="B7B7B7"/>
              </a:solidFill>
              <a:latin typeface="Lato"/>
              <a:ea typeface="Lato"/>
              <a:cs typeface="Lato"/>
              <a:sym typeface="Lato"/>
            </a:endParaRPr>
          </a:p>
        </p:txBody>
      </p:sp>
      <p:sp>
        <p:nvSpPr>
          <p:cNvPr id="831" name="Google Shape;831;p75"/>
          <p:cNvSpPr txBox="1"/>
          <p:nvPr/>
        </p:nvSpPr>
        <p:spPr>
          <a:xfrm>
            <a:off x="2832011" y="3879602"/>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a:t>
            </a:r>
            <a:r>
              <a:rPr b="1" lang="en" sz="1100">
                <a:solidFill>
                  <a:srgbClr val="B7B7B7"/>
                </a:solidFill>
              </a:rPr>
              <a:t>M2</a:t>
            </a:r>
            <a:endParaRPr sz="1200">
              <a:solidFill>
                <a:srgbClr val="B7B7B7"/>
              </a:solidFill>
              <a:latin typeface="Lato"/>
              <a:ea typeface="Lato"/>
              <a:cs typeface="Lato"/>
              <a:sym typeface="Lato"/>
            </a:endParaRPr>
          </a:p>
        </p:txBody>
      </p:sp>
      <p:sp>
        <p:nvSpPr>
          <p:cNvPr id="832" name="Google Shape;832;p75"/>
          <p:cNvSpPr txBox="1"/>
          <p:nvPr/>
        </p:nvSpPr>
        <p:spPr>
          <a:xfrm>
            <a:off x="2645238" y="3265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a:t>
            </a:r>
            <a:r>
              <a:rPr b="1" lang="en" sz="1100"/>
              <a:t>M1</a:t>
            </a:r>
            <a:endParaRPr sz="1200">
              <a:solidFill>
                <a:schemeClr val="l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76"/>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Technical Risks</a:t>
            </a:r>
            <a:endParaRPr/>
          </a:p>
        </p:txBody>
      </p:sp>
      <p:pic>
        <p:nvPicPr>
          <p:cNvPr id="838" name="Google Shape;838;p76"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839" name="Google Shape;839;p76"/>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17</a:t>
            </a:r>
            <a:endParaRPr/>
          </a:p>
        </p:txBody>
      </p:sp>
      <p:cxnSp>
        <p:nvCxnSpPr>
          <p:cNvPr id="840" name="Google Shape;840;p76"/>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841" name="Google Shape;841;p76"/>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TR1</a:t>
                      </a:r>
                      <a:r>
                        <a:rPr lang="en" sz="1100"/>
                        <a:t>: Domain &amp; Process Scalability</a:t>
                      </a:r>
                      <a:endParaRPr sz="1100"/>
                    </a:p>
                    <a:p>
                      <a:pPr indent="0" lvl="0" marL="0" rtl="0" algn="l">
                        <a:spcBef>
                          <a:spcPts val="0"/>
                        </a:spcBef>
                        <a:spcAft>
                          <a:spcPts val="0"/>
                        </a:spcAft>
                        <a:buNone/>
                      </a:pPr>
                      <a:r>
                        <a:rPr b="1" lang="en" sz="1100"/>
                        <a:t>TR2</a:t>
                      </a:r>
                      <a:r>
                        <a:rPr lang="en" sz="1100"/>
                        <a:t>: Cybersecurity</a:t>
                      </a:r>
                      <a:endParaRPr sz="1100"/>
                    </a:p>
                    <a:p>
                      <a:pPr indent="0" lvl="0" marL="0" rtl="0" algn="l">
                        <a:spcBef>
                          <a:spcPts val="0"/>
                        </a:spcBef>
                        <a:spcAft>
                          <a:spcPts val="0"/>
                        </a:spcAft>
                        <a:buNone/>
                      </a:pPr>
                      <a:r>
                        <a:rPr b="1" lang="en" sz="1100"/>
                        <a:t>TR3</a:t>
                      </a:r>
                      <a:r>
                        <a:rPr lang="en" sz="1100"/>
                        <a:t>: Opaque Automation</a:t>
                      </a:r>
                      <a:endParaRPr sz="1100"/>
                    </a:p>
                    <a:p>
                      <a:pPr indent="0" lvl="0" marL="0" rtl="0" algn="l">
                        <a:spcBef>
                          <a:spcPts val="0"/>
                        </a:spcBef>
                        <a:spcAft>
                          <a:spcPts val="0"/>
                        </a:spcAft>
                        <a:buNone/>
                      </a:pPr>
                      <a:r>
                        <a:rPr b="1" lang="en" sz="1100"/>
                        <a:t>TR4</a:t>
                      </a:r>
                      <a:r>
                        <a:rPr lang="en" sz="1100"/>
                        <a:t>: Accumulating Technical Debt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TM1</a:t>
                      </a:r>
                      <a:r>
                        <a:rPr lang="en" sz="1000"/>
                        <a:t>: Limited and gradual increase in system scope leaning towards strong foundation which clients and developers can build on to gradually encompass given process domain. Continual domain feedback and dialogue.</a:t>
                      </a:r>
                      <a:endParaRPr sz="1000"/>
                    </a:p>
                    <a:p>
                      <a:pPr indent="0" lvl="0" marL="0" rtl="0" algn="l">
                        <a:spcBef>
                          <a:spcPts val="0"/>
                        </a:spcBef>
                        <a:spcAft>
                          <a:spcPts val="0"/>
                        </a:spcAft>
                        <a:buNone/>
                      </a:pPr>
                      <a:r>
                        <a:rPr b="1" lang="en" sz="1000"/>
                        <a:t>TM2</a:t>
                      </a:r>
                      <a:r>
                        <a:rPr lang="en" sz="1000"/>
                        <a:t>: Separation of process coordination network except through specific role interactions. Encryption and local emphasis on sensitive data storage.</a:t>
                      </a:r>
                      <a:endParaRPr sz="1000"/>
                    </a:p>
                    <a:p>
                      <a:pPr indent="0" lvl="0" marL="0" rtl="0" algn="l">
                        <a:spcBef>
                          <a:spcPts val="0"/>
                        </a:spcBef>
                        <a:spcAft>
                          <a:spcPts val="0"/>
                        </a:spcAft>
                        <a:buNone/>
                      </a:pPr>
                      <a:r>
                        <a:rPr b="1" lang="en" sz="1000"/>
                        <a:t>TM3</a:t>
                      </a:r>
                      <a:r>
                        <a:rPr lang="en" sz="1000"/>
                        <a:t>: Data and metric visualization functionality which</a:t>
                      </a:r>
                      <a:endParaRPr sz="1000"/>
                    </a:p>
                    <a:p>
                      <a:pPr indent="0" lvl="0" marL="0" rtl="0" algn="l">
                        <a:spcBef>
                          <a:spcPts val="0"/>
                        </a:spcBef>
                        <a:spcAft>
                          <a:spcPts val="0"/>
                        </a:spcAft>
                        <a:buNone/>
                      </a:pPr>
                      <a:r>
                        <a:rPr lang="en" sz="1000"/>
                        <a:t>emphasizes multiple perspectives to a clear big picture.</a:t>
                      </a:r>
                      <a:endParaRPr sz="1000"/>
                    </a:p>
                    <a:p>
                      <a:pPr indent="0" lvl="0" marL="0" rtl="0" algn="l">
                        <a:spcBef>
                          <a:spcPts val="0"/>
                        </a:spcBef>
                        <a:spcAft>
                          <a:spcPts val="0"/>
                        </a:spcAft>
                        <a:buNone/>
                      </a:pPr>
                      <a:r>
                        <a:rPr b="1" lang="en" sz="1000"/>
                        <a:t>TM4</a:t>
                      </a:r>
                      <a:r>
                        <a:rPr lang="en" sz="1000"/>
                        <a:t>: Recognition of and minimization of the technical debt issue as fundamental tenet of BevOS with emphasis on futureproof Careful foundation construction and gradual architecture design.</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842" name="Google Shape;842;p76"/>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843" name="Google Shape;843;p76"/>
          <p:cNvSpPr txBox="1"/>
          <p:nvPr/>
        </p:nvSpPr>
        <p:spPr>
          <a:xfrm>
            <a:off x="3638323" y="2281756"/>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TR1</a:t>
            </a:r>
            <a:endParaRPr sz="1200">
              <a:solidFill>
                <a:schemeClr val="lt1"/>
              </a:solidFill>
              <a:latin typeface="Lato"/>
              <a:ea typeface="Lato"/>
              <a:cs typeface="Lato"/>
              <a:sym typeface="Lato"/>
            </a:endParaRPr>
          </a:p>
        </p:txBody>
      </p:sp>
      <p:sp>
        <p:nvSpPr>
          <p:cNvPr id="844" name="Google Shape;844;p76"/>
          <p:cNvSpPr txBox="1"/>
          <p:nvPr/>
        </p:nvSpPr>
        <p:spPr>
          <a:xfrm>
            <a:off x="4432492" y="3340043"/>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TR2</a:t>
            </a:r>
            <a:endParaRPr sz="1200">
              <a:solidFill>
                <a:srgbClr val="B7B7B7"/>
              </a:solidFill>
              <a:latin typeface="Lato"/>
              <a:ea typeface="Lato"/>
              <a:cs typeface="Lato"/>
              <a:sym typeface="Lato"/>
            </a:endParaRPr>
          </a:p>
        </p:txBody>
      </p:sp>
      <p:sp>
        <p:nvSpPr>
          <p:cNvPr id="845" name="Google Shape;845;p76"/>
          <p:cNvSpPr txBox="1"/>
          <p:nvPr/>
        </p:nvSpPr>
        <p:spPr>
          <a:xfrm>
            <a:off x="2823090" y="277379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TR3</a:t>
            </a:r>
            <a:endParaRPr sz="1200">
              <a:solidFill>
                <a:srgbClr val="B7B7B7"/>
              </a:solidFill>
              <a:latin typeface="Lato"/>
              <a:ea typeface="Lato"/>
              <a:cs typeface="Lato"/>
              <a:sym typeface="Lato"/>
            </a:endParaRPr>
          </a:p>
        </p:txBody>
      </p:sp>
      <p:sp>
        <p:nvSpPr>
          <p:cNvPr id="846" name="Google Shape;846;p76"/>
          <p:cNvSpPr txBox="1"/>
          <p:nvPr/>
        </p:nvSpPr>
        <p:spPr>
          <a:xfrm>
            <a:off x="4432171" y="28361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TR4</a:t>
            </a:r>
            <a:endParaRPr sz="1200">
              <a:solidFill>
                <a:srgbClr val="B7B7B7"/>
              </a:solidFill>
              <a:latin typeface="Lato"/>
              <a:ea typeface="Lato"/>
              <a:cs typeface="Lato"/>
              <a:sym typeface="Lato"/>
            </a:endParaRPr>
          </a:p>
        </p:txBody>
      </p:sp>
      <p:sp>
        <p:nvSpPr>
          <p:cNvPr id="847" name="Google Shape;847;p76"/>
          <p:cNvSpPr txBox="1"/>
          <p:nvPr/>
        </p:nvSpPr>
        <p:spPr>
          <a:xfrm>
            <a:off x="3005877" y="350028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TM4</a:t>
            </a:r>
            <a:endParaRPr sz="1200">
              <a:solidFill>
                <a:srgbClr val="B7B7B7"/>
              </a:solidFill>
              <a:latin typeface="Lato"/>
              <a:ea typeface="Lato"/>
              <a:cs typeface="Lato"/>
              <a:sym typeface="Lato"/>
            </a:endParaRPr>
          </a:p>
        </p:txBody>
      </p:sp>
      <p:sp>
        <p:nvSpPr>
          <p:cNvPr id="848" name="Google Shape;848;p76"/>
          <p:cNvSpPr txBox="1"/>
          <p:nvPr/>
        </p:nvSpPr>
        <p:spPr>
          <a:xfrm>
            <a:off x="2044954" y="334894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TM3</a:t>
            </a:r>
            <a:endParaRPr sz="1200">
              <a:solidFill>
                <a:srgbClr val="B7B7B7"/>
              </a:solidFill>
              <a:latin typeface="Lato"/>
              <a:ea typeface="Lato"/>
              <a:cs typeface="Lato"/>
              <a:sym typeface="Lato"/>
            </a:endParaRPr>
          </a:p>
        </p:txBody>
      </p:sp>
      <p:sp>
        <p:nvSpPr>
          <p:cNvPr id="849" name="Google Shape;849;p76"/>
          <p:cNvSpPr txBox="1"/>
          <p:nvPr/>
        </p:nvSpPr>
        <p:spPr>
          <a:xfrm>
            <a:off x="2832011" y="3879602"/>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TM2</a:t>
            </a:r>
            <a:endParaRPr sz="1200">
              <a:solidFill>
                <a:srgbClr val="B7B7B7"/>
              </a:solidFill>
              <a:latin typeface="Lato"/>
              <a:ea typeface="Lato"/>
              <a:cs typeface="Lato"/>
              <a:sym typeface="Lato"/>
            </a:endParaRPr>
          </a:p>
        </p:txBody>
      </p:sp>
      <p:sp>
        <p:nvSpPr>
          <p:cNvPr id="850" name="Google Shape;850;p76"/>
          <p:cNvSpPr txBox="1"/>
          <p:nvPr/>
        </p:nvSpPr>
        <p:spPr>
          <a:xfrm>
            <a:off x="2645238" y="3265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TM1</a:t>
            </a:r>
            <a:endParaRPr sz="1200">
              <a:solidFill>
                <a:schemeClr val="lt1"/>
              </a:solidFill>
              <a:latin typeface="Lato"/>
              <a:ea typeface="Lato"/>
              <a:cs typeface="Lato"/>
              <a:sym typeface="Lato"/>
            </a:endParaRPr>
          </a:p>
        </p:txBody>
      </p:sp>
      <p:cxnSp>
        <p:nvCxnSpPr>
          <p:cNvPr id="851" name="Google Shape;851;p76"/>
          <p:cNvCxnSpPr/>
          <p:nvPr/>
        </p:nvCxnSpPr>
        <p:spPr>
          <a:xfrm flipH="1">
            <a:off x="2945132" y="2473560"/>
            <a:ext cx="737700" cy="8886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77"/>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Technical Risks</a:t>
            </a:r>
            <a:endParaRPr/>
          </a:p>
        </p:txBody>
      </p:sp>
      <p:pic>
        <p:nvPicPr>
          <p:cNvPr id="857" name="Google Shape;857;p77"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858" name="Google Shape;858;p77"/>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17</a:t>
            </a:r>
            <a:endParaRPr/>
          </a:p>
        </p:txBody>
      </p:sp>
      <p:cxnSp>
        <p:nvCxnSpPr>
          <p:cNvPr id="859" name="Google Shape;859;p77"/>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860" name="Google Shape;860;p77"/>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TR1</a:t>
                      </a:r>
                      <a:r>
                        <a:rPr lang="en" sz="1100"/>
                        <a:t>: Domain &amp; Process Scalability</a:t>
                      </a:r>
                      <a:endParaRPr sz="1100"/>
                    </a:p>
                    <a:p>
                      <a:pPr indent="0" lvl="0" marL="0" rtl="0" algn="l">
                        <a:spcBef>
                          <a:spcPts val="0"/>
                        </a:spcBef>
                        <a:spcAft>
                          <a:spcPts val="0"/>
                        </a:spcAft>
                        <a:buNone/>
                      </a:pPr>
                      <a:r>
                        <a:rPr b="1" lang="en" sz="1100"/>
                        <a:t>TR2</a:t>
                      </a:r>
                      <a:r>
                        <a:rPr lang="en" sz="1100"/>
                        <a:t>: Cybersecurity</a:t>
                      </a:r>
                      <a:endParaRPr sz="1100"/>
                    </a:p>
                    <a:p>
                      <a:pPr indent="0" lvl="0" marL="0" rtl="0" algn="l">
                        <a:spcBef>
                          <a:spcPts val="0"/>
                        </a:spcBef>
                        <a:spcAft>
                          <a:spcPts val="0"/>
                        </a:spcAft>
                        <a:buNone/>
                      </a:pPr>
                      <a:r>
                        <a:rPr b="1" lang="en" sz="1100"/>
                        <a:t>TR3</a:t>
                      </a:r>
                      <a:r>
                        <a:rPr lang="en" sz="1100"/>
                        <a:t>: Opaque Automation</a:t>
                      </a:r>
                      <a:endParaRPr sz="1100"/>
                    </a:p>
                    <a:p>
                      <a:pPr indent="0" lvl="0" marL="0" rtl="0" algn="l">
                        <a:spcBef>
                          <a:spcPts val="0"/>
                        </a:spcBef>
                        <a:spcAft>
                          <a:spcPts val="0"/>
                        </a:spcAft>
                        <a:buNone/>
                      </a:pPr>
                      <a:r>
                        <a:rPr b="1" lang="en" sz="1100"/>
                        <a:t>TR4</a:t>
                      </a:r>
                      <a:r>
                        <a:rPr lang="en" sz="1100"/>
                        <a:t>: Accumulating Technical Debt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TM1</a:t>
                      </a:r>
                      <a:r>
                        <a:rPr lang="en" sz="1000"/>
                        <a:t>: Limited and gradual increase in system scope leaning towards strong foundation which clients and developers can build on to gradually encompass given process domain. Continual domain feedback and dialogue.</a:t>
                      </a:r>
                      <a:endParaRPr sz="1000"/>
                    </a:p>
                    <a:p>
                      <a:pPr indent="0" lvl="0" marL="0" rtl="0" algn="l">
                        <a:spcBef>
                          <a:spcPts val="0"/>
                        </a:spcBef>
                        <a:spcAft>
                          <a:spcPts val="0"/>
                        </a:spcAft>
                        <a:buNone/>
                      </a:pPr>
                      <a:r>
                        <a:rPr b="1" lang="en" sz="1000"/>
                        <a:t>TM2</a:t>
                      </a:r>
                      <a:r>
                        <a:rPr lang="en" sz="1000"/>
                        <a:t>: Separation of process coordination network except through specific role interactions. Encryption and local emphasis on sensitive data storage.</a:t>
                      </a:r>
                      <a:endParaRPr sz="1000"/>
                    </a:p>
                    <a:p>
                      <a:pPr indent="0" lvl="0" marL="0" rtl="0" algn="l">
                        <a:spcBef>
                          <a:spcPts val="0"/>
                        </a:spcBef>
                        <a:spcAft>
                          <a:spcPts val="0"/>
                        </a:spcAft>
                        <a:buNone/>
                      </a:pPr>
                      <a:r>
                        <a:rPr b="1" lang="en" sz="1000"/>
                        <a:t>TM3</a:t>
                      </a:r>
                      <a:r>
                        <a:rPr lang="en" sz="1000"/>
                        <a:t>: Data and metric visualization functionality which</a:t>
                      </a:r>
                      <a:endParaRPr sz="1000"/>
                    </a:p>
                    <a:p>
                      <a:pPr indent="0" lvl="0" marL="0" rtl="0" algn="l">
                        <a:spcBef>
                          <a:spcPts val="0"/>
                        </a:spcBef>
                        <a:spcAft>
                          <a:spcPts val="0"/>
                        </a:spcAft>
                        <a:buNone/>
                      </a:pPr>
                      <a:r>
                        <a:rPr lang="en" sz="1000"/>
                        <a:t>emphasizes multiple perspectives to a clear big picture.</a:t>
                      </a:r>
                      <a:endParaRPr sz="1000"/>
                    </a:p>
                    <a:p>
                      <a:pPr indent="0" lvl="0" marL="0" rtl="0" algn="l">
                        <a:spcBef>
                          <a:spcPts val="0"/>
                        </a:spcBef>
                        <a:spcAft>
                          <a:spcPts val="0"/>
                        </a:spcAft>
                        <a:buNone/>
                      </a:pPr>
                      <a:r>
                        <a:rPr b="1" lang="en" sz="1000"/>
                        <a:t>TM4</a:t>
                      </a:r>
                      <a:r>
                        <a:rPr lang="en" sz="1000"/>
                        <a:t>: Recognition of and minimization of the technical debt issue as fundamental tenet of BevOS with emphasis on futureproof Careful foundation construction and gradual architecture design.</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861" name="Google Shape;861;p77"/>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862" name="Google Shape;862;p77"/>
          <p:cNvSpPr txBox="1"/>
          <p:nvPr/>
        </p:nvSpPr>
        <p:spPr>
          <a:xfrm>
            <a:off x="3638323" y="2281756"/>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TR1</a:t>
            </a:r>
            <a:endParaRPr sz="1200">
              <a:solidFill>
                <a:srgbClr val="B7B7B7"/>
              </a:solidFill>
              <a:latin typeface="Lato"/>
              <a:ea typeface="Lato"/>
              <a:cs typeface="Lato"/>
              <a:sym typeface="Lato"/>
            </a:endParaRPr>
          </a:p>
        </p:txBody>
      </p:sp>
      <p:sp>
        <p:nvSpPr>
          <p:cNvPr id="863" name="Google Shape;863;p77"/>
          <p:cNvSpPr txBox="1"/>
          <p:nvPr/>
        </p:nvSpPr>
        <p:spPr>
          <a:xfrm>
            <a:off x="4432492" y="3340043"/>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TR2</a:t>
            </a:r>
            <a:endParaRPr sz="1200">
              <a:latin typeface="Lato"/>
              <a:ea typeface="Lato"/>
              <a:cs typeface="Lato"/>
              <a:sym typeface="Lato"/>
            </a:endParaRPr>
          </a:p>
        </p:txBody>
      </p:sp>
      <p:sp>
        <p:nvSpPr>
          <p:cNvPr id="864" name="Google Shape;864;p77"/>
          <p:cNvSpPr txBox="1"/>
          <p:nvPr/>
        </p:nvSpPr>
        <p:spPr>
          <a:xfrm>
            <a:off x="2823090" y="277379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TR3</a:t>
            </a:r>
            <a:endParaRPr sz="1200">
              <a:solidFill>
                <a:srgbClr val="B7B7B7"/>
              </a:solidFill>
              <a:latin typeface="Lato"/>
              <a:ea typeface="Lato"/>
              <a:cs typeface="Lato"/>
              <a:sym typeface="Lato"/>
            </a:endParaRPr>
          </a:p>
        </p:txBody>
      </p:sp>
      <p:sp>
        <p:nvSpPr>
          <p:cNvPr id="865" name="Google Shape;865;p77"/>
          <p:cNvSpPr txBox="1"/>
          <p:nvPr/>
        </p:nvSpPr>
        <p:spPr>
          <a:xfrm>
            <a:off x="4432171" y="28361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TR4</a:t>
            </a:r>
            <a:endParaRPr sz="1200">
              <a:solidFill>
                <a:srgbClr val="B7B7B7"/>
              </a:solidFill>
              <a:latin typeface="Lato"/>
              <a:ea typeface="Lato"/>
              <a:cs typeface="Lato"/>
              <a:sym typeface="Lato"/>
            </a:endParaRPr>
          </a:p>
        </p:txBody>
      </p:sp>
      <p:sp>
        <p:nvSpPr>
          <p:cNvPr id="866" name="Google Shape;866;p77"/>
          <p:cNvSpPr txBox="1"/>
          <p:nvPr/>
        </p:nvSpPr>
        <p:spPr>
          <a:xfrm>
            <a:off x="3005877" y="350028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TM4</a:t>
            </a:r>
            <a:endParaRPr sz="1200">
              <a:solidFill>
                <a:srgbClr val="B7B7B7"/>
              </a:solidFill>
              <a:latin typeface="Lato"/>
              <a:ea typeface="Lato"/>
              <a:cs typeface="Lato"/>
              <a:sym typeface="Lato"/>
            </a:endParaRPr>
          </a:p>
        </p:txBody>
      </p:sp>
      <p:sp>
        <p:nvSpPr>
          <p:cNvPr id="867" name="Google Shape;867;p77"/>
          <p:cNvSpPr txBox="1"/>
          <p:nvPr/>
        </p:nvSpPr>
        <p:spPr>
          <a:xfrm>
            <a:off x="2044954" y="334894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TM3</a:t>
            </a:r>
            <a:endParaRPr sz="1200">
              <a:solidFill>
                <a:srgbClr val="B7B7B7"/>
              </a:solidFill>
              <a:latin typeface="Lato"/>
              <a:ea typeface="Lato"/>
              <a:cs typeface="Lato"/>
              <a:sym typeface="Lato"/>
            </a:endParaRPr>
          </a:p>
        </p:txBody>
      </p:sp>
      <p:sp>
        <p:nvSpPr>
          <p:cNvPr id="868" name="Google Shape;868;p77"/>
          <p:cNvSpPr txBox="1"/>
          <p:nvPr/>
        </p:nvSpPr>
        <p:spPr>
          <a:xfrm>
            <a:off x="2832011" y="3879602"/>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TM2</a:t>
            </a:r>
            <a:endParaRPr sz="1200">
              <a:latin typeface="Lato"/>
              <a:ea typeface="Lato"/>
              <a:cs typeface="Lato"/>
              <a:sym typeface="Lato"/>
            </a:endParaRPr>
          </a:p>
        </p:txBody>
      </p:sp>
      <p:sp>
        <p:nvSpPr>
          <p:cNvPr id="869" name="Google Shape;869;p77"/>
          <p:cNvSpPr txBox="1"/>
          <p:nvPr/>
        </p:nvSpPr>
        <p:spPr>
          <a:xfrm>
            <a:off x="2645238" y="3265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TM1</a:t>
            </a:r>
            <a:endParaRPr sz="1200">
              <a:solidFill>
                <a:srgbClr val="B7B7B7"/>
              </a:solidFill>
              <a:latin typeface="Lato"/>
              <a:ea typeface="Lato"/>
              <a:cs typeface="Lato"/>
              <a:sym typeface="Lato"/>
            </a:endParaRPr>
          </a:p>
        </p:txBody>
      </p:sp>
      <p:cxnSp>
        <p:nvCxnSpPr>
          <p:cNvPr id="870" name="Google Shape;870;p77"/>
          <p:cNvCxnSpPr/>
          <p:nvPr/>
        </p:nvCxnSpPr>
        <p:spPr>
          <a:xfrm flipH="1">
            <a:off x="2945132" y="2473560"/>
            <a:ext cx="737700" cy="888600"/>
          </a:xfrm>
          <a:prstGeom prst="straightConnector1">
            <a:avLst/>
          </a:prstGeom>
          <a:noFill/>
          <a:ln cap="flat" cmpd="sng" w="9525">
            <a:solidFill>
              <a:srgbClr val="B7B7B7"/>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78"/>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Technical Risks</a:t>
            </a:r>
            <a:endParaRPr/>
          </a:p>
        </p:txBody>
      </p:sp>
      <p:pic>
        <p:nvPicPr>
          <p:cNvPr id="876" name="Google Shape;876;p78"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877" name="Google Shape;877;p78"/>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17</a:t>
            </a:r>
            <a:endParaRPr/>
          </a:p>
        </p:txBody>
      </p:sp>
      <p:cxnSp>
        <p:nvCxnSpPr>
          <p:cNvPr id="878" name="Google Shape;878;p78"/>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879" name="Google Shape;879;p78"/>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TR1</a:t>
                      </a:r>
                      <a:r>
                        <a:rPr lang="en" sz="1100"/>
                        <a:t>: Domain &amp; Process Scalability</a:t>
                      </a:r>
                      <a:endParaRPr sz="1100"/>
                    </a:p>
                    <a:p>
                      <a:pPr indent="0" lvl="0" marL="0" rtl="0" algn="l">
                        <a:spcBef>
                          <a:spcPts val="0"/>
                        </a:spcBef>
                        <a:spcAft>
                          <a:spcPts val="0"/>
                        </a:spcAft>
                        <a:buNone/>
                      </a:pPr>
                      <a:r>
                        <a:rPr b="1" lang="en" sz="1100"/>
                        <a:t>TR2</a:t>
                      </a:r>
                      <a:r>
                        <a:rPr lang="en" sz="1100"/>
                        <a:t>: Cybersecurity</a:t>
                      </a:r>
                      <a:endParaRPr sz="1100"/>
                    </a:p>
                    <a:p>
                      <a:pPr indent="0" lvl="0" marL="0" rtl="0" algn="l">
                        <a:spcBef>
                          <a:spcPts val="0"/>
                        </a:spcBef>
                        <a:spcAft>
                          <a:spcPts val="0"/>
                        </a:spcAft>
                        <a:buNone/>
                      </a:pPr>
                      <a:r>
                        <a:rPr b="1" lang="en" sz="1100"/>
                        <a:t>TR3</a:t>
                      </a:r>
                      <a:r>
                        <a:rPr lang="en" sz="1100"/>
                        <a:t>: Opaque Automation</a:t>
                      </a:r>
                      <a:endParaRPr sz="1100"/>
                    </a:p>
                    <a:p>
                      <a:pPr indent="0" lvl="0" marL="0" rtl="0" algn="l">
                        <a:spcBef>
                          <a:spcPts val="0"/>
                        </a:spcBef>
                        <a:spcAft>
                          <a:spcPts val="0"/>
                        </a:spcAft>
                        <a:buNone/>
                      </a:pPr>
                      <a:r>
                        <a:rPr b="1" lang="en" sz="1100"/>
                        <a:t>TR4</a:t>
                      </a:r>
                      <a:r>
                        <a:rPr lang="en" sz="1100"/>
                        <a:t>: Accumulating Technical Debt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TM1</a:t>
                      </a:r>
                      <a:r>
                        <a:rPr lang="en" sz="1000"/>
                        <a:t>: Limited and gradual increase in system scope leaning towards strong foundation which clients and developers can build on to gradually encompass given process domain. Continual domain feedback and dialogue.</a:t>
                      </a:r>
                      <a:endParaRPr sz="1000"/>
                    </a:p>
                    <a:p>
                      <a:pPr indent="0" lvl="0" marL="0" rtl="0" algn="l">
                        <a:spcBef>
                          <a:spcPts val="0"/>
                        </a:spcBef>
                        <a:spcAft>
                          <a:spcPts val="0"/>
                        </a:spcAft>
                        <a:buNone/>
                      </a:pPr>
                      <a:r>
                        <a:rPr b="1" lang="en" sz="1000"/>
                        <a:t>TM2</a:t>
                      </a:r>
                      <a:r>
                        <a:rPr lang="en" sz="1000"/>
                        <a:t>: Separation of process coordination network except through specific role interactions. Encryption and local emphasis on sensitive data storage.</a:t>
                      </a:r>
                      <a:endParaRPr sz="1000"/>
                    </a:p>
                    <a:p>
                      <a:pPr indent="0" lvl="0" marL="0" rtl="0" algn="l">
                        <a:spcBef>
                          <a:spcPts val="0"/>
                        </a:spcBef>
                        <a:spcAft>
                          <a:spcPts val="0"/>
                        </a:spcAft>
                        <a:buNone/>
                      </a:pPr>
                      <a:r>
                        <a:rPr b="1" lang="en" sz="1000"/>
                        <a:t>TM3</a:t>
                      </a:r>
                      <a:r>
                        <a:rPr lang="en" sz="1000"/>
                        <a:t>: Data and metric visualization functionality which</a:t>
                      </a:r>
                      <a:endParaRPr sz="1000"/>
                    </a:p>
                    <a:p>
                      <a:pPr indent="0" lvl="0" marL="0" rtl="0" algn="l">
                        <a:spcBef>
                          <a:spcPts val="0"/>
                        </a:spcBef>
                        <a:spcAft>
                          <a:spcPts val="0"/>
                        </a:spcAft>
                        <a:buNone/>
                      </a:pPr>
                      <a:r>
                        <a:rPr lang="en" sz="1000"/>
                        <a:t>emphasizes multiple perspectives to a clear big picture.</a:t>
                      </a:r>
                      <a:endParaRPr sz="1000"/>
                    </a:p>
                    <a:p>
                      <a:pPr indent="0" lvl="0" marL="0" rtl="0" algn="l">
                        <a:spcBef>
                          <a:spcPts val="0"/>
                        </a:spcBef>
                        <a:spcAft>
                          <a:spcPts val="0"/>
                        </a:spcAft>
                        <a:buNone/>
                      </a:pPr>
                      <a:r>
                        <a:rPr b="1" lang="en" sz="1000"/>
                        <a:t>TM4</a:t>
                      </a:r>
                      <a:r>
                        <a:rPr lang="en" sz="1000"/>
                        <a:t>: Recognition of and minimization of the technical debt issue as fundamental tenet of BevOS with emphasis on futureproof Careful foundation construction and gradual architecture design.</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880" name="Google Shape;880;p78"/>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881" name="Google Shape;881;p78"/>
          <p:cNvSpPr txBox="1"/>
          <p:nvPr/>
        </p:nvSpPr>
        <p:spPr>
          <a:xfrm>
            <a:off x="3638323" y="2281756"/>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TR1</a:t>
            </a:r>
            <a:endParaRPr sz="1200">
              <a:solidFill>
                <a:srgbClr val="B7B7B7"/>
              </a:solidFill>
              <a:latin typeface="Lato"/>
              <a:ea typeface="Lato"/>
              <a:cs typeface="Lato"/>
              <a:sym typeface="Lato"/>
            </a:endParaRPr>
          </a:p>
        </p:txBody>
      </p:sp>
      <p:sp>
        <p:nvSpPr>
          <p:cNvPr id="882" name="Google Shape;882;p78"/>
          <p:cNvSpPr txBox="1"/>
          <p:nvPr/>
        </p:nvSpPr>
        <p:spPr>
          <a:xfrm>
            <a:off x="4432492" y="3340043"/>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TR2</a:t>
            </a:r>
            <a:endParaRPr sz="1200">
              <a:latin typeface="Lato"/>
              <a:ea typeface="Lato"/>
              <a:cs typeface="Lato"/>
              <a:sym typeface="Lato"/>
            </a:endParaRPr>
          </a:p>
        </p:txBody>
      </p:sp>
      <p:sp>
        <p:nvSpPr>
          <p:cNvPr id="883" name="Google Shape;883;p78"/>
          <p:cNvSpPr txBox="1"/>
          <p:nvPr/>
        </p:nvSpPr>
        <p:spPr>
          <a:xfrm>
            <a:off x="2823090" y="277379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TR3</a:t>
            </a:r>
            <a:endParaRPr sz="1200">
              <a:solidFill>
                <a:srgbClr val="B7B7B7"/>
              </a:solidFill>
              <a:latin typeface="Lato"/>
              <a:ea typeface="Lato"/>
              <a:cs typeface="Lato"/>
              <a:sym typeface="Lato"/>
            </a:endParaRPr>
          </a:p>
        </p:txBody>
      </p:sp>
      <p:sp>
        <p:nvSpPr>
          <p:cNvPr id="884" name="Google Shape;884;p78"/>
          <p:cNvSpPr txBox="1"/>
          <p:nvPr/>
        </p:nvSpPr>
        <p:spPr>
          <a:xfrm>
            <a:off x="4432171" y="28361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TR4</a:t>
            </a:r>
            <a:endParaRPr sz="1200">
              <a:solidFill>
                <a:srgbClr val="B7B7B7"/>
              </a:solidFill>
              <a:latin typeface="Lato"/>
              <a:ea typeface="Lato"/>
              <a:cs typeface="Lato"/>
              <a:sym typeface="Lato"/>
            </a:endParaRPr>
          </a:p>
        </p:txBody>
      </p:sp>
      <p:sp>
        <p:nvSpPr>
          <p:cNvPr id="885" name="Google Shape;885;p78"/>
          <p:cNvSpPr txBox="1"/>
          <p:nvPr/>
        </p:nvSpPr>
        <p:spPr>
          <a:xfrm>
            <a:off x="3005877" y="350028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TM4</a:t>
            </a:r>
            <a:endParaRPr sz="1200">
              <a:solidFill>
                <a:srgbClr val="B7B7B7"/>
              </a:solidFill>
              <a:latin typeface="Lato"/>
              <a:ea typeface="Lato"/>
              <a:cs typeface="Lato"/>
              <a:sym typeface="Lato"/>
            </a:endParaRPr>
          </a:p>
        </p:txBody>
      </p:sp>
      <p:sp>
        <p:nvSpPr>
          <p:cNvPr id="886" name="Google Shape;886;p78"/>
          <p:cNvSpPr txBox="1"/>
          <p:nvPr/>
        </p:nvSpPr>
        <p:spPr>
          <a:xfrm>
            <a:off x="2044954" y="334894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TM3</a:t>
            </a:r>
            <a:endParaRPr sz="1200">
              <a:solidFill>
                <a:srgbClr val="B7B7B7"/>
              </a:solidFill>
              <a:latin typeface="Lato"/>
              <a:ea typeface="Lato"/>
              <a:cs typeface="Lato"/>
              <a:sym typeface="Lato"/>
            </a:endParaRPr>
          </a:p>
        </p:txBody>
      </p:sp>
      <p:sp>
        <p:nvSpPr>
          <p:cNvPr id="887" name="Google Shape;887;p78"/>
          <p:cNvSpPr txBox="1"/>
          <p:nvPr/>
        </p:nvSpPr>
        <p:spPr>
          <a:xfrm>
            <a:off x="2832011" y="3879602"/>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TM2</a:t>
            </a:r>
            <a:endParaRPr sz="1200">
              <a:latin typeface="Lato"/>
              <a:ea typeface="Lato"/>
              <a:cs typeface="Lato"/>
              <a:sym typeface="Lato"/>
            </a:endParaRPr>
          </a:p>
        </p:txBody>
      </p:sp>
      <p:sp>
        <p:nvSpPr>
          <p:cNvPr id="888" name="Google Shape;888;p78"/>
          <p:cNvSpPr txBox="1"/>
          <p:nvPr/>
        </p:nvSpPr>
        <p:spPr>
          <a:xfrm>
            <a:off x="2645238" y="3265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TM1</a:t>
            </a:r>
            <a:endParaRPr sz="1200">
              <a:solidFill>
                <a:srgbClr val="B7B7B7"/>
              </a:solidFill>
              <a:latin typeface="Lato"/>
              <a:ea typeface="Lato"/>
              <a:cs typeface="Lato"/>
              <a:sym typeface="Lato"/>
            </a:endParaRPr>
          </a:p>
        </p:txBody>
      </p:sp>
      <p:cxnSp>
        <p:nvCxnSpPr>
          <p:cNvPr id="889" name="Google Shape;889;p78"/>
          <p:cNvCxnSpPr/>
          <p:nvPr/>
        </p:nvCxnSpPr>
        <p:spPr>
          <a:xfrm flipH="1">
            <a:off x="2945132" y="2473560"/>
            <a:ext cx="737700" cy="888600"/>
          </a:xfrm>
          <a:prstGeom prst="straightConnector1">
            <a:avLst/>
          </a:prstGeom>
          <a:noFill/>
          <a:ln cap="flat" cmpd="sng" w="9525">
            <a:solidFill>
              <a:srgbClr val="B7B7B7"/>
            </a:solidFill>
            <a:prstDash val="solid"/>
            <a:round/>
            <a:headEnd len="med" w="med" type="none"/>
            <a:tailEnd len="med" w="med" type="triangle"/>
          </a:ln>
        </p:spPr>
      </p:cxnSp>
      <p:cxnSp>
        <p:nvCxnSpPr>
          <p:cNvPr id="890" name="Google Shape;890;p78"/>
          <p:cNvCxnSpPr/>
          <p:nvPr/>
        </p:nvCxnSpPr>
        <p:spPr>
          <a:xfrm flipH="1">
            <a:off x="3262875" y="3522900"/>
            <a:ext cx="1121400" cy="4362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79"/>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Technical Risks</a:t>
            </a:r>
            <a:endParaRPr/>
          </a:p>
        </p:txBody>
      </p:sp>
      <p:pic>
        <p:nvPicPr>
          <p:cNvPr id="896" name="Google Shape;896;p79"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897" name="Google Shape;897;p79"/>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17</a:t>
            </a:r>
            <a:endParaRPr/>
          </a:p>
        </p:txBody>
      </p:sp>
      <p:cxnSp>
        <p:nvCxnSpPr>
          <p:cNvPr id="898" name="Google Shape;898;p79"/>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899" name="Google Shape;899;p79"/>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TR1</a:t>
                      </a:r>
                      <a:r>
                        <a:rPr lang="en" sz="1100"/>
                        <a:t>: Domain &amp; Process Scalability</a:t>
                      </a:r>
                      <a:endParaRPr sz="1100"/>
                    </a:p>
                    <a:p>
                      <a:pPr indent="0" lvl="0" marL="0" rtl="0" algn="l">
                        <a:spcBef>
                          <a:spcPts val="0"/>
                        </a:spcBef>
                        <a:spcAft>
                          <a:spcPts val="0"/>
                        </a:spcAft>
                        <a:buNone/>
                      </a:pPr>
                      <a:r>
                        <a:rPr b="1" lang="en" sz="1100"/>
                        <a:t>TR2</a:t>
                      </a:r>
                      <a:r>
                        <a:rPr lang="en" sz="1100"/>
                        <a:t>: Cybersecurity</a:t>
                      </a:r>
                      <a:endParaRPr sz="1100"/>
                    </a:p>
                    <a:p>
                      <a:pPr indent="0" lvl="0" marL="0" rtl="0" algn="l">
                        <a:spcBef>
                          <a:spcPts val="0"/>
                        </a:spcBef>
                        <a:spcAft>
                          <a:spcPts val="0"/>
                        </a:spcAft>
                        <a:buNone/>
                      </a:pPr>
                      <a:r>
                        <a:rPr b="1" lang="en" sz="1100"/>
                        <a:t>TR3</a:t>
                      </a:r>
                      <a:r>
                        <a:rPr lang="en" sz="1100"/>
                        <a:t>: Opaque Automation</a:t>
                      </a:r>
                      <a:endParaRPr sz="1100"/>
                    </a:p>
                    <a:p>
                      <a:pPr indent="0" lvl="0" marL="0" rtl="0" algn="l">
                        <a:spcBef>
                          <a:spcPts val="0"/>
                        </a:spcBef>
                        <a:spcAft>
                          <a:spcPts val="0"/>
                        </a:spcAft>
                        <a:buNone/>
                      </a:pPr>
                      <a:r>
                        <a:rPr b="1" lang="en" sz="1100"/>
                        <a:t>TR4</a:t>
                      </a:r>
                      <a:r>
                        <a:rPr lang="en" sz="1100"/>
                        <a:t>: Accumulating Technical Debt (Unmaintainable)</a:t>
                      </a:r>
                      <a:endParaRPr sz="1100"/>
                    </a:p>
                    <a:p>
                      <a:pPr indent="0" lvl="0" marL="0" rtl="0" algn="l">
                        <a:spcBef>
                          <a:spcPts val="0"/>
                        </a:spcBef>
                        <a:spcAft>
                          <a:spcPts val="0"/>
                        </a:spcAft>
                        <a:buNone/>
                      </a:pPr>
                      <a:r>
                        <a:rPr b="1" lang="en" sz="1100"/>
                        <a:t>TR5</a:t>
                      </a:r>
                      <a:r>
                        <a:rPr lang="en" sz="1100"/>
                        <a:t>: Long-Term Viability? (</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TM1</a:t>
                      </a:r>
                      <a:r>
                        <a:rPr lang="en" sz="1000"/>
                        <a:t>: Limited and gradual increase in system scope leaning towards strong foundation which clients and developers can build on to gradually encompass given process domain. Continual domain feedback and dialogue.</a:t>
                      </a:r>
                      <a:endParaRPr sz="1000"/>
                    </a:p>
                    <a:p>
                      <a:pPr indent="0" lvl="0" marL="0" rtl="0" algn="l">
                        <a:spcBef>
                          <a:spcPts val="0"/>
                        </a:spcBef>
                        <a:spcAft>
                          <a:spcPts val="0"/>
                        </a:spcAft>
                        <a:buNone/>
                      </a:pPr>
                      <a:r>
                        <a:rPr b="1" lang="en" sz="1000"/>
                        <a:t>TM2</a:t>
                      </a:r>
                      <a:r>
                        <a:rPr lang="en" sz="1000"/>
                        <a:t>: Separation of process coordination network except through specific role interactions. Encryption and local emphasis on sensitive data storage.</a:t>
                      </a:r>
                      <a:endParaRPr sz="1000"/>
                    </a:p>
                    <a:p>
                      <a:pPr indent="0" lvl="0" marL="0" rtl="0" algn="l">
                        <a:spcBef>
                          <a:spcPts val="0"/>
                        </a:spcBef>
                        <a:spcAft>
                          <a:spcPts val="0"/>
                        </a:spcAft>
                        <a:buNone/>
                      </a:pPr>
                      <a:r>
                        <a:rPr b="1" lang="en" sz="1000"/>
                        <a:t>TM3</a:t>
                      </a:r>
                      <a:r>
                        <a:rPr lang="en" sz="1000"/>
                        <a:t>: Data and metric visualization functionality which</a:t>
                      </a:r>
                      <a:endParaRPr sz="1000"/>
                    </a:p>
                    <a:p>
                      <a:pPr indent="0" lvl="0" marL="0" rtl="0" algn="l">
                        <a:spcBef>
                          <a:spcPts val="0"/>
                        </a:spcBef>
                        <a:spcAft>
                          <a:spcPts val="0"/>
                        </a:spcAft>
                        <a:buNone/>
                      </a:pPr>
                      <a:r>
                        <a:rPr lang="en" sz="1000"/>
                        <a:t>emphasizes multiple perspectives to a clear big picture.</a:t>
                      </a:r>
                      <a:endParaRPr sz="1000"/>
                    </a:p>
                    <a:p>
                      <a:pPr indent="0" lvl="0" marL="0" rtl="0" algn="l">
                        <a:spcBef>
                          <a:spcPts val="0"/>
                        </a:spcBef>
                        <a:spcAft>
                          <a:spcPts val="0"/>
                        </a:spcAft>
                        <a:buNone/>
                      </a:pPr>
                      <a:r>
                        <a:rPr b="1" lang="en" sz="1000"/>
                        <a:t>TM4</a:t>
                      </a:r>
                      <a:r>
                        <a:rPr lang="en" sz="1000"/>
                        <a:t>: Recognition of and minimization of the technical debt issue as fundamental tenet of BevOS with emphasis on futureproof Careful foundation construction and gradual architecture design.</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900" name="Google Shape;900;p79"/>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901" name="Google Shape;901;p79"/>
          <p:cNvSpPr txBox="1"/>
          <p:nvPr/>
        </p:nvSpPr>
        <p:spPr>
          <a:xfrm>
            <a:off x="3638323" y="2281756"/>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TR1</a:t>
            </a:r>
            <a:endParaRPr sz="1200">
              <a:solidFill>
                <a:srgbClr val="B7B7B7"/>
              </a:solidFill>
              <a:latin typeface="Lato"/>
              <a:ea typeface="Lato"/>
              <a:cs typeface="Lato"/>
              <a:sym typeface="Lato"/>
            </a:endParaRPr>
          </a:p>
        </p:txBody>
      </p:sp>
      <p:sp>
        <p:nvSpPr>
          <p:cNvPr id="902" name="Google Shape;902;p79"/>
          <p:cNvSpPr txBox="1"/>
          <p:nvPr/>
        </p:nvSpPr>
        <p:spPr>
          <a:xfrm>
            <a:off x="4432492" y="3340043"/>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TR2</a:t>
            </a:r>
            <a:endParaRPr sz="1200">
              <a:solidFill>
                <a:srgbClr val="B7B7B7"/>
              </a:solidFill>
              <a:latin typeface="Lato"/>
              <a:ea typeface="Lato"/>
              <a:cs typeface="Lato"/>
              <a:sym typeface="Lato"/>
            </a:endParaRPr>
          </a:p>
        </p:txBody>
      </p:sp>
      <p:sp>
        <p:nvSpPr>
          <p:cNvPr id="903" name="Google Shape;903;p79"/>
          <p:cNvSpPr txBox="1"/>
          <p:nvPr/>
        </p:nvSpPr>
        <p:spPr>
          <a:xfrm>
            <a:off x="2823090" y="277379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TR3</a:t>
            </a:r>
            <a:endParaRPr sz="1200">
              <a:latin typeface="Lato"/>
              <a:ea typeface="Lato"/>
              <a:cs typeface="Lato"/>
              <a:sym typeface="Lato"/>
            </a:endParaRPr>
          </a:p>
        </p:txBody>
      </p:sp>
      <p:sp>
        <p:nvSpPr>
          <p:cNvPr id="904" name="Google Shape;904;p79"/>
          <p:cNvSpPr txBox="1"/>
          <p:nvPr/>
        </p:nvSpPr>
        <p:spPr>
          <a:xfrm>
            <a:off x="4432171" y="28361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TR4</a:t>
            </a:r>
            <a:endParaRPr sz="1200">
              <a:solidFill>
                <a:srgbClr val="B7B7B7"/>
              </a:solidFill>
              <a:latin typeface="Lato"/>
              <a:ea typeface="Lato"/>
              <a:cs typeface="Lato"/>
              <a:sym typeface="Lato"/>
            </a:endParaRPr>
          </a:p>
        </p:txBody>
      </p:sp>
      <p:sp>
        <p:nvSpPr>
          <p:cNvPr id="905" name="Google Shape;905;p79"/>
          <p:cNvSpPr txBox="1"/>
          <p:nvPr/>
        </p:nvSpPr>
        <p:spPr>
          <a:xfrm>
            <a:off x="3005877" y="350028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TM4</a:t>
            </a:r>
            <a:endParaRPr sz="1200">
              <a:solidFill>
                <a:srgbClr val="B7B7B7"/>
              </a:solidFill>
              <a:latin typeface="Lato"/>
              <a:ea typeface="Lato"/>
              <a:cs typeface="Lato"/>
              <a:sym typeface="Lato"/>
            </a:endParaRPr>
          </a:p>
        </p:txBody>
      </p:sp>
      <p:sp>
        <p:nvSpPr>
          <p:cNvPr id="906" name="Google Shape;906;p79"/>
          <p:cNvSpPr txBox="1"/>
          <p:nvPr/>
        </p:nvSpPr>
        <p:spPr>
          <a:xfrm>
            <a:off x="2044954" y="334894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TM3</a:t>
            </a:r>
            <a:endParaRPr sz="1200">
              <a:latin typeface="Lato"/>
              <a:ea typeface="Lato"/>
              <a:cs typeface="Lato"/>
              <a:sym typeface="Lato"/>
            </a:endParaRPr>
          </a:p>
        </p:txBody>
      </p:sp>
      <p:sp>
        <p:nvSpPr>
          <p:cNvPr id="907" name="Google Shape;907;p79"/>
          <p:cNvSpPr txBox="1"/>
          <p:nvPr/>
        </p:nvSpPr>
        <p:spPr>
          <a:xfrm>
            <a:off x="2832011" y="3879602"/>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TM2</a:t>
            </a:r>
            <a:endParaRPr sz="1200">
              <a:solidFill>
                <a:srgbClr val="B7B7B7"/>
              </a:solidFill>
              <a:latin typeface="Lato"/>
              <a:ea typeface="Lato"/>
              <a:cs typeface="Lato"/>
              <a:sym typeface="Lato"/>
            </a:endParaRPr>
          </a:p>
        </p:txBody>
      </p:sp>
      <p:sp>
        <p:nvSpPr>
          <p:cNvPr id="908" name="Google Shape;908;p79"/>
          <p:cNvSpPr txBox="1"/>
          <p:nvPr/>
        </p:nvSpPr>
        <p:spPr>
          <a:xfrm>
            <a:off x="2645238" y="3265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TM1</a:t>
            </a:r>
            <a:endParaRPr sz="1200">
              <a:solidFill>
                <a:srgbClr val="B7B7B7"/>
              </a:solidFill>
              <a:latin typeface="Lato"/>
              <a:ea typeface="Lato"/>
              <a:cs typeface="Lato"/>
              <a:sym typeface="Lato"/>
            </a:endParaRPr>
          </a:p>
        </p:txBody>
      </p:sp>
      <p:cxnSp>
        <p:nvCxnSpPr>
          <p:cNvPr id="909" name="Google Shape;909;p79"/>
          <p:cNvCxnSpPr/>
          <p:nvPr/>
        </p:nvCxnSpPr>
        <p:spPr>
          <a:xfrm flipH="1">
            <a:off x="2945132" y="2473560"/>
            <a:ext cx="737700" cy="888600"/>
          </a:xfrm>
          <a:prstGeom prst="straightConnector1">
            <a:avLst/>
          </a:prstGeom>
          <a:noFill/>
          <a:ln cap="flat" cmpd="sng" w="9525">
            <a:solidFill>
              <a:srgbClr val="B7B7B7"/>
            </a:solidFill>
            <a:prstDash val="solid"/>
            <a:round/>
            <a:headEnd len="med" w="med" type="none"/>
            <a:tailEnd len="med" w="med" type="triangle"/>
          </a:ln>
        </p:spPr>
      </p:cxnSp>
      <p:cxnSp>
        <p:nvCxnSpPr>
          <p:cNvPr id="910" name="Google Shape;910;p79"/>
          <p:cNvCxnSpPr/>
          <p:nvPr/>
        </p:nvCxnSpPr>
        <p:spPr>
          <a:xfrm flipH="1">
            <a:off x="3262875" y="3522900"/>
            <a:ext cx="1121400" cy="436200"/>
          </a:xfrm>
          <a:prstGeom prst="straightConnector1">
            <a:avLst/>
          </a:prstGeom>
          <a:noFill/>
          <a:ln cap="flat" cmpd="sng" w="9525">
            <a:solidFill>
              <a:srgbClr val="B7B7B7"/>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80"/>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Technical Risks</a:t>
            </a:r>
            <a:endParaRPr/>
          </a:p>
        </p:txBody>
      </p:sp>
      <p:pic>
        <p:nvPicPr>
          <p:cNvPr id="916" name="Google Shape;916;p80"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917" name="Google Shape;917;p80"/>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17</a:t>
            </a:r>
            <a:endParaRPr/>
          </a:p>
        </p:txBody>
      </p:sp>
      <p:cxnSp>
        <p:nvCxnSpPr>
          <p:cNvPr id="918" name="Google Shape;918;p80"/>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919" name="Google Shape;919;p80"/>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TR1</a:t>
                      </a:r>
                      <a:r>
                        <a:rPr lang="en" sz="1100"/>
                        <a:t>: Domain &amp; Process Scalability</a:t>
                      </a:r>
                      <a:endParaRPr sz="1100"/>
                    </a:p>
                    <a:p>
                      <a:pPr indent="0" lvl="0" marL="0" rtl="0" algn="l">
                        <a:spcBef>
                          <a:spcPts val="0"/>
                        </a:spcBef>
                        <a:spcAft>
                          <a:spcPts val="0"/>
                        </a:spcAft>
                        <a:buNone/>
                      </a:pPr>
                      <a:r>
                        <a:rPr b="1" lang="en" sz="1100"/>
                        <a:t>TR2</a:t>
                      </a:r>
                      <a:r>
                        <a:rPr lang="en" sz="1100"/>
                        <a:t>: Cybersecurity</a:t>
                      </a:r>
                      <a:endParaRPr sz="1100"/>
                    </a:p>
                    <a:p>
                      <a:pPr indent="0" lvl="0" marL="0" rtl="0" algn="l">
                        <a:spcBef>
                          <a:spcPts val="0"/>
                        </a:spcBef>
                        <a:spcAft>
                          <a:spcPts val="0"/>
                        </a:spcAft>
                        <a:buNone/>
                      </a:pPr>
                      <a:r>
                        <a:rPr b="1" lang="en" sz="1100"/>
                        <a:t>TR3</a:t>
                      </a:r>
                      <a:r>
                        <a:rPr lang="en" sz="1100"/>
                        <a:t>: Opaque Automation</a:t>
                      </a:r>
                      <a:endParaRPr sz="1100"/>
                    </a:p>
                    <a:p>
                      <a:pPr indent="0" lvl="0" marL="0" rtl="0" algn="l">
                        <a:spcBef>
                          <a:spcPts val="0"/>
                        </a:spcBef>
                        <a:spcAft>
                          <a:spcPts val="0"/>
                        </a:spcAft>
                        <a:buNone/>
                      </a:pPr>
                      <a:r>
                        <a:rPr b="1" lang="en" sz="1100"/>
                        <a:t>TR4</a:t>
                      </a:r>
                      <a:r>
                        <a:rPr lang="en" sz="1100"/>
                        <a:t>: Accumulating Technical Debt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TM1</a:t>
                      </a:r>
                      <a:r>
                        <a:rPr lang="en" sz="1000"/>
                        <a:t>: Limited and gradual increase in system scope leaning towards strong foundation which clients and developers can build on to gradually encompass given process domain. Continual domain feedback and dialogue.</a:t>
                      </a:r>
                      <a:endParaRPr sz="1000"/>
                    </a:p>
                    <a:p>
                      <a:pPr indent="0" lvl="0" marL="0" rtl="0" algn="l">
                        <a:spcBef>
                          <a:spcPts val="0"/>
                        </a:spcBef>
                        <a:spcAft>
                          <a:spcPts val="0"/>
                        </a:spcAft>
                        <a:buNone/>
                      </a:pPr>
                      <a:r>
                        <a:rPr b="1" lang="en" sz="1000"/>
                        <a:t>TM2</a:t>
                      </a:r>
                      <a:r>
                        <a:rPr lang="en" sz="1000"/>
                        <a:t>: Separation of process coordination network except through specific role interactions. Encryption and local emphasis on sensitive data storage.</a:t>
                      </a:r>
                      <a:endParaRPr sz="1000"/>
                    </a:p>
                    <a:p>
                      <a:pPr indent="0" lvl="0" marL="0" rtl="0" algn="l">
                        <a:spcBef>
                          <a:spcPts val="0"/>
                        </a:spcBef>
                        <a:spcAft>
                          <a:spcPts val="0"/>
                        </a:spcAft>
                        <a:buNone/>
                      </a:pPr>
                      <a:r>
                        <a:rPr b="1" lang="en" sz="1000"/>
                        <a:t>TM3</a:t>
                      </a:r>
                      <a:r>
                        <a:rPr lang="en" sz="1000"/>
                        <a:t>: Data and metric visualization functionality which</a:t>
                      </a:r>
                      <a:endParaRPr sz="1000"/>
                    </a:p>
                    <a:p>
                      <a:pPr indent="0" lvl="0" marL="0" rtl="0" algn="l">
                        <a:spcBef>
                          <a:spcPts val="0"/>
                        </a:spcBef>
                        <a:spcAft>
                          <a:spcPts val="0"/>
                        </a:spcAft>
                        <a:buNone/>
                      </a:pPr>
                      <a:r>
                        <a:rPr lang="en" sz="1000"/>
                        <a:t>emphasizes multiple perspectives to a clear big picture.</a:t>
                      </a:r>
                      <a:endParaRPr sz="1000"/>
                    </a:p>
                    <a:p>
                      <a:pPr indent="0" lvl="0" marL="0" rtl="0" algn="l">
                        <a:spcBef>
                          <a:spcPts val="0"/>
                        </a:spcBef>
                        <a:spcAft>
                          <a:spcPts val="0"/>
                        </a:spcAft>
                        <a:buNone/>
                      </a:pPr>
                      <a:r>
                        <a:rPr b="1" lang="en" sz="1000"/>
                        <a:t>TM4</a:t>
                      </a:r>
                      <a:r>
                        <a:rPr lang="en" sz="1000"/>
                        <a:t>: Recognition of and minimization of the technical debt issue as fundamental tenet of BevOS with emphasis on futureproof Careful foundation construction and gradual architecture design.</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920" name="Google Shape;920;p80"/>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921" name="Google Shape;921;p80"/>
          <p:cNvSpPr txBox="1"/>
          <p:nvPr/>
        </p:nvSpPr>
        <p:spPr>
          <a:xfrm>
            <a:off x="3638323" y="2281756"/>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TR1</a:t>
            </a:r>
            <a:endParaRPr sz="1200">
              <a:solidFill>
                <a:srgbClr val="B7B7B7"/>
              </a:solidFill>
              <a:latin typeface="Lato"/>
              <a:ea typeface="Lato"/>
              <a:cs typeface="Lato"/>
              <a:sym typeface="Lato"/>
            </a:endParaRPr>
          </a:p>
        </p:txBody>
      </p:sp>
      <p:sp>
        <p:nvSpPr>
          <p:cNvPr id="922" name="Google Shape;922;p80"/>
          <p:cNvSpPr txBox="1"/>
          <p:nvPr/>
        </p:nvSpPr>
        <p:spPr>
          <a:xfrm>
            <a:off x="4432492" y="3340043"/>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TR2</a:t>
            </a:r>
            <a:endParaRPr sz="1200">
              <a:solidFill>
                <a:srgbClr val="B7B7B7"/>
              </a:solidFill>
              <a:latin typeface="Lato"/>
              <a:ea typeface="Lato"/>
              <a:cs typeface="Lato"/>
              <a:sym typeface="Lato"/>
            </a:endParaRPr>
          </a:p>
        </p:txBody>
      </p:sp>
      <p:sp>
        <p:nvSpPr>
          <p:cNvPr id="923" name="Google Shape;923;p80"/>
          <p:cNvSpPr txBox="1"/>
          <p:nvPr/>
        </p:nvSpPr>
        <p:spPr>
          <a:xfrm>
            <a:off x="2823090" y="277379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TR3</a:t>
            </a:r>
            <a:endParaRPr sz="1200">
              <a:latin typeface="Lato"/>
              <a:ea typeface="Lato"/>
              <a:cs typeface="Lato"/>
              <a:sym typeface="Lato"/>
            </a:endParaRPr>
          </a:p>
        </p:txBody>
      </p:sp>
      <p:sp>
        <p:nvSpPr>
          <p:cNvPr id="924" name="Google Shape;924;p80"/>
          <p:cNvSpPr txBox="1"/>
          <p:nvPr/>
        </p:nvSpPr>
        <p:spPr>
          <a:xfrm>
            <a:off x="4432171" y="28361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TR4</a:t>
            </a:r>
            <a:endParaRPr sz="1200">
              <a:solidFill>
                <a:srgbClr val="B7B7B7"/>
              </a:solidFill>
              <a:latin typeface="Lato"/>
              <a:ea typeface="Lato"/>
              <a:cs typeface="Lato"/>
              <a:sym typeface="Lato"/>
            </a:endParaRPr>
          </a:p>
        </p:txBody>
      </p:sp>
      <p:sp>
        <p:nvSpPr>
          <p:cNvPr id="925" name="Google Shape;925;p80"/>
          <p:cNvSpPr txBox="1"/>
          <p:nvPr/>
        </p:nvSpPr>
        <p:spPr>
          <a:xfrm>
            <a:off x="3005877" y="350028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TM4</a:t>
            </a:r>
            <a:endParaRPr sz="1200">
              <a:solidFill>
                <a:srgbClr val="B7B7B7"/>
              </a:solidFill>
              <a:latin typeface="Lato"/>
              <a:ea typeface="Lato"/>
              <a:cs typeface="Lato"/>
              <a:sym typeface="Lato"/>
            </a:endParaRPr>
          </a:p>
        </p:txBody>
      </p:sp>
      <p:sp>
        <p:nvSpPr>
          <p:cNvPr id="926" name="Google Shape;926;p80"/>
          <p:cNvSpPr txBox="1"/>
          <p:nvPr/>
        </p:nvSpPr>
        <p:spPr>
          <a:xfrm>
            <a:off x="2044954" y="334894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TM3</a:t>
            </a:r>
            <a:endParaRPr sz="1200">
              <a:latin typeface="Lato"/>
              <a:ea typeface="Lato"/>
              <a:cs typeface="Lato"/>
              <a:sym typeface="Lato"/>
            </a:endParaRPr>
          </a:p>
        </p:txBody>
      </p:sp>
      <p:sp>
        <p:nvSpPr>
          <p:cNvPr id="927" name="Google Shape;927;p80"/>
          <p:cNvSpPr txBox="1"/>
          <p:nvPr/>
        </p:nvSpPr>
        <p:spPr>
          <a:xfrm>
            <a:off x="2832011" y="3879602"/>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TM2</a:t>
            </a:r>
            <a:endParaRPr sz="1200">
              <a:solidFill>
                <a:srgbClr val="B7B7B7"/>
              </a:solidFill>
              <a:latin typeface="Lato"/>
              <a:ea typeface="Lato"/>
              <a:cs typeface="Lato"/>
              <a:sym typeface="Lato"/>
            </a:endParaRPr>
          </a:p>
        </p:txBody>
      </p:sp>
      <p:sp>
        <p:nvSpPr>
          <p:cNvPr id="928" name="Google Shape;928;p80"/>
          <p:cNvSpPr txBox="1"/>
          <p:nvPr/>
        </p:nvSpPr>
        <p:spPr>
          <a:xfrm>
            <a:off x="2645238" y="3265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TM1</a:t>
            </a:r>
            <a:endParaRPr sz="1200">
              <a:solidFill>
                <a:srgbClr val="B7B7B7"/>
              </a:solidFill>
              <a:latin typeface="Lato"/>
              <a:ea typeface="Lato"/>
              <a:cs typeface="Lato"/>
              <a:sym typeface="Lato"/>
            </a:endParaRPr>
          </a:p>
        </p:txBody>
      </p:sp>
      <p:cxnSp>
        <p:nvCxnSpPr>
          <p:cNvPr id="929" name="Google Shape;929;p80"/>
          <p:cNvCxnSpPr/>
          <p:nvPr/>
        </p:nvCxnSpPr>
        <p:spPr>
          <a:xfrm flipH="1">
            <a:off x="2945132" y="2473560"/>
            <a:ext cx="737700" cy="888600"/>
          </a:xfrm>
          <a:prstGeom prst="straightConnector1">
            <a:avLst/>
          </a:prstGeom>
          <a:noFill/>
          <a:ln cap="flat" cmpd="sng" w="9525">
            <a:solidFill>
              <a:srgbClr val="B7B7B7"/>
            </a:solidFill>
            <a:prstDash val="solid"/>
            <a:round/>
            <a:headEnd len="med" w="med" type="none"/>
            <a:tailEnd len="med" w="med" type="triangle"/>
          </a:ln>
        </p:spPr>
      </p:cxnSp>
      <p:cxnSp>
        <p:nvCxnSpPr>
          <p:cNvPr id="930" name="Google Shape;930;p80"/>
          <p:cNvCxnSpPr/>
          <p:nvPr/>
        </p:nvCxnSpPr>
        <p:spPr>
          <a:xfrm flipH="1">
            <a:off x="3262875" y="3522900"/>
            <a:ext cx="1121400" cy="436200"/>
          </a:xfrm>
          <a:prstGeom prst="straightConnector1">
            <a:avLst/>
          </a:prstGeom>
          <a:noFill/>
          <a:ln cap="flat" cmpd="sng" w="9525">
            <a:solidFill>
              <a:srgbClr val="B7B7B7"/>
            </a:solidFill>
            <a:prstDash val="solid"/>
            <a:round/>
            <a:headEnd len="med" w="med" type="none"/>
            <a:tailEnd len="med" w="med" type="triangle"/>
          </a:ln>
        </p:spPr>
      </p:cxnSp>
      <p:cxnSp>
        <p:nvCxnSpPr>
          <p:cNvPr id="931" name="Google Shape;931;p80"/>
          <p:cNvCxnSpPr/>
          <p:nvPr/>
        </p:nvCxnSpPr>
        <p:spPr>
          <a:xfrm flipH="1">
            <a:off x="2323326" y="3045704"/>
            <a:ext cx="579900" cy="3639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81"/>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Technical Risks</a:t>
            </a:r>
            <a:endParaRPr/>
          </a:p>
        </p:txBody>
      </p:sp>
      <p:pic>
        <p:nvPicPr>
          <p:cNvPr id="937" name="Google Shape;937;p81"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938" name="Google Shape;938;p81"/>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17</a:t>
            </a:r>
            <a:endParaRPr/>
          </a:p>
        </p:txBody>
      </p:sp>
      <p:cxnSp>
        <p:nvCxnSpPr>
          <p:cNvPr id="939" name="Google Shape;939;p81"/>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940" name="Google Shape;940;p81"/>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TR1</a:t>
                      </a:r>
                      <a:r>
                        <a:rPr lang="en" sz="1100"/>
                        <a:t>: Domain &amp; Process Scalability</a:t>
                      </a:r>
                      <a:endParaRPr sz="1100"/>
                    </a:p>
                    <a:p>
                      <a:pPr indent="0" lvl="0" marL="0" rtl="0" algn="l">
                        <a:spcBef>
                          <a:spcPts val="0"/>
                        </a:spcBef>
                        <a:spcAft>
                          <a:spcPts val="0"/>
                        </a:spcAft>
                        <a:buNone/>
                      </a:pPr>
                      <a:r>
                        <a:rPr b="1" lang="en" sz="1100"/>
                        <a:t>TR2</a:t>
                      </a:r>
                      <a:r>
                        <a:rPr lang="en" sz="1100"/>
                        <a:t>: Cybersecurity</a:t>
                      </a:r>
                      <a:endParaRPr sz="1100"/>
                    </a:p>
                    <a:p>
                      <a:pPr indent="0" lvl="0" marL="0" rtl="0" algn="l">
                        <a:spcBef>
                          <a:spcPts val="0"/>
                        </a:spcBef>
                        <a:spcAft>
                          <a:spcPts val="0"/>
                        </a:spcAft>
                        <a:buNone/>
                      </a:pPr>
                      <a:r>
                        <a:rPr b="1" lang="en" sz="1100"/>
                        <a:t>TR3</a:t>
                      </a:r>
                      <a:r>
                        <a:rPr lang="en" sz="1100"/>
                        <a:t>: Opaque Automation</a:t>
                      </a:r>
                      <a:endParaRPr sz="1100"/>
                    </a:p>
                    <a:p>
                      <a:pPr indent="0" lvl="0" marL="0" rtl="0" algn="l">
                        <a:spcBef>
                          <a:spcPts val="0"/>
                        </a:spcBef>
                        <a:spcAft>
                          <a:spcPts val="0"/>
                        </a:spcAft>
                        <a:buNone/>
                      </a:pPr>
                      <a:r>
                        <a:rPr b="1" lang="en" sz="1100"/>
                        <a:t>TR4</a:t>
                      </a:r>
                      <a:r>
                        <a:rPr lang="en" sz="1100"/>
                        <a:t>: Accumulating Technical Debt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TM1</a:t>
                      </a:r>
                      <a:r>
                        <a:rPr lang="en" sz="1000"/>
                        <a:t>: Limited and gradual increase in system scope leaning towards strong foundation which clients and developers can build on to gradually encompass given process domain. Continual domain feedback and dialogue.</a:t>
                      </a:r>
                      <a:endParaRPr sz="1000"/>
                    </a:p>
                    <a:p>
                      <a:pPr indent="0" lvl="0" marL="0" rtl="0" algn="l">
                        <a:spcBef>
                          <a:spcPts val="0"/>
                        </a:spcBef>
                        <a:spcAft>
                          <a:spcPts val="0"/>
                        </a:spcAft>
                        <a:buNone/>
                      </a:pPr>
                      <a:r>
                        <a:rPr b="1" lang="en" sz="1000"/>
                        <a:t>TM2</a:t>
                      </a:r>
                      <a:r>
                        <a:rPr lang="en" sz="1000"/>
                        <a:t>: Separation of process coordination network except through specific role interactions. Encryption and local emphasis on sensitive data storage.</a:t>
                      </a:r>
                      <a:endParaRPr sz="1000"/>
                    </a:p>
                    <a:p>
                      <a:pPr indent="0" lvl="0" marL="0" rtl="0" algn="l">
                        <a:spcBef>
                          <a:spcPts val="0"/>
                        </a:spcBef>
                        <a:spcAft>
                          <a:spcPts val="0"/>
                        </a:spcAft>
                        <a:buNone/>
                      </a:pPr>
                      <a:r>
                        <a:rPr b="1" lang="en" sz="1000"/>
                        <a:t>TM3</a:t>
                      </a:r>
                      <a:r>
                        <a:rPr lang="en" sz="1000"/>
                        <a:t>: Data and metric visualization functionality which</a:t>
                      </a:r>
                      <a:endParaRPr sz="1000"/>
                    </a:p>
                    <a:p>
                      <a:pPr indent="0" lvl="0" marL="0" rtl="0" algn="l">
                        <a:spcBef>
                          <a:spcPts val="0"/>
                        </a:spcBef>
                        <a:spcAft>
                          <a:spcPts val="0"/>
                        </a:spcAft>
                        <a:buNone/>
                      </a:pPr>
                      <a:r>
                        <a:rPr lang="en" sz="1000"/>
                        <a:t>emphasizes multiple perspectives to a clear big picture.</a:t>
                      </a:r>
                      <a:endParaRPr sz="1000"/>
                    </a:p>
                    <a:p>
                      <a:pPr indent="0" lvl="0" marL="0" rtl="0" algn="l">
                        <a:spcBef>
                          <a:spcPts val="0"/>
                        </a:spcBef>
                        <a:spcAft>
                          <a:spcPts val="0"/>
                        </a:spcAft>
                        <a:buNone/>
                      </a:pPr>
                      <a:r>
                        <a:rPr b="1" lang="en" sz="1000"/>
                        <a:t>TM4</a:t>
                      </a:r>
                      <a:r>
                        <a:rPr lang="en" sz="1000"/>
                        <a:t>: Recognition of and minimization of the technical debt issue as fundamental tenet of BevOS with emphasis on futureproof Careful foundation construction and gradual architecture design.</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941" name="Google Shape;941;p81"/>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942" name="Google Shape;942;p81"/>
          <p:cNvSpPr txBox="1"/>
          <p:nvPr/>
        </p:nvSpPr>
        <p:spPr>
          <a:xfrm>
            <a:off x="3638323" y="2281756"/>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TR1</a:t>
            </a:r>
            <a:endParaRPr sz="1200">
              <a:solidFill>
                <a:srgbClr val="999999"/>
              </a:solidFill>
              <a:latin typeface="Lato"/>
              <a:ea typeface="Lato"/>
              <a:cs typeface="Lato"/>
              <a:sym typeface="Lato"/>
            </a:endParaRPr>
          </a:p>
        </p:txBody>
      </p:sp>
      <p:sp>
        <p:nvSpPr>
          <p:cNvPr id="943" name="Google Shape;943;p81"/>
          <p:cNvSpPr txBox="1"/>
          <p:nvPr/>
        </p:nvSpPr>
        <p:spPr>
          <a:xfrm>
            <a:off x="4432492" y="3340043"/>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TR2</a:t>
            </a:r>
            <a:endParaRPr sz="1200">
              <a:solidFill>
                <a:srgbClr val="B7B7B7"/>
              </a:solidFill>
              <a:latin typeface="Lato"/>
              <a:ea typeface="Lato"/>
              <a:cs typeface="Lato"/>
              <a:sym typeface="Lato"/>
            </a:endParaRPr>
          </a:p>
        </p:txBody>
      </p:sp>
      <p:sp>
        <p:nvSpPr>
          <p:cNvPr id="944" name="Google Shape;944;p81"/>
          <p:cNvSpPr txBox="1"/>
          <p:nvPr/>
        </p:nvSpPr>
        <p:spPr>
          <a:xfrm>
            <a:off x="2823090" y="277379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TR3</a:t>
            </a:r>
            <a:endParaRPr sz="1200">
              <a:solidFill>
                <a:srgbClr val="B7B7B7"/>
              </a:solidFill>
              <a:latin typeface="Lato"/>
              <a:ea typeface="Lato"/>
              <a:cs typeface="Lato"/>
              <a:sym typeface="Lato"/>
            </a:endParaRPr>
          </a:p>
        </p:txBody>
      </p:sp>
      <p:sp>
        <p:nvSpPr>
          <p:cNvPr id="945" name="Google Shape;945;p81"/>
          <p:cNvSpPr txBox="1"/>
          <p:nvPr/>
        </p:nvSpPr>
        <p:spPr>
          <a:xfrm>
            <a:off x="4432171" y="28361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TR4</a:t>
            </a:r>
            <a:endParaRPr sz="1200">
              <a:latin typeface="Lato"/>
              <a:ea typeface="Lato"/>
              <a:cs typeface="Lato"/>
              <a:sym typeface="Lato"/>
            </a:endParaRPr>
          </a:p>
        </p:txBody>
      </p:sp>
      <p:sp>
        <p:nvSpPr>
          <p:cNvPr id="946" name="Google Shape;946;p81"/>
          <p:cNvSpPr txBox="1"/>
          <p:nvPr/>
        </p:nvSpPr>
        <p:spPr>
          <a:xfrm>
            <a:off x="3005877" y="350028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TM4</a:t>
            </a:r>
            <a:endParaRPr sz="1200">
              <a:latin typeface="Lato"/>
              <a:ea typeface="Lato"/>
              <a:cs typeface="Lato"/>
              <a:sym typeface="Lato"/>
            </a:endParaRPr>
          </a:p>
        </p:txBody>
      </p:sp>
      <p:cxnSp>
        <p:nvCxnSpPr>
          <p:cNvPr id="947" name="Google Shape;947;p81"/>
          <p:cNvCxnSpPr/>
          <p:nvPr/>
        </p:nvCxnSpPr>
        <p:spPr>
          <a:xfrm flipH="1">
            <a:off x="2323326" y="3045704"/>
            <a:ext cx="579900" cy="363900"/>
          </a:xfrm>
          <a:prstGeom prst="straightConnector1">
            <a:avLst/>
          </a:prstGeom>
          <a:noFill/>
          <a:ln cap="flat" cmpd="sng" w="9525">
            <a:solidFill>
              <a:srgbClr val="999999"/>
            </a:solidFill>
            <a:prstDash val="solid"/>
            <a:round/>
            <a:headEnd len="med" w="med" type="none"/>
            <a:tailEnd len="med" w="med" type="triangle"/>
          </a:ln>
        </p:spPr>
      </p:cxnSp>
      <p:sp>
        <p:nvSpPr>
          <p:cNvPr id="948" name="Google Shape;948;p81"/>
          <p:cNvSpPr txBox="1"/>
          <p:nvPr/>
        </p:nvSpPr>
        <p:spPr>
          <a:xfrm>
            <a:off x="2044954" y="334894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TM3</a:t>
            </a:r>
            <a:endParaRPr sz="1200">
              <a:solidFill>
                <a:srgbClr val="B7B7B7"/>
              </a:solidFill>
              <a:latin typeface="Lato"/>
              <a:ea typeface="Lato"/>
              <a:cs typeface="Lato"/>
              <a:sym typeface="Lato"/>
            </a:endParaRPr>
          </a:p>
        </p:txBody>
      </p:sp>
      <p:sp>
        <p:nvSpPr>
          <p:cNvPr id="949" name="Google Shape;949;p81"/>
          <p:cNvSpPr txBox="1"/>
          <p:nvPr/>
        </p:nvSpPr>
        <p:spPr>
          <a:xfrm>
            <a:off x="2832011" y="3879602"/>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TM2</a:t>
            </a:r>
            <a:endParaRPr sz="1200">
              <a:solidFill>
                <a:srgbClr val="B7B7B7"/>
              </a:solidFill>
              <a:latin typeface="Lato"/>
              <a:ea typeface="Lato"/>
              <a:cs typeface="Lato"/>
              <a:sym typeface="Lato"/>
            </a:endParaRPr>
          </a:p>
        </p:txBody>
      </p:sp>
      <p:cxnSp>
        <p:nvCxnSpPr>
          <p:cNvPr id="950" name="Google Shape;950;p81"/>
          <p:cNvCxnSpPr/>
          <p:nvPr/>
        </p:nvCxnSpPr>
        <p:spPr>
          <a:xfrm flipH="1">
            <a:off x="3262875" y="3522900"/>
            <a:ext cx="1121400" cy="436200"/>
          </a:xfrm>
          <a:prstGeom prst="straightConnector1">
            <a:avLst/>
          </a:prstGeom>
          <a:noFill/>
          <a:ln cap="flat" cmpd="sng" w="9525">
            <a:solidFill>
              <a:srgbClr val="999999"/>
            </a:solidFill>
            <a:prstDash val="solid"/>
            <a:round/>
            <a:headEnd len="med" w="med" type="none"/>
            <a:tailEnd len="med" w="med" type="triangle"/>
          </a:ln>
        </p:spPr>
      </p:cxnSp>
      <p:sp>
        <p:nvSpPr>
          <p:cNvPr id="951" name="Google Shape;951;p81"/>
          <p:cNvSpPr txBox="1"/>
          <p:nvPr/>
        </p:nvSpPr>
        <p:spPr>
          <a:xfrm>
            <a:off x="2645238" y="3265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TM1</a:t>
            </a:r>
            <a:endParaRPr sz="1200">
              <a:solidFill>
                <a:srgbClr val="999999"/>
              </a:solidFill>
              <a:latin typeface="Lato"/>
              <a:ea typeface="Lato"/>
              <a:cs typeface="Lato"/>
              <a:sym typeface="Lato"/>
            </a:endParaRPr>
          </a:p>
        </p:txBody>
      </p:sp>
      <p:cxnSp>
        <p:nvCxnSpPr>
          <p:cNvPr id="952" name="Google Shape;952;p81"/>
          <p:cNvCxnSpPr/>
          <p:nvPr/>
        </p:nvCxnSpPr>
        <p:spPr>
          <a:xfrm flipH="1">
            <a:off x="2945132" y="2473560"/>
            <a:ext cx="737700" cy="888600"/>
          </a:xfrm>
          <a:prstGeom prst="straightConnector1">
            <a:avLst/>
          </a:prstGeom>
          <a:noFill/>
          <a:ln cap="flat" cmpd="sng" w="9525">
            <a:solidFill>
              <a:srgbClr val="999999"/>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82"/>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Technical Risks</a:t>
            </a:r>
            <a:endParaRPr/>
          </a:p>
        </p:txBody>
      </p:sp>
      <p:pic>
        <p:nvPicPr>
          <p:cNvPr id="958" name="Google Shape;958;p82"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959" name="Google Shape;959;p82"/>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17</a:t>
            </a:r>
            <a:endParaRPr/>
          </a:p>
        </p:txBody>
      </p:sp>
      <p:cxnSp>
        <p:nvCxnSpPr>
          <p:cNvPr id="960" name="Google Shape;960;p82"/>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961" name="Google Shape;961;p82"/>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TR1</a:t>
                      </a:r>
                      <a:r>
                        <a:rPr lang="en" sz="1100"/>
                        <a:t>: Domain &amp; Process Scalability</a:t>
                      </a:r>
                      <a:endParaRPr sz="1100"/>
                    </a:p>
                    <a:p>
                      <a:pPr indent="0" lvl="0" marL="0" rtl="0" algn="l">
                        <a:spcBef>
                          <a:spcPts val="0"/>
                        </a:spcBef>
                        <a:spcAft>
                          <a:spcPts val="0"/>
                        </a:spcAft>
                        <a:buNone/>
                      </a:pPr>
                      <a:r>
                        <a:rPr b="1" lang="en" sz="1100"/>
                        <a:t>TR2</a:t>
                      </a:r>
                      <a:r>
                        <a:rPr lang="en" sz="1100"/>
                        <a:t>: Cybersecurity</a:t>
                      </a:r>
                      <a:endParaRPr sz="1100"/>
                    </a:p>
                    <a:p>
                      <a:pPr indent="0" lvl="0" marL="0" rtl="0" algn="l">
                        <a:spcBef>
                          <a:spcPts val="0"/>
                        </a:spcBef>
                        <a:spcAft>
                          <a:spcPts val="0"/>
                        </a:spcAft>
                        <a:buNone/>
                      </a:pPr>
                      <a:r>
                        <a:rPr b="1" lang="en" sz="1100"/>
                        <a:t>TR3</a:t>
                      </a:r>
                      <a:r>
                        <a:rPr lang="en" sz="1100"/>
                        <a:t>: Opaque Automation</a:t>
                      </a:r>
                      <a:endParaRPr sz="1100"/>
                    </a:p>
                    <a:p>
                      <a:pPr indent="0" lvl="0" marL="0" rtl="0" algn="l">
                        <a:spcBef>
                          <a:spcPts val="0"/>
                        </a:spcBef>
                        <a:spcAft>
                          <a:spcPts val="0"/>
                        </a:spcAft>
                        <a:buNone/>
                      </a:pPr>
                      <a:r>
                        <a:rPr b="1" lang="en" sz="1100"/>
                        <a:t>TR4</a:t>
                      </a:r>
                      <a:r>
                        <a:rPr lang="en" sz="1100"/>
                        <a:t>: Accumulating Technical Debt</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TM1</a:t>
                      </a:r>
                      <a:r>
                        <a:rPr lang="en" sz="1000"/>
                        <a:t>: Limited and gradual increase in system scope leaning towards strong foundation which clients and developers can build on to gradually encompass given process domain. Continual domain feedback and dialogue.</a:t>
                      </a:r>
                      <a:endParaRPr sz="1000"/>
                    </a:p>
                    <a:p>
                      <a:pPr indent="0" lvl="0" marL="0" rtl="0" algn="l">
                        <a:spcBef>
                          <a:spcPts val="0"/>
                        </a:spcBef>
                        <a:spcAft>
                          <a:spcPts val="0"/>
                        </a:spcAft>
                        <a:buNone/>
                      </a:pPr>
                      <a:r>
                        <a:rPr b="1" lang="en" sz="1000"/>
                        <a:t>TM2</a:t>
                      </a:r>
                      <a:r>
                        <a:rPr lang="en" sz="1000"/>
                        <a:t>: Separation of process coordination network except through specific role interactions. Encryption and local emphasis on sensitive data storage.</a:t>
                      </a:r>
                      <a:endParaRPr sz="1000"/>
                    </a:p>
                    <a:p>
                      <a:pPr indent="0" lvl="0" marL="0" rtl="0" algn="l">
                        <a:spcBef>
                          <a:spcPts val="0"/>
                        </a:spcBef>
                        <a:spcAft>
                          <a:spcPts val="0"/>
                        </a:spcAft>
                        <a:buNone/>
                      </a:pPr>
                      <a:r>
                        <a:rPr b="1" lang="en" sz="1000"/>
                        <a:t>TM3</a:t>
                      </a:r>
                      <a:r>
                        <a:rPr lang="en" sz="1000"/>
                        <a:t>: Data and metric visualization functionality which</a:t>
                      </a:r>
                      <a:endParaRPr sz="1000"/>
                    </a:p>
                    <a:p>
                      <a:pPr indent="0" lvl="0" marL="0" rtl="0" algn="l">
                        <a:spcBef>
                          <a:spcPts val="0"/>
                        </a:spcBef>
                        <a:spcAft>
                          <a:spcPts val="0"/>
                        </a:spcAft>
                        <a:buNone/>
                      </a:pPr>
                      <a:r>
                        <a:rPr lang="en" sz="1000"/>
                        <a:t>emphasizes multiple perspectives to a clear big picture.</a:t>
                      </a:r>
                      <a:endParaRPr sz="1000"/>
                    </a:p>
                    <a:p>
                      <a:pPr indent="0" lvl="0" marL="0" rtl="0" algn="l">
                        <a:spcBef>
                          <a:spcPts val="0"/>
                        </a:spcBef>
                        <a:spcAft>
                          <a:spcPts val="0"/>
                        </a:spcAft>
                        <a:buNone/>
                      </a:pPr>
                      <a:r>
                        <a:rPr b="1" lang="en" sz="1000"/>
                        <a:t>TM4</a:t>
                      </a:r>
                      <a:r>
                        <a:rPr lang="en" sz="1000"/>
                        <a:t>: Recognition of and minimization of the technical debt issue as fundamental tenet of BevOS with emphasis on futureproof Careful foundation construction and gradual architecture design.</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962" name="Google Shape;962;p82"/>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963" name="Google Shape;963;p82"/>
          <p:cNvSpPr txBox="1"/>
          <p:nvPr/>
        </p:nvSpPr>
        <p:spPr>
          <a:xfrm>
            <a:off x="3638323" y="2281756"/>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TR1</a:t>
            </a:r>
            <a:endParaRPr sz="1200">
              <a:solidFill>
                <a:srgbClr val="999999"/>
              </a:solidFill>
              <a:latin typeface="Lato"/>
              <a:ea typeface="Lato"/>
              <a:cs typeface="Lato"/>
              <a:sym typeface="Lato"/>
            </a:endParaRPr>
          </a:p>
        </p:txBody>
      </p:sp>
      <p:sp>
        <p:nvSpPr>
          <p:cNvPr id="964" name="Google Shape;964;p82"/>
          <p:cNvSpPr txBox="1"/>
          <p:nvPr/>
        </p:nvSpPr>
        <p:spPr>
          <a:xfrm>
            <a:off x="4432492" y="3340043"/>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TR2</a:t>
            </a:r>
            <a:endParaRPr sz="1200">
              <a:solidFill>
                <a:srgbClr val="B7B7B7"/>
              </a:solidFill>
              <a:latin typeface="Lato"/>
              <a:ea typeface="Lato"/>
              <a:cs typeface="Lato"/>
              <a:sym typeface="Lato"/>
            </a:endParaRPr>
          </a:p>
        </p:txBody>
      </p:sp>
      <p:sp>
        <p:nvSpPr>
          <p:cNvPr id="965" name="Google Shape;965;p82"/>
          <p:cNvSpPr txBox="1"/>
          <p:nvPr/>
        </p:nvSpPr>
        <p:spPr>
          <a:xfrm>
            <a:off x="2823090" y="277379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TR3</a:t>
            </a:r>
            <a:endParaRPr sz="1200">
              <a:solidFill>
                <a:srgbClr val="B7B7B7"/>
              </a:solidFill>
              <a:latin typeface="Lato"/>
              <a:ea typeface="Lato"/>
              <a:cs typeface="Lato"/>
              <a:sym typeface="Lato"/>
            </a:endParaRPr>
          </a:p>
        </p:txBody>
      </p:sp>
      <p:sp>
        <p:nvSpPr>
          <p:cNvPr id="966" name="Google Shape;966;p82"/>
          <p:cNvSpPr txBox="1"/>
          <p:nvPr/>
        </p:nvSpPr>
        <p:spPr>
          <a:xfrm>
            <a:off x="4432171" y="28361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TR4</a:t>
            </a:r>
            <a:endParaRPr sz="1200">
              <a:latin typeface="Lato"/>
              <a:ea typeface="Lato"/>
              <a:cs typeface="Lato"/>
              <a:sym typeface="Lato"/>
            </a:endParaRPr>
          </a:p>
        </p:txBody>
      </p:sp>
      <p:sp>
        <p:nvSpPr>
          <p:cNvPr id="967" name="Google Shape;967;p82"/>
          <p:cNvSpPr txBox="1"/>
          <p:nvPr/>
        </p:nvSpPr>
        <p:spPr>
          <a:xfrm>
            <a:off x="3005877" y="350028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TM4</a:t>
            </a:r>
            <a:endParaRPr sz="1200">
              <a:latin typeface="Lato"/>
              <a:ea typeface="Lato"/>
              <a:cs typeface="Lato"/>
              <a:sym typeface="Lato"/>
            </a:endParaRPr>
          </a:p>
        </p:txBody>
      </p:sp>
      <p:cxnSp>
        <p:nvCxnSpPr>
          <p:cNvPr id="968" name="Google Shape;968;p82"/>
          <p:cNvCxnSpPr/>
          <p:nvPr/>
        </p:nvCxnSpPr>
        <p:spPr>
          <a:xfrm flipH="1">
            <a:off x="2323326" y="3045704"/>
            <a:ext cx="579900" cy="363900"/>
          </a:xfrm>
          <a:prstGeom prst="straightConnector1">
            <a:avLst/>
          </a:prstGeom>
          <a:noFill/>
          <a:ln cap="flat" cmpd="sng" w="9525">
            <a:solidFill>
              <a:srgbClr val="999999"/>
            </a:solidFill>
            <a:prstDash val="solid"/>
            <a:round/>
            <a:headEnd len="med" w="med" type="none"/>
            <a:tailEnd len="med" w="med" type="triangle"/>
          </a:ln>
        </p:spPr>
      </p:cxnSp>
      <p:sp>
        <p:nvSpPr>
          <p:cNvPr id="969" name="Google Shape;969;p82"/>
          <p:cNvSpPr txBox="1"/>
          <p:nvPr/>
        </p:nvSpPr>
        <p:spPr>
          <a:xfrm>
            <a:off x="2044954" y="3348944"/>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TM3</a:t>
            </a:r>
            <a:endParaRPr sz="1200">
              <a:solidFill>
                <a:srgbClr val="B7B7B7"/>
              </a:solidFill>
              <a:latin typeface="Lato"/>
              <a:ea typeface="Lato"/>
              <a:cs typeface="Lato"/>
              <a:sym typeface="Lato"/>
            </a:endParaRPr>
          </a:p>
        </p:txBody>
      </p:sp>
      <p:sp>
        <p:nvSpPr>
          <p:cNvPr id="970" name="Google Shape;970;p82"/>
          <p:cNvSpPr txBox="1"/>
          <p:nvPr/>
        </p:nvSpPr>
        <p:spPr>
          <a:xfrm>
            <a:off x="2832011" y="3879602"/>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TM2</a:t>
            </a:r>
            <a:endParaRPr sz="1200">
              <a:solidFill>
                <a:srgbClr val="B7B7B7"/>
              </a:solidFill>
              <a:latin typeface="Lato"/>
              <a:ea typeface="Lato"/>
              <a:cs typeface="Lato"/>
              <a:sym typeface="Lato"/>
            </a:endParaRPr>
          </a:p>
        </p:txBody>
      </p:sp>
      <p:cxnSp>
        <p:nvCxnSpPr>
          <p:cNvPr id="971" name="Google Shape;971;p82"/>
          <p:cNvCxnSpPr/>
          <p:nvPr/>
        </p:nvCxnSpPr>
        <p:spPr>
          <a:xfrm flipH="1">
            <a:off x="3262875" y="3522900"/>
            <a:ext cx="1121400" cy="436200"/>
          </a:xfrm>
          <a:prstGeom prst="straightConnector1">
            <a:avLst/>
          </a:prstGeom>
          <a:noFill/>
          <a:ln cap="flat" cmpd="sng" w="9525">
            <a:solidFill>
              <a:srgbClr val="999999"/>
            </a:solidFill>
            <a:prstDash val="solid"/>
            <a:round/>
            <a:headEnd len="med" w="med" type="none"/>
            <a:tailEnd len="med" w="med" type="triangle"/>
          </a:ln>
        </p:spPr>
      </p:cxnSp>
      <p:sp>
        <p:nvSpPr>
          <p:cNvPr id="972" name="Google Shape;972;p82"/>
          <p:cNvSpPr txBox="1"/>
          <p:nvPr/>
        </p:nvSpPr>
        <p:spPr>
          <a:xfrm>
            <a:off x="2645238" y="3265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TM1</a:t>
            </a:r>
            <a:endParaRPr sz="1200">
              <a:solidFill>
                <a:srgbClr val="999999"/>
              </a:solidFill>
              <a:latin typeface="Lato"/>
              <a:ea typeface="Lato"/>
              <a:cs typeface="Lato"/>
              <a:sym typeface="Lato"/>
            </a:endParaRPr>
          </a:p>
        </p:txBody>
      </p:sp>
      <p:cxnSp>
        <p:nvCxnSpPr>
          <p:cNvPr id="973" name="Google Shape;973;p82"/>
          <p:cNvCxnSpPr/>
          <p:nvPr/>
        </p:nvCxnSpPr>
        <p:spPr>
          <a:xfrm flipH="1">
            <a:off x="2945132" y="2473560"/>
            <a:ext cx="737700" cy="888600"/>
          </a:xfrm>
          <a:prstGeom prst="straightConnector1">
            <a:avLst/>
          </a:prstGeom>
          <a:noFill/>
          <a:ln cap="flat" cmpd="sng" w="9525">
            <a:solidFill>
              <a:srgbClr val="999999"/>
            </a:solidFill>
            <a:prstDash val="solid"/>
            <a:round/>
            <a:headEnd len="med" w="med" type="none"/>
            <a:tailEnd len="med" w="med" type="triangle"/>
          </a:ln>
        </p:spPr>
      </p:cxnSp>
      <p:cxnSp>
        <p:nvCxnSpPr>
          <p:cNvPr id="974" name="Google Shape;974;p82"/>
          <p:cNvCxnSpPr/>
          <p:nvPr/>
        </p:nvCxnSpPr>
        <p:spPr>
          <a:xfrm flipH="1">
            <a:off x="3174680" y="3019002"/>
            <a:ext cx="1302000" cy="5511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83"/>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Legal Risks</a:t>
            </a:r>
            <a:endParaRPr/>
          </a:p>
        </p:txBody>
      </p:sp>
      <p:pic>
        <p:nvPicPr>
          <p:cNvPr id="980" name="Google Shape;980;p83"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981" name="Google Shape;981;p83"/>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982" name="Google Shape;982;p83"/>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983" name="Google Shape;983;p83"/>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LR1</a:t>
                      </a:r>
                      <a:r>
                        <a:rPr lang="en" sz="1100"/>
                        <a:t>: Regulatory Compliance</a:t>
                      </a:r>
                      <a:endParaRPr sz="1100"/>
                    </a:p>
                    <a:p>
                      <a:pPr indent="0" lvl="0" marL="0" rtl="0" algn="l">
                        <a:spcBef>
                          <a:spcPts val="0"/>
                        </a:spcBef>
                        <a:spcAft>
                          <a:spcPts val="0"/>
                        </a:spcAft>
                        <a:buNone/>
                      </a:pPr>
                      <a:r>
                        <a:rPr b="1" lang="en" sz="1100"/>
                        <a:t>LR2</a:t>
                      </a:r>
                      <a:r>
                        <a:rPr lang="en" sz="1100"/>
                        <a:t>: Multi-Party Contract Complications</a:t>
                      </a:r>
                      <a:endParaRPr sz="1100"/>
                    </a:p>
                    <a:p>
                      <a:pPr indent="0" lvl="0" marL="0" rtl="0" algn="l">
                        <a:spcBef>
                          <a:spcPts val="0"/>
                        </a:spcBef>
                        <a:spcAft>
                          <a:spcPts val="0"/>
                        </a:spcAft>
                        <a:buNone/>
                      </a:pPr>
                      <a:r>
                        <a:rPr b="1" lang="en" sz="1100"/>
                        <a:t>LR3</a:t>
                      </a:r>
                      <a:r>
                        <a:rPr lang="en" sz="1100"/>
                        <a:t>: System Client Obligations</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LM1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LM2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LM3</a:t>
                      </a:r>
                      <a:r>
                        <a:rPr lang="en" sz="1000"/>
                        <a:t>: </a:t>
                      </a:r>
                      <a:r>
                        <a:rPr lang="en" sz="1000"/>
                        <a:t>System emphasizes trying to represent reality as closely as possible versus serving as source of truth, internal tooling empowers rather than replaces clients self-oversight.</a:t>
                      </a:r>
                      <a:endParaRPr sz="1000"/>
                    </a:p>
                    <a:p>
                      <a:pPr indent="0" lvl="0" marL="0" rtl="0" algn="l">
                        <a:spcBef>
                          <a:spcPts val="0"/>
                        </a:spcBef>
                        <a:spcAft>
                          <a:spcPts val="0"/>
                        </a:spcAft>
                        <a:buNone/>
                      </a:pPr>
                      <a:r>
                        <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984" name="Google Shape;984;p83"/>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985" name="Google Shape;985;p83"/>
          <p:cNvSpPr txBox="1"/>
          <p:nvPr/>
        </p:nvSpPr>
        <p:spPr>
          <a:xfrm>
            <a:off x="3624849" y="3906969"/>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LR1</a:t>
            </a:r>
            <a:endParaRPr sz="1200">
              <a:solidFill>
                <a:schemeClr val="lt1"/>
              </a:solidFill>
              <a:latin typeface="Lato"/>
              <a:ea typeface="Lato"/>
              <a:cs typeface="Lato"/>
              <a:sym typeface="Lato"/>
            </a:endParaRPr>
          </a:p>
        </p:txBody>
      </p:sp>
      <p:sp>
        <p:nvSpPr>
          <p:cNvPr id="986" name="Google Shape;986;p83"/>
          <p:cNvSpPr txBox="1"/>
          <p:nvPr/>
        </p:nvSpPr>
        <p:spPr>
          <a:xfrm>
            <a:off x="3673050" y="2813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LR2</a:t>
            </a:r>
            <a:endParaRPr sz="1200">
              <a:solidFill>
                <a:srgbClr val="B7B7B7"/>
              </a:solidFill>
              <a:latin typeface="Lato"/>
              <a:ea typeface="Lato"/>
              <a:cs typeface="Lato"/>
              <a:sym typeface="Lato"/>
            </a:endParaRPr>
          </a:p>
        </p:txBody>
      </p:sp>
      <p:sp>
        <p:nvSpPr>
          <p:cNvPr id="987" name="Google Shape;987;p83"/>
          <p:cNvSpPr txBox="1"/>
          <p:nvPr/>
        </p:nvSpPr>
        <p:spPr>
          <a:xfrm>
            <a:off x="2869958"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LR3</a:t>
            </a:r>
            <a:endParaRPr sz="1200">
              <a:solidFill>
                <a:srgbClr val="B7B7B7"/>
              </a:solidFill>
              <a:latin typeface="Lato"/>
              <a:ea typeface="Lato"/>
              <a:cs typeface="Lato"/>
              <a:sym typeface="Lato"/>
            </a:endParaRPr>
          </a:p>
        </p:txBody>
      </p:sp>
      <p:sp>
        <p:nvSpPr>
          <p:cNvPr id="988" name="Google Shape;988;p83"/>
          <p:cNvSpPr txBox="1"/>
          <p:nvPr/>
        </p:nvSpPr>
        <p:spPr>
          <a:xfrm>
            <a:off x="1977688" y="386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LM3</a:t>
            </a:r>
            <a:endParaRPr sz="1200">
              <a:solidFill>
                <a:srgbClr val="B7B7B7"/>
              </a:solidFill>
              <a:latin typeface="Lato"/>
              <a:ea typeface="Lato"/>
              <a:cs typeface="Lato"/>
              <a:sym typeface="Lato"/>
            </a:endParaRPr>
          </a:p>
        </p:txBody>
      </p:sp>
      <p:sp>
        <p:nvSpPr>
          <p:cNvPr id="989" name="Google Shape;989;p83"/>
          <p:cNvSpPr txBox="1"/>
          <p:nvPr/>
        </p:nvSpPr>
        <p:spPr>
          <a:xfrm>
            <a:off x="1240625"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u="sng">
                <a:solidFill>
                  <a:srgbClr val="B7B7B7"/>
                </a:solidFill>
              </a:rPr>
              <a:t>LM2</a:t>
            </a:r>
            <a:endParaRPr sz="1200" u="sng">
              <a:solidFill>
                <a:srgbClr val="B7B7B7"/>
              </a:solidFill>
              <a:latin typeface="Lato"/>
              <a:ea typeface="Lato"/>
              <a:cs typeface="Lato"/>
              <a:sym typeface="Lato"/>
            </a:endParaRPr>
          </a:p>
        </p:txBody>
      </p:sp>
      <p:sp>
        <p:nvSpPr>
          <p:cNvPr id="990" name="Google Shape;990;p83"/>
          <p:cNvSpPr txBox="1"/>
          <p:nvPr/>
        </p:nvSpPr>
        <p:spPr>
          <a:xfrm>
            <a:off x="2669688" y="445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LM1</a:t>
            </a:r>
            <a:endParaRPr sz="1200">
              <a:solidFill>
                <a:schemeClr val="lt1"/>
              </a:solidFill>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84"/>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Legal Risks</a:t>
            </a:r>
            <a:endParaRPr/>
          </a:p>
        </p:txBody>
      </p:sp>
      <p:pic>
        <p:nvPicPr>
          <p:cNvPr id="996" name="Google Shape;996;p84"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997" name="Google Shape;997;p84"/>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998" name="Google Shape;998;p84"/>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999" name="Google Shape;999;p84"/>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LR1</a:t>
                      </a:r>
                      <a:r>
                        <a:rPr lang="en" sz="1100"/>
                        <a:t>: Regulatory Compliance</a:t>
                      </a:r>
                      <a:endParaRPr sz="1100"/>
                    </a:p>
                    <a:p>
                      <a:pPr indent="0" lvl="0" marL="0" rtl="0" algn="l">
                        <a:spcBef>
                          <a:spcPts val="0"/>
                        </a:spcBef>
                        <a:spcAft>
                          <a:spcPts val="0"/>
                        </a:spcAft>
                        <a:buNone/>
                      </a:pPr>
                      <a:r>
                        <a:rPr b="1" lang="en" sz="1100"/>
                        <a:t>LR2</a:t>
                      </a:r>
                      <a:r>
                        <a:rPr lang="en" sz="1100"/>
                        <a:t>: Multi-Party Contract Complications</a:t>
                      </a:r>
                      <a:endParaRPr sz="1100"/>
                    </a:p>
                    <a:p>
                      <a:pPr indent="0" lvl="0" marL="0" rtl="0" algn="l">
                        <a:spcBef>
                          <a:spcPts val="0"/>
                        </a:spcBef>
                        <a:spcAft>
                          <a:spcPts val="0"/>
                        </a:spcAft>
                        <a:buNone/>
                      </a:pPr>
                      <a:r>
                        <a:rPr b="1" lang="en" sz="1100"/>
                        <a:t>LR3</a:t>
                      </a:r>
                      <a:r>
                        <a:rPr lang="en" sz="1100"/>
                        <a:t>: System Client Obligations</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LM1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LM2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LM3</a:t>
                      </a:r>
                      <a:r>
                        <a:rPr lang="en" sz="1000"/>
                        <a:t>: </a:t>
                      </a:r>
                      <a:r>
                        <a:rPr lang="en"/>
                        <a:t>System emphasizes trying to represent reality as closely as possible versus serving as source of truth, internal tooling empowers rather than replaces clients self-oversight.</a:t>
                      </a:r>
                      <a:endParaRPr sz="1000"/>
                    </a:p>
                    <a:p>
                      <a:pPr indent="0" lvl="0" marL="0" rtl="0" algn="l">
                        <a:spcBef>
                          <a:spcPts val="0"/>
                        </a:spcBef>
                        <a:spcAft>
                          <a:spcPts val="0"/>
                        </a:spcAft>
                        <a:buNone/>
                      </a:pPr>
                      <a:r>
                        <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1000" name="Google Shape;1000;p84"/>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1001" name="Google Shape;1001;p84"/>
          <p:cNvSpPr txBox="1"/>
          <p:nvPr/>
        </p:nvSpPr>
        <p:spPr>
          <a:xfrm>
            <a:off x="3624849" y="3906969"/>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LR1</a:t>
            </a:r>
            <a:endParaRPr sz="1200">
              <a:solidFill>
                <a:schemeClr val="lt1"/>
              </a:solidFill>
              <a:latin typeface="Lato"/>
              <a:ea typeface="Lato"/>
              <a:cs typeface="Lato"/>
              <a:sym typeface="Lato"/>
            </a:endParaRPr>
          </a:p>
        </p:txBody>
      </p:sp>
      <p:sp>
        <p:nvSpPr>
          <p:cNvPr id="1002" name="Google Shape;1002;p84"/>
          <p:cNvSpPr txBox="1"/>
          <p:nvPr/>
        </p:nvSpPr>
        <p:spPr>
          <a:xfrm>
            <a:off x="3673050" y="2813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LR2</a:t>
            </a:r>
            <a:endParaRPr sz="1200">
              <a:solidFill>
                <a:srgbClr val="B7B7B7"/>
              </a:solidFill>
              <a:latin typeface="Lato"/>
              <a:ea typeface="Lato"/>
              <a:cs typeface="Lato"/>
              <a:sym typeface="Lato"/>
            </a:endParaRPr>
          </a:p>
        </p:txBody>
      </p:sp>
      <p:sp>
        <p:nvSpPr>
          <p:cNvPr id="1003" name="Google Shape;1003;p84"/>
          <p:cNvSpPr txBox="1"/>
          <p:nvPr/>
        </p:nvSpPr>
        <p:spPr>
          <a:xfrm>
            <a:off x="2869958"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LR3</a:t>
            </a:r>
            <a:endParaRPr sz="1200">
              <a:solidFill>
                <a:srgbClr val="B7B7B7"/>
              </a:solidFill>
              <a:latin typeface="Lato"/>
              <a:ea typeface="Lato"/>
              <a:cs typeface="Lato"/>
              <a:sym typeface="Lato"/>
            </a:endParaRPr>
          </a:p>
        </p:txBody>
      </p:sp>
      <p:sp>
        <p:nvSpPr>
          <p:cNvPr id="1004" name="Google Shape;1004;p84"/>
          <p:cNvSpPr txBox="1"/>
          <p:nvPr/>
        </p:nvSpPr>
        <p:spPr>
          <a:xfrm>
            <a:off x="1977688" y="386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B7B7B7"/>
                </a:solidFill>
              </a:rPr>
              <a:t>LM3</a:t>
            </a:r>
            <a:endParaRPr sz="1200">
              <a:solidFill>
                <a:srgbClr val="B7B7B7"/>
              </a:solidFill>
              <a:latin typeface="Lato"/>
              <a:ea typeface="Lato"/>
              <a:cs typeface="Lato"/>
              <a:sym typeface="Lato"/>
            </a:endParaRPr>
          </a:p>
        </p:txBody>
      </p:sp>
      <p:sp>
        <p:nvSpPr>
          <p:cNvPr id="1005" name="Google Shape;1005;p84"/>
          <p:cNvSpPr txBox="1"/>
          <p:nvPr/>
        </p:nvSpPr>
        <p:spPr>
          <a:xfrm>
            <a:off x="1240625"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u="sng">
                <a:solidFill>
                  <a:srgbClr val="B7B7B7"/>
                </a:solidFill>
              </a:rPr>
              <a:t>LM2</a:t>
            </a:r>
            <a:endParaRPr sz="1200" u="sng">
              <a:solidFill>
                <a:srgbClr val="B7B7B7"/>
              </a:solidFill>
              <a:latin typeface="Lato"/>
              <a:ea typeface="Lato"/>
              <a:cs typeface="Lato"/>
              <a:sym typeface="Lato"/>
            </a:endParaRPr>
          </a:p>
        </p:txBody>
      </p:sp>
      <p:sp>
        <p:nvSpPr>
          <p:cNvPr id="1006" name="Google Shape;1006;p84"/>
          <p:cNvSpPr txBox="1"/>
          <p:nvPr/>
        </p:nvSpPr>
        <p:spPr>
          <a:xfrm>
            <a:off x="2669688" y="445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LM1</a:t>
            </a:r>
            <a:endParaRPr sz="1200">
              <a:solidFill>
                <a:schemeClr val="lt1"/>
              </a:solidFill>
              <a:latin typeface="Lato"/>
              <a:ea typeface="Lato"/>
              <a:cs typeface="Lato"/>
              <a:sym typeface="Lato"/>
            </a:endParaRPr>
          </a:p>
        </p:txBody>
      </p:sp>
      <p:cxnSp>
        <p:nvCxnSpPr>
          <p:cNvPr id="1007" name="Google Shape;1007;p84"/>
          <p:cNvCxnSpPr/>
          <p:nvPr/>
        </p:nvCxnSpPr>
        <p:spPr>
          <a:xfrm flipH="1">
            <a:off x="2965148" y="4209202"/>
            <a:ext cx="800100" cy="2958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85"/>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Legal Risks</a:t>
            </a:r>
            <a:endParaRPr/>
          </a:p>
        </p:txBody>
      </p:sp>
      <p:pic>
        <p:nvPicPr>
          <p:cNvPr id="1013" name="Google Shape;1013;p85"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1014" name="Google Shape;1014;p85"/>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1015" name="Google Shape;1015;p85"/>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1016" name="Google Shape;1016;p85"/>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LR1</a:t>
                      </a:r>
                      <a:r>
                        <a:rPr lang="en" sz="1100"/>
                        <a:t>: Regulatory Compliance</a:t>
                      </a:r>
                      <a:endParaRPr sz="1100"/>
                    </a:p>
                    <a:p>
                      <a:pPr indent="0" lvl="0" marL="0" rtl="0" algn="l">
                        <a:spcBef>
                          <a:spcPts val="0"/>
                        </a:spcBef>
                        <a:spcAft>
                          <a:spcPts val="0"/>
                        </a:spcAft>
                        <a:buNone/>
                      </a:pPr>
                      <a:r>
                        <a:rPr b="1" lang="en" sz="1100"/>
                        <a:t>LR2</a:t>
                      </a:r>
                      <a:r>
                        <a:rPr lang="en" sz="1100"/>
                        <a:t>: Multi-Party Contract Complications</a:t>
                      </a:r>
                      <a:endParaRPr sz="1100"/>
                    </a:p>
                    <a:p>
                      <a:pPr indent="0" lvl="0" marL="0" rtl="0" algn="l">
                        <a:spcBef>
                          <a:spcPts val="0"/>
                        </a:spcBef>
                        <a:spcAft>
                          <a:spcPts val="0"/>
                        </a:spcAft>
                        <a:buNone/>
                      </a:pPr>
                      <a:r>
                        <a:rPr b="1" lang="en" sz="1100"/>
                        <a:t>LR3</a:t>
                      </a:r>
                      <a:r>
                        <a:rPr lang="en" sz="1100"/>
                        <a:t>: System Client Obligations</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LM1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LM2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LM3</a:t>
                      </a:r>
                      <a:r>
                        <a:rPr lang="en" sz="1000"/>
                        <a:t>: </a:t>
                      </a:r>
                      <a:r>
                        <a:rPr lang="en" sz="1000"/>
                        <a:t>System emphasizes trying to represent reality as closely as possible versus serving as source of truth, internal tooling empowers rather than replaces clients self-oversight.</a:t>
                      </a:r>
                      <a:endParaRPr sz="1000"/>
                    </a:p>
                    <a:p>
                      <a:pPr indent="0" lvl="0" marL="0" rtl="0" algn="l">
                        <a:spcBef>
                          <a:spcPts val="0"/>
                        </a:spcBef>
                        <a:spcAft>
                          <a:spcPts val="0"/>
                        </a:spcAft>
                        <a:buNone/>
                      </a:pPr>
                      <a:r>
                        <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1017" name="Google Shape;1017;p85"/>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1018" name="Google Shape;1018;p85"/>
          <p:cNvSpPr txBox="1"/>
          <p:nvPr/>
        </p:nvSpPr>
        <p:spPr>
          <a:xfrm>
            <a:off x="3624849" y="3906969"/>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LR1</a:t>
            </a:r>
            <a:endParaRPr sz="1200">
              <a:solidFill>
                <a:srgbClr val="999999"/>
              </a:solidFill>
              <a:latin typeface="Lato"/>
              <a:ea typeface="Lato"/>
              <a:cs typeface="Lato"/>
              <a:sym typeface="Lato"/>
            </a:endParaRPr>
          </a:p>
        </p:txBody>
      </p:sp>
      <p:sp>
        <p:nvSpPr>
          <p:cNvPr id="1019" name="Google Shape;1019;p85"/>
          <p:cNvSpPr txBox="1"/>
          <p:nvPr/>
        </p:nvSpPr>
        <p:spPr>
          <a:xfrm>
            <a:off x="3673050" y="2813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LR2</a:t>
            </a:r>
            <a:endParaRPr sz="1200">
              <a:latin typeface="Lato"/>
              <a:ea typeface="Lato"/>
              <a:cs typeface="Lato"/>
              <a:sym typeface="Lato"/>
            </a:endParaRPr>
          </a:p>
        </p:txBody>
      </p:sp>
      <p:sp>
        <p:nvSpPr>
          <p:cNvPr id="1020" name="Google Shape;1020;p85"/>
          <p:cNvSpPr txBox="1"/>
          <p:nvPr/>
        </p:nvSpPr>
        <p:spPr>
          <a:xfrm>
            <a:off x="2869958"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LR3</a:t>
            </a:r>
            <a:endParaRPr sz="1200">
              <a:solidFill>
                <a:srgbClr val="999999"/>
              </a:solidFill>
              <a:latin typeface="Lato"/>
              <a:ea typeface="Lato"/>
              <a:cs typeface="Lato"/>
              <a:sym typeface="Lato"/>
            </a:endParaRPr>
          </a:p>
        </p:txBody>
      </p:sp>
      <p:sp>
        <p:nvSpPr>
          <p:cNvPr id="1021" name="Google Shape;1021;p85"/>
          <p:cNvSpPr txBox="1"/>
          <p:nvPr/>
        </p:nvSpPr>
        <p:spPr>
          <a:xfrm>
            <a:off x="1977688" y="386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LM3</a:t>
            </a:r>
            <a:endParaRPr sz="1200">
              <a:solidFill>
                <a:srgbClr val="999999"/>
              </a:solidFill>
              <a:latin typeface="Lato"/>
              <a:ea typeface="Lato"/>
              <a:cs typeface="Lato"/>
              <a:sym typeface="Lato"/>
            </a:endParaRPr>
          </a:p>
        </p:txBody>
      </p:sp>
      <p:sp>
        <p:nvSpPr>
          <p:cNvPr id="1022" name="Google Shape;1022;p85"/>
          <p:cNvSpPr txBox="1"/>
          <p:nvPr/>
        </p:nvSpPr>
        <p:spPr>
          <a:xfrm>
            <a:off x="1240625"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LM2</a:t>
            </a:r>
            <a:endParaRPr sz="1200">
              <a:latin typeface="Lato"/>
              <a:ea typeface="Lato"/>
              <a:cs typeface="Lato"/>
              <a:sym typeface="Lato"/>
            </a:endParaRPr>
          </a:p>
        </p:txBody>
      </p:sp>
      <p:sp>
        <p:nvSpPr>
          <p:cNvPr id="1023" name="Google Shape;1023;p85"/>
          <p:cNvSpPr txBox="1"/>
          <p:nvPr/>
        </p:nvSpPr>
        <p:spPr>
          <a:xfrm>
            <a:off x="2669688" y="445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LM1</a:t>
            </a:r>
            <a:endParaRPr sz="1200">
              <a:solidFill>
                <a:srgbClr val="999999"/>
              </a:solidFill>
              <a:latin typeface="Lato"/>
              <a:ea typeface="Lato"/>
              <a:cs typeface="Lato"/>
              <a:sym typeface="Lato"/>
            </a:endParaRPr>
          </a:p>
        </p:txBody>
      </p:sp>
      <p:cxnSp>
        <p:nvCxnSpPr>
          <p:cNvPr id="1024" name="Google Shape;1024;p85"/>
          <p:cNvCxnSpPr/>
          <p:nvPr/>
        </p:nvCxnSpPr>
        <p:spPr>
          <a:xfrm flipH="1">
            <a:off x="2965148" y="4209202"/>
            <a:ext cx="800100" cy="295800"/>
          </a:xfrm>
          <a:prstGeom prst="straightConnector1">
            <a:avLst/>
          </a:prstGeom>
          <a:noFill/>
          <a:ln cap="flat" cmpd="sng" w="9525">
            <a:solidFill>
              <a:srgbClr val="999999"/>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86"/>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Legal Risks</a:t>
            </a:r>
            <a:endParaRPr/>
          </a:p>
        </p:txBody>
      </p:sp>
      <p:pic>
        <p:nvPicPr>
          <p:cNvPr id="1030" name="Google Shape;1030;p86"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1031" name="Google Shape;1031;p86"/>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1032" name="Google Shape;1032;p86"/>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1033" name="Google Shape;1033;p86"/>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LR1</a:t>
                      </a:r>
                      <a:r>
                        <a:rPr lang="en" sz="1100"/>
                        <a:t>: Regulatory Compliance</a:t>
                      </a:r>
                      <a:endParaRPr sz="1100"/>
                    </a:p>
                    <a:p>
                      <a:pPr indent="0" lvl="0" marL="0" rtl="0" algn="l">
                        <a:spcBef>
                          <a:spcPts val="0"/>
                        </a:spcBef>
                        <a:spcAft>
                          <a:spcPts val="0"/>
                        </a:spcAft>
                        <a:buNone/>
                      </a:pPr>
                      <a:r>
                        <a:rPr b="1" lang="en" sz="1100"/>
                        <a:t>LR2</a:t>
                      </a:r>
                      <a:r>
                        <a:rPr lang="en" sz="1100"/>
                        <a:t>: Multi-Party Contract Complications</a:t>
                      </a:r>
                      <a:endParaRPr sz="1100"/>
                    </a:p>
                    <a:p>
                      <a:pPr indent="0" lvl="0" marL="0" rtl="0" algn="l">
                        <a:spcBef>
                          <a:spcPts val="0"/>
                        </a:spcBef>
                        <a:spcAft>
                          <a:spcPts val="0"/>
                        </a:spcAft>
                        <a:buNone/>
                      </a:pPr>
                      <a:r>
                        <a:rPr b="1" lang="en" sz="1100"/>
                        <a:t>LR3</a:t>
                      </a:r>
                      <a:r>
                        <a:rPr lang="en" sz="1100"/>
                        <a:t>: System Client Obligations</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LM1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LM2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LM3</a:t>
                      </a:r>
                      <a:r>
                        <a:rPr lang="en" sz="1000"/>
                        <a:t>: </a:t>
                      </a:r>
                      <a:r>
                        <a:rPr lang="en" sz="1000"/>
                        <a:t>System emphasizes trying to represent reality as closely as possible versus serving as source of truth, internal tooling empowers rather than replaces clients self-oversight.</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1034" name="Google Shape;1034;p86"/>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1035" name="Google Shape;1035;p86"/>
          <p:cNvSpPr txBox="1"/>
          <p:nvPr/>
        </p:nvSpPr>
        <p:spPr>
          <a:xfrm>
            <a:off x="3624849" y="3906969"/>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LR1</a:t>
            </a:r>
            <a:endParaRPr sz="1200">
              <a:solidFill>
                <a:srgbClr val="999999"/>
              </a:solidFill>
              <a:latin typeface="Lato"/>
              <a:ea typeface="Lato"/>
              <a:cs typeface="Lato"/>
              <a:sym typeface="Lato"/>
            </a:endParaRPr>
          </a:p>
        </p:txBody>
      </p:sp>
      <p:sp>
        <p:nvSpPr>
          <p:cNvPr id="1036" name="Google Shape;1036;p86"/>
          <p:cNvSpPr txBox="1"/>
          <p:nvPr/>
        </p:nvSpPr>
        <p:spPr>
          <a:xfrm>
            <a:off x="3673050" y="2813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LR2</a:t>
            </a:r>
            <a:endParaRPr sz="1200">
              <a:latin typeface="Lato"/>
              <a:ea typeface="Lato"/>
              <a:cs typeface="Lato"/>
              <a:sym typeface="Lato"/>
            </a:endParaRPr>
          </a:p>
        </p:txBody>
      </p:sp>
      <p:sp>
        <p:nvSpPr>
          <p:cNvPr id="1037" name="Google Shape;1037;p86"/>
          <p:cNvSpPr txBox="1"/>
          <p:nvPr/>
        </p:nvSpPr>
        <p:spPr>
          <a:xfrm>
            <a:off x="2869958"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LR3</a:t>
            </a:r>
            <a:endParaRPr sz="1200">
              <a:solidFill>
                <a:srgbClr val="999999"/>
              </a:solidFill>
              <a:latin typeface="Lato"/>
              <a:ea typeface="Lato"/>
              <a:cs typeface="Lato"/>
              <a:sym typeface="Lato"/>
            </a:endParaRPr>
          </a:p>
        </p:txBody>
      </p:sp>
      <p:sp>
        <p:nvSpPr>
          <p:cNvPr id="1038" name="Google Shape;1038;p86"/>
          <p:cNvSpPr txBox="1"/>
          <p:nvPr/>
        </p:nvSpPr>
        <p:spPr>
          <a:xfrm>
            <a:off x="1977688" y="386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LM3</a:t>
            </a:r>
            <a:endParaRPr sz="1200">
              <a:solidFill>
                <a:srgbClr val="999999"/>
              </a:solidFill>
              <a:latin typeface="Lato"/>
              <a:ea typeface="Lato"/>
              <a:cs typeface="Lato"/>
              <a:sym typeface="Lato"/>
            </a:endParaRPr>
          </a:p>
        </p:txBody>
      </p:sp>
      <p:sp>
        <p:nvSpPr>
          <p:cNvPr id="1039" name="Google Shape;1039;p86"/>
          <p:cNvSpPr txBox="1"/>
          <p:nvPr/>
        </p:nvSpPr>
        <p:spPr>
          <a:xfrm>
            <a:off x="1240625"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LM2</a:t>
            </a:r>
            <a:endParaRPr sz="1200">
              <a:latin typeface="Lato"/>
              <a:ea typeface="Lato"/>
              <a:cs typeface="Lato"/>
              <a:sym typeface="Lato"/>
            </a:endParaRPr>
          </a:p>
        </p:txBody>
      </p:sp>
      <p:sp>
        <p:nvSpPr>
          <p:cNvPr id="1040" name="Google Shape;1040;p86"/>
          <p:cNvSpPr txBox="1"/>
          <p:nvPr/>
        </p:nvSpPr>
        <p:spPr>
          <a:xfrm>
            <a:off x="2669688" y="445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LM1</a:t>
            </a:r>
            <a:endParaRPr sz="1200">
              <a:solidFill>
                <a:srgbClr val="999999"/>
              </a:solidFill>
              <a:latin typeface="Lato"/>
              <a:ea typeface="Lato"/>
              <a:cs typeface="Lato"/>
              <a:sym typeface="Lato"/>
            </a:endParaRPr>
          </a:p>
        </p:txBody>
      </p:sp>
      <p:cxnSp>
        <p:nvCxnSpPr>
          <p:cNvPr id="1041" name="Google Shape;1041;p86"/>
          <p:cNvCxnSpPr/>
          <p:nvPr/>
        </p:nvCxnSpPr>
        <p:spPr>
          <a:xfrm flipH="1">
            <a:off x="2965148" y="4209202"/>
            <a:ext cx="800100" cy="295800"/>
          </a:xfrm>
          <a:prstGeom prst="straightConnector1">
            <a:avLst/>
          </a:prstGeom>
          <a:noFill/>
          <a:ln cap="flat" cmpd="sng" w="9525">
            <a:solidFill>
              <a:srgbClr val="999999"/>
            </a:solidFill>
            <a:prstDash val="solid"/>
            <a:round/>
            <a:headEnd len="med" w="med" type="none"/>
            <a:tailEnd len="med" w="med" type="triangle"/>
          </a:ln>
        </p:spPr>
      </p:cxnSp>
      <p:cxnSp>
        <p:nvCxnSpPr>
          <p:cNvPr id="1042" name="Google Shape;1042;p86"/>
          <p:cNvCxnSpPr>
            <a:stCxn id="1036" idx="1"/>
          </p:cNvCxnSpPr>
          <p:nvPr/>
        </p:nvCxnSpPr>
        <p:spPr>
          <a:xfrm flipH="1">
            <a:off x="1623450" y="2987375"/>
            <a:ext cx="2049600" cy="4044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87"/>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Legal Risks</a:t>
            </a:r>
            <a:endParaRPr/>
          </a:p>
        </p:txBody>
      </p:sp>
      <p:pic>
        <p:nvPicPr>
          <p:cNvPr id="1048" name="Google Shape;1048;p87"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1049" name="Google Shape;1049;p87"/>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1050" name="Google Shape;1050;p87"/>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1051" name="Google Shape;1051;p87"/>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LR1</a:t>
                      </a:r>
                      <a:r>
                        <a:rPr lang="en" sz="1100"/>
                        <a:t>: Regulatory Compliance</a:t>
                      </a:r>
                      <a:endParaRPr sz="1100"/>
                    </a:p>
                    <a:p>
                      <a:pPr indent="0" lvl="0" marL="0" rtl="0" algn="l">
                        <a:spcBef>
                          <a:spcPts val="0"/>
                        </a:spcBef>
                        <a:spcAft>
                          <a:spcPts val="0"/>
                        </a:spcAft>
                        <a:buNone/>
                      </a:pPr>
                      <a:r>
                        <a:rPr b="1" lang="en" sz="1100"/>
                        <a:t>LR2</a:t>
                      </a:r>
                      <a:r>
                        <a:rPr lang="en" sz="1100"/>
                        <a:t>: Multi-Party Contract Complications</a:t>
                      </a:r>
                      <a:endParaRPr sz="1100"/>
                    </a:p>
                    <a:p>
                      <a:pPr indent="0" lvl="0" marL="0" rtl="0" algn="l">
                        <a:spcBef>
                          <a:spcPts val="0"/>
                        </a:spcBef>
                        <a:spcAft>
                          <a:spcPts val="0"/>
                        </a:spcAft>
                        <a:buNone/>
                      </a:pPr>
                      <a:r>
                        <a:rPr b="1" lang="en" sz="1100"/>
                        <a:t>LR3</a:t>
                      </a:r>
                      <a:r>
                        <a:rPr lang="en" sz="1100"/>
                        <a:t>: System Client Obligations</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LM1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LM2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LM3</a:t>
                      </a:r>
                      <a:r>
                        <a:rPr lang="en" sz="1000"/>
                        <a:t>: </a:t>
                      </a:r>
                      <a:r>
                        <a:rPr lang="en" sz="1000"/>
                        <a:t>System emphasizes trying to represent reality as closely as possible versus serving as source of truth, internal tooling empowers rather than replaces clients self-oversight.</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1052" name="Google Shape;1052;p87"/>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1053" name="Google Shape;1053;p87"/>
          <p:cNvSpPr txBox="1"/>
          <p:nvPr/>
        </p:nvSpPr>
        <p:spPr>
          <a:xfrm>
            <a:off x="3624849" y="3906969"/>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LR1</a:t>
            </a:r>
            <a:endParaRPr sz="1200">
              <a:solidFill>
                <a:srgbClr val="999999"/>
              </a:solidFill>
              <a:latin typeface="Lato"/>
              <a:ea typeface="Lato"/>
              <a:cs typeface="Lato"/>
              <a:sym typeface="Lato"/>
            </a:endParaRPr>
          </a:p>
        </p:txBody>
      </p:sp>
      <p:sp>
        <p:nvSpPr>
          <p:cNvPr id="1054" name="Google Shape;1054;p87"/>
          <p:cNvSpPr txBox="1"/>
          <p:nvPr/>
        </p:nvSpPr>
        <p:spPr>
          <a:xfrm>
            <a:off x="3673050" y="2813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LR2</a:t>
            </a:r>
            <a:endParaRPr sz="1200">
              <a:solidFill>
                <a:srgbClr val="999999"/>
              </a:solidFill>
              <a:latin typeface="Lato"/>
              <a:ea typeface="Lato"/>
              <a:cs typeface="Lato"/>
              <a:sym typeface="Lato"/>
            </a:endParaRPr>
          </a:p>
        </p:txBody>
      </p:sp>
      <p:sp>
        <p:nvSpPr>
          <p:cNvPr id="1055" name="Google Shape;1055;p87"/>
          <p:cNvSpPr txBox="1"/>
          <p:nvPr/>
        </p:nvSpPr>
        <p:spPr>
          <a:xfrm>
            <a:off x="2869958"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LR3</a:t>
            </a:r>
            <a:endParaRPr sz="1200">
              <a:solidFill>
                <a:schemeClr val="lt1"/>
              </a:solidFill>
              <a:latin typeface="Lato"/>
              <a:ea typeface="Lato"/>
              <a:cs typeface="Lato"/>
              <a:sym typeface="Lato"/>
            </a:endParaRPr>
          </a:p>
        </p:txBody>
      </p:sp>
      <p:sp>
        <p:nvSpPr>
          <p:cNvPr id="1056" name="Google Shape;1056;p87"/>
          <p:cNvSpPr txBox="1"/>
          <p:nvPr/>
        </p:nvSpPr>
        <p:spPr>
          <a:xfrm>
            <a:off x="1977688" y="386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LM3</a:t>
            </a:r>
            <a:endParaRPr sz="1200">
              <a:solidFill>
                <a:schemeClr val="lt1"/>
              </a:solidFill>
              <a:latin typeface="Lato"/>
              <a:ea typeface="Lato"/>
              <a:cs typeface="Lato"/>
              <a:sym typeface="Lato"/>
            </a:endParaRPr>
          </a:p>
        </p:txBody>
      </p:sp>
      <p:sp>
        <p:nvSpPr>
          <p:cNvPr id="1057" name="Google Shape;1057;p87"/>
          <p:cNvSpPr txBox="1"/>
          <p:nvPr/>
        </p:nvSpPr>
        <p:spPr>
          <a:xfrm>
            <a:off x="1240625"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LM2</a:t>
            </a:r>
            <a:endParaRPr sz="1200">
              <a:solidFill>
                <a:srgbClr val="999999"/>
              </a:solidFill>
              <a:latin typeface="Lato"/>
              <a:ea typeface="Lato"/>
              <a:cs typeface="Lato"/>
              <a:sym typeface="Lato"/>
            </a:endParaRPr>
          </a:p>
        </p:txBody>
      </p:sp>
      <p:sp>
        <p:nvSpPr>
          <p:cNvPr id="1058" name="Google Shape;1058;p87"/>
          <p:cNvSpPr txBox="1"/>
          <p:nvPr/>
        </p:nvSpPr>
        <p:spPr>
          <a:xfrm>
            <a:off x="2669688" y="445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LM1</a:t>
            </a:r>
            <a:endParaRPr sz="1200">
              <a:solidFill>
                <a:srgbClr val="999999"/>
              </a:solidFill>
              <a:latin typeface="Lato"/>
              <a:ea typeface="Lato"/>
              <a:cs typeface="Lato"/>
              <a:sym typeface="Lato"/>
            </a:endParaRPr>
          </a:p>
        </p:txBody>
      </p:sp>
      <p:cxnSp>
        <p:nvCxnSpPr>
          <p:cNvPr id="1059" name="Google Shape;1059;p87"/>
          <p:cNvCxnSpPr/>
          <p:nvPr/>
        </p:nvCxnSpPr>
        <p:spPr>
          <a:xfrm flipH="1">
            <a:off x="2965148" y="4209202"/>
            <a:ext cx="800100" cy="295800"/>
          </a:xfrm>
          <a:prstGeom prst="straightConnector1">
            <a:avLst/>
          </a:prstGeom>
          <a:noFill/>
          <a:ln cap="flat" cmpd="sng" w="9525">
            <a:solidFill>
              <a:srgbClr val="999999"/>
            </a:solidFill>
            <a:prstDash val="solid"/>
            <a:round/>
            <a:headEnd len="med" w="med" type="none"/>
            <a:tailEnd len="med" w="med" type="triangle"/>
          </a:ln>
        </p:spPr>
      </p:cxnSp>
      <p:cxnSp>
        <p:nvCxnSpPr>
          <p:cNvPr id="1060" name="Google Shape;1060;p87"/>
          <p:cNvCxnSpPr/>
          <p:nvPr/>
        </p:nvCxnSpPr>
        <p:spPr>
          <a:xfrm flipH="1">
            <a:off x="1623450" y="2987375"/>
            <a:ext cx="2049600" cy="404400"/>
          </a:xfrm>
          <a:prstGeom prst="straightConnector1">
            <a:avLst/>
          </a:prstGeom>
          <a:noFill/>
          <a:ln cap="flat" cmpd="sng" w="9525">
            <a:solidFill>
              <a:srgbClr val="999999"/>
            </a:solidFill>
            <a:prstDash val="solid"/>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88"/>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Legal Risks</a:t>
            </a:r>
            <a:endParaRPr/>
          </a:p>
        </p:txBody>
      </p:sp>
      <p:pic>
        <p:nvPicPr>
          <p:cNvPr id="1066" name="Google Shape;1066;p88" title="depositphotos_101363144-stock-photo-metaphor-of-business-solution.jpeg"/>
          <p:cNvPicPr preferRelativeResize="0"/>
          <p:nvPr>
            <p:ph idx="2" type="pic"/>
          </p:nvPr>
        </p:nvPicPr>
        <p:blipFill rotWithShape="1">
          <a:blip r:embed="rId3">
            <a:alphaModFix/>
          </a:blip>
          <a:srcRect b="0" l="8187" r="8187" t="0"/>
          <a:stretch/>
        </p:blipFill>
        <p:spPr>
          <a:xfrm>
            <a:off x="6802800" y="0"/>
            <a:ext cx="2341200" cy="1189800"/>
          </a:xfrm>
          <a:prstGeom prst="rect">
            <a:avLst/>
          </a:prstGeom>
        </p:spPr>
      </p:pic>
      <p:sp>
        <p:nvSpPr>
          <p:cNvPr id="1067" name="Google Shape;1067;p88"/>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1068" name="Google Shape;1068;p88"/>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graphicFrame>
        <p:nvGraphicFramePr>
          <p:cNvPr id="1069" name="Google Shape;1069;p88"/>
          <p:cNvGraphicFramePr/>
          <p:nvPr/>
        </p:nvGraphicFramePr>
        <p:xfrm>
          <a:off x="5237725" y="1357400"/>
          <a:ext cx="3000000" cy="3000000"/>
        </p:xfrm>
        <a:graphic>
          <a:graphicData uri="http://schemas.openxmlformats.org/drawingml/2006/table">
            <a:tbl>
              <a:tblPr>
                <a:noFill/>
                <a:tableStyleId>{1D9B1A6F-CA92-492C-AAAF-4422A80D218F}</a:tableStyleId>
              </a:tblPr>
              <a:tblGrid>
                <a:gridCol w="3754725"/>
              </a:tblGrid>
              <a:tr h="982100">
                <a:tc>
                  <a:txBody>
                    <a:bodyPr/>
                    <a:lstStyle/>
                    <a:p>
                      <a:pPr indent="0" lvl="0" marL="0" rtl="0" algn="l">
                        <a:spcBef>
                          <a:spcPts val="0"/>
                        </a:spcBef>
                        <a:spcAft>
                          <a:spcPts val="0"/>
                        </a:spcAft>
                        <a:buNone/>
                      </a:pPr>
                      <a:r>
                        <a:rPr b="1" lang="en" sz="1100"/>
                        <a:t>LR1</a:t>
                      </a:r>
                      <a:r>
                        <a:rPr lang="en" sz="1100"/>
                        <a:t>: Regulatory Compliance</a:t>
                      </a:r>
                      <a:endParaRPr sz="1100"/>
                    </a:p>
                    <a:p>
                      <a:pPr indent="0" lvl="0" marL="0" rtl="0" algn="l">
                        <a:spcBef>
                          <a:spcPts val="0"/>
                        </a:spcBef>
                        <a:spcAft>
                          <a:spcPts val="0"/>
                        </a:spcAft>
                        <a:buNone/>
                      </a:pPr>
                      <a:r>
                        <a:rPr b="1" lang="en" sz="1100"/>
                        <a:t>LR2</a:t>
                      </a:r>
                      <a:r>
                        <a:rPr lang="en" sz="1100"/>
                        <a:t>: Multi-Party Contract Complications</a:t>
                      </a:r>
                      <a:endParaRPr sz="1100"/>
                    </a:p>
                    <a:p>
                      <a:pPr indent="0" lvl="0" marL="0" rtl="0" algn="l">
                        <a:spcBef>
                          <a:spcPts val="0"/>
                        </a:spcBef>
                        <a:spcAft>
                          <a:spcPts val="0"/>
                        </a:spcAft>
                        <a:buNone/>
                      </a:pPr>
                      <a:r>
                        <a:rPr b="1" lang="en" sz="1100"/>
                        <a:t>LR3</a:t>
                      </a:r>
                      <a:r>
                        <a:rPr lang="en" sz="1100"/>
                        <a:t>: System Client Obligations</a:t>
                      </a:r>
                      <a:endParaRPr sz="11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r h="2521275">
                <a:tc>
                  <a:txBody>
                    <a:bodyPr/>
                    <a:lstStyle/>
                    <a:p>
                      <a:pPr indent="0" lvl="0" marL="0" rtl="0" algn="l">
                        <a:spcBef>
                          <a:spcPts val="0"/>
                        </a:spcBef>
                        <a:spcAft>
                          <a:spcPts val="0"/>
                        </a:spcAft>
                        <a:buNone/>
                      </a:pPr>
                      <a:r>
                        <a:rPr b="1" lang="en" sz="1000"/>
                        <a:t>LM1</a:t>
                      </a:r>
                      <a:r>
                        <a:rPr lang="en" sz="1000"/>
                        <a:t>: Role-based access controls with only need to know data provided break up single point of failure potential. </a:t>
                      </a:r>
                      <a:endParaRPr sz="1000"/>
                    </a:p>
                    <a:p>
                      <a:pPr indent="0" lvl="0" marL="0" rtl="0" algn="l">
                        <a:spcBef>
                          <a:spcPts val="0"/>
                        </a:spcBef>
                        <a:spcAft>
                          <a:spcPts val="0"/>
                        </a:spcAft>
                        <a:buNone/>
                      </a:pPr>
                      <a:r>
                        <a:rPr b="1" lang="en" sz="1000"/>
                        <a:t>LM2</a:t>
                      </a:r>
                      <a:r>
                        <a:rPr lang="en" sz="1000"/>
                        <a:t>: Phased adoption through trial simulation, real world process modeling, minimum workflow adoption, full adoption minimize potential losses and rapid issue discovery/resolution. </a:t>
                      </a:r>
                      <a:endParaRPr sz="1000"/>
                    </a:p>
                    <a:p>
                      <a:pPr indent="0" lvl="0" marL="0" rtl="0" algn="l">
                        <a:spcBef>
                          <a:spcPts val="0"/>
                        </a:spcBef>
                        <a:spcAft>
                          <a:spcPts val="0"/>
                        </a:spcAft>
                        <a:buNone/>
                      </a:pPr>
                      <a:r>
                        <a:rPr b="1" lang="en" sz="1000"/>
                        <a:t>LM3</a:t>
                      </a:r>
                      <a:r>
                        <a:rPr lang="en" sz="1000"/>
                        <a:t>: </a:t>
                      </a:r>
                      <a:r>
                        <a:rPr lang="en" sz="1000"/>
                        <a:t>System emphasizes trying to represent reality as closely as possible versus serving as source of truth, internal tooling empowers rather than replaces clients self-oversight.</a:t>
                      </a:r>
                      <a:endParaRPr sz="1000"/>
                    </a:p>
                  </a:txBody>
                  <a:tcPr marT="91425" marB="91425" marR="91425" marL="91425">
                    <a:lnL cap="flat" cmpd="sng" w="76200">
                      <a:solidFill>
                        <a:srgbClr val="9E9E9E">
                          <a:alpha val="0"/>
                        </a:srgbClr>
                      </a:solidFill>
                      <a:prstDash val="solid"/>
                      <a:round/>
                      <a:headEnd len="sm" w="sm" type="none"/>
                      <a:tailEnd len="sm" w="sm" type="none"/>
                    </a:lnL>
                    <a:lnR cap="flat" cmpd="sng" w="76200">
                      <a:solidFill>
                        <a:srgbClr val="9E9E9E">
                          <a:alpha val="0"/>
                        </a:srgbClr>
                      </a:solidFill>
                      <a:prstDash val="solid"/>
                      <a:round/>
                      <a:headEnd len="sm" w="sm" type="none"/>
                      <a:tailEnd len="sm" w="sm" type="none"/>
                    </a:lnR>
                    <a:lnT cap="flat" cmpd="sng" w="76200">
                      <a:solidFill>
                        <a:srgbClr val="9E9E9E">
                          <a:alpha val="0"/>
                        </a:srgbClr>
                      </a:solidFill>
                      <a:prstDash val="solid"/>
                      <a:round/>
                      <a:headEnd len="sm" w="sm" type="none"/>
                      <a:tailEnd len="sm" w="sm" type="none"/>
                    </a:lnT>
                    <a:lnB cap="flat" cmpd="sng" w="76200">
                      <a:solidFill>
                        <a:srgbClr val="9E9E9E">
                          <a:alpha val="0"/>
                        </a:srgbClr>
                      </a:solidFill>
                      <a:prstDash val="solid"/>
                      <a:round/>
                      <a:headEnd len="sm" w="sm" type="none"/>
                      <a:tailEnd len="sm" w="sm" type="none"/>
                    </a:lnB>
                  </a:tcPr>
                </a:tc>
              </a:tr>
            </a:tbl>
          </a:graphicData>
        </a:graphic>
      </p:graphicFrame>
      <p:graphicFrame>
        <p:nvGraphicFramePr>
          <p:cNvPr id="1070" name="Google Shape;1070;p88"/>
          <p:cNvGraphicFramePr/>
          <p:nvPr/>
        </p:nvGraphicFramePr>
        <p:xfrm>
          <a:off x="-196830" y="1282069"/>
          <a:ext cx="3000000" cy="3000000"/>
        </p:xfrm>
        <a:graphic>
          <a:graphicData uri="http://schemas.openxmlformats.org/drawingml/2006/table">
            <a:tbl>
              <a:tblPr>
                <a:noFill/>
                <a:tableStyleId>{1D9B1A6F-CA92-492C-AAAF-4422A80D218F}</a:tableStyleId>
              </a:tblPr>
              <a:tblGrid>
                <a:gridCol w="497050"/>
                <a:gridCol w="795600"/>
                <a:gridCol w="789975"/>
                <a:gridCol w="759450"/>
                <a:gridCol w="824700"/>
                <a:gridCol w="772500"/>
                <a:gridCol w="837725"/>
              </a:tblGrid>
              <a:tr h="432050">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5">
                  <a:txBody>
                    <a:bodyPr/>
                    <a:lstStyle/>
                    <a:p>
                      <a:pPr indent="0" lvl="0" marL="0" rtl="0" algn="ctr">
                        <a:spcBef>
                          <a:spcPts val="0"/>
                        </a:spcBef>
                        <a:spcAft>
                          <a:spcPts val="0"/>
                        </a:spcAft>
                        <a:buNone/>
                      </a:pPr>
                      <a:r>
                        <a:rPr lang="en"/>
                        <a:t>Impact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c hMerge="1"/>
              </a:tr>
              <a:tr h="432050">
                <a:tc rowSpan="6">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t>Very Low</a:t>
                      </a:r>
                      <a:endParaRPr sz="1000"/>
                    </a:p>
                    <a:p>
                      <a:pPr indent="0" lvl="0" marL="0" rtl="0" algn="ctr">
                        <a:spcBef>
                          <a:spcPts val="0"/>
                        </a:spcBef>
                        <a:spcAft>
                          <a:spcPts val="0"/>
                        </a:spcAft>
                        <a:buNone/>
                      </a:pPr>
                      <a:r>
                        <a:rPr lang="en" sz="1000"/>
                        <a:t>(1)</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Medium</a:t>
                      </a:r>
                      <a:endParaRPr sz="1000"/>
                    </a:p>
                    <a:p>
                      <a:pPr indent="0" lvl="0" marL="0" rtl="0" algn="ctr">
                        <a:spcBef>
                          <a:spcPts val="0"/>
                        </a:spcBef>
                        <a:spcAft>
                          <a:spcPts val="0"/>
                        </a:spcAft>
                        <a:buNone/>
                      </a:pPr>
                      <a:r>
                        <a:rPr lang="en" sz="1000"/>
                        <a:t>(3)</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r>
              <a:tr h="531800">
                <a:tc vMerge="1"/>
                <a:tc>
                  <a:txBody>
                    <a:bodyPr/>
                    <a:lstStyle/>
                    <a:p>
                      <a:pPr indent="0" lvl="0" marL="0" rtl="0" algn="ctr">
                        <a:spcBef>
                          <a:spcPts val="0"/>
                        </a:spcBef>
                        <a:spcAft>
                          <a:spcPts val="0"/>
                        </a:spcAft>
                        <a:buNone/>
                      </a:pPr>
                      <a:r>
                        <a:rPr lang="en" sz="1000"/>
                        <a:t>Severe</a:t>
                      </a:r>
                      <a:endParaRPr sz="1000"/>
                    </a:p>
                    <a:p>
                      <a:pPr indent="0" lvl="0" marL="0" rtl="0" algn="ctr">
                        <a:spcBef>
                          <a:spcPts val="0"/>
                        </a:spcBef>
                        <a:spcAft>
                          <a:spcPts val="0"/>
                        </a:spcAft>
                        <a:buNone/>
                      </a:pPr>
                      <a:r>
                        <a:rPr lang="en" sz="1000"/>
                        <a:t>(5)</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High</a:t>
                      </a:r>
                      <a:endParaRPr sz="1000"/>
                    </a:p>
                    <a:p>
                      <a:pPr indent="0" lvl="0" marL="0" rtl="0" algn="ctr">
                        <a:spcBef>
                          <a:spcPts val="0"/>
                        </a:spcBef>
                        <a:spcAft>
                          <a:spcPts val="0"/>
                        </a:spcAft>
                        <a:buNone/>
                      </a:pPr>
                      <a:r>
                        <a:rPr lang="en" sz="1000"/>
                        <a:t>(4)</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Medium (3)</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E06666"/>
                    </a:solidFill>
                  </a:tcPr>
                </a:tc>
              </a:tr>
              <a:tr h="531800">
                <a:tc vMerge="1"/>
                <a:tc>
                  <a:txBody>
                    <a:bodyPr/>
                    <a:lstStyle/>
                    <a:p>
                      <a:pPr indent="0" lvl="0" marL="0" rtl="0" algn="ctr">
                        <a:spcBef>
                          <a:spcPts val="0"/>
                        </a:spcBef>
                        <a:spcAft>
                          <a:spcPts val="0"/>
                        </a:spcAft>
                        <a:buNone/>
                      </a:pPr>
                      <a:r>
                        <a:rPr lang="en" sz="1000"/>
                        <a:t>Low</a:t>
                      </a:r>
                      <a:endParaRPr sz="1000"/>
                    </a:p>
                    <a:p>
                      <a:pPr indent="0" lvl="0" marL="0" rtl="0" algn="ctr">
                        <a:spcBef>
                          <a:spcPts val="0"/>
                        </a:spcBef>
                        <a:spcAft>
                          <a:spcPts val="0"/>
                        </a:spcAft>
                        <a:buNone/>
                      </a:pPr>
                      <a:r>
                        <a:rPr lang="en" sz="1000"/>
                        <a:t>(2)</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r h="531800">
                <a:tc vMerge="1"/>
                <a:tc>
                  <a:txBody>
                    <a:bodyPr/>
                    <a:lstStyle/>
                    <a:p>
                      <a:pPr indent="0" lvl="0" marL="0" rtl="0" algn="ctr">
                        <a:spcBef>
                          <a:spcPts val="0"/>
                        </a:spcBef>
                        <a:spcAft>
                          <a:spcPts val="0"/>
                        </a:spcAft>
                        <a:buNone/>
                      </a:pPr>
                      <a:r>
                        <a:rPr lang="en" sz="1000"/>
                        <a:t>Very Low (1)</a:t>
                      </a:r>
                      <a:endParaRPr sz="1000"/>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c>
                  <a:txBody>
                    <a:bodyPr/>
                    <a:lstStyle/>
                    <a:p>
                      <a:pPr indent="0" lvl="0" marL="0" rtl="0" algn="l">
                        <a:spcBef>
                          <a:spcPts val="0"/>
                        </a:spcBef>
                        <a:spcAft>
                          <a:spcPts val="0"/>
                        </a:spcAft>
                        <a:buNone/>
                      </a:pPr>
                      <a:r>
                        <a:t/>
                      </a:r>
                      <a:endParaRPr/>
                    </a:p>
                  </a:txBody>
                  <a:tcPr marT="91425" marB="91425" marR="91425" marL="91425">
                    <a:solidFill>
                      <a:srgbClr val="FFD966"/>
                    </a:solidFill>
                  </a:tcPr>
                </a:tc>
              </a:tr>
            </a:tbl>
          </a:graphicData>
        </a:graphic>
      </p:graphicFrame>
      <p:sp>
        <p:nvSpPr>
          <p:cNvPr id="1071" name="Google Shape;1071;p88"/>
          <p:cNvSpPr txBox="1"/>
          <p:nvPr/>
        </p:nvSpPr>
        <p:spPr>
          <a:xfrm>
            <a:off x="3624849" y="3906969"/>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LR1</a:t>
            </a:r>
            <a:endParaRPr sz="1200">
              <a:solidFill>
                <a:srgbClr val="999999"/>
              </a:solidFill>
              <a:latin typeface="Lato"/>
              <a:ea typeface="Lato"/>
              <a:cs typeface="Lato"/>
              <a:sym typeface="Lato"/>
            </a:endParaRPr>
          </a:p>
        </p:txBody>
      </p:sp>
      <p:sp>
        <p:nvSpPr>
          <p:cNvPr id="1072" name="Google Shape;1072;p88"/>
          <p:cNvSpPr txBox="1"/>
          <p:nvPr/>
        </p:nvSpPr>
        <p:spPr>
          <a:xfrm>
            <a:off x="3673050" y="2813375"/>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LR2</a:t>
            </a:r>
            <a:endParaRPr sz="1200">
              <a:solidFill>
                <a:srgbClr val="999999"/>
              </a:solidFill>
              <a:latin typeface="Lato"/>
              <a:ea typeface="Lato"/>
              <a:cs typeface="Lato"/>
              <a:sym typeface="Lato"/>
            </a:endParaRPr>
          </a:p>
        </p:txBody>
      </p:sp>
      <p:sp>
        <p:nvSpPr>
          <p:cNvPr id="1073" name="Google Shape;1073;p88"/>
          <p:cNvSpPr txBox="1"/>
          <p:nvPr/>
        </p:nvSpPr>
        <p:spPr>
          <a:xfrm>
            <a:off x="2869958"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LR3</a:t>
            </a:r>
            <a:endParaRPr sz="1200">
              <a:solidFill>
                <a:schemeClr val="lt1"/>
              </a:solidFill>
              <a:latin typeface="Lato"/>
              <a:ea typeface="Lato"/>
              <a:cs typeface="Lato"/>
              <a:sym typeface="Lato"/>
            </a:endParaRPr>
          </a:p>
        </p:txBody>
      </p:sp>
      <p:sp>
        <p:nvSpPr>
          <p:cNvPr id="1074" name="Google Shape;1074;p88"/>
          <p:cNvSpPr txBox="1"/>
          <p:nvPr/>
        </p:nvSpPr>
        <p:spPr>
          <a:xfrm>
            <a:off x="1977688" y="386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LM3</a:t>
            </a:r>
            <a:endParaRPr sz="1200">
              <a:solidFill>
                <a:schemeClr val="lt1"/>
              </a:solidFill>
              <a:latin typeface="Lato"/>
              <a:ea typeface="Lato"/>
              <a:cs typeface="Lato"/>
              <a:sym typeface="Lato"/>
            </a:endParaRPr>
          </a:p>
        </p:txBody>
      </p:sp>
      <p:sp>
        <p:nvSpPr>
          <p:cNvPr id="1075" name="Google Shape;1075;p88"/>
          <p:cNvSpPr txBox="1"/>
          <p:nvPr/>
        </p:nvSpPr>
        <p:spPr>
          <a:xfrm>
            <a:off x="1240625" y="33378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LM2</a:t>
            </a:r>
            <a:endParaRPr sz="1200">
              <a:solidFill>
                <a:srgbClr val="999999"/>
              </a:solidFill>
              <a:latin typeface="Lato"/>
              <a:ea typeface="Lato"/>
              <a:cs typeface="Lato"/>
              <a:sym typeface="Lato"/>
            </a:endParaRPr>
          </a:p>
        </p:txBody>
      </p:sp>
      <p:sp>
        <p:nvSpPr>
          <p:cNvPr id="1076" name="Google Shape;1076;p88"/>
          <p:cNvSpPr txBox="1"/>
          <p:nvPr/>
        </p:nvSpPr>
        <p:spPr>
          <a:xfrm>
            <a:off x="2669688" y="4451200"/>
            <a:ext cx="5694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999999"/>
                </a:solidFill>
              </a:rPr>
              <a:t>LM1</a:t>
            </a:r>
            <a:endParaRPr sz="1200">
              <a:solidFill>
                <a:srgbClr val="999999"/>
              </a:solidFill>
              <a:latin typeface="Lato"/>
              <a:ea typeface="Lato"/>
              <a:cs typeface="Lato"/>
              <a:sym typeface="Lato"/>
            </a:endParaRPr>
          </a:p>
        </p:txBody>
      </p:sp>
      <p:cxnSp>
        <p:nvCxnSpPr>
          <p:cNvPr id="1077" name="Google Shape;1077;p88"/>
          <p:cNvCxnSpPr/>
          <p:nvPr/>
        </p:nvCxnSpPr>
        <p:spPr>
          <a:xfrm flipH="1">
            <a:off x="2965148" y="4209202"/>
            <a:ext cx="800100" cy="295800"/>
          </a:xfrm>
          <a:prstGeom prst="straightConnector1">
            <a:avLst/>
          </a:prstGeom>
          <a:noFill/>
          <a:ln cap="flat" cmpd="sng" w="9525">
            <a:solidFill>
              <a:srgbClr val="999999"/>
            </a:solidFill>
            <a:prstDash val="solid"/>
            <a:round/>
            <a:headEnd len="med" w="med" type="none"/>
            <a:tailEnd len="med" w="med" type="triangle"/>
          </a:ln>
        </p:spPr>
      </p:cxnSp>
      <p:cxnSp>
        <p:nvCxnSpPr>
          <p:cNvPr id="1078" name="Google Shape;1078;p88"/>
          <p:cNvCxnSpPr/>
          <p:nvPr/>
        </p:nvCxnSpPr>
        <p:spPr>
          <a:xfrm flipH="1">
            <a:off x="1623450" y="2987375"/>
            <a:ext cx="2049600" cy="404400"/>
          </a:xfrm>
          <a:prstGeom prst="straightConnector1">
            <a:avLst/>
          </a:prstGeom>
          <a:noFill/>
          <a:ln cap="flat" cmpd="sng" w="9525">
            <a:solidFill>
              <a:srgbClr val="999999"/>
            </a:solidFill>
            <a:prstDash val="solid"/>
            <a:round/>
            <a:headEnd len="med" w="med" type="none"/>
            <a:tailEnd len="med" w="med" type="triangle"/>
          </a:ln>
        </p:spPr>
      </p:cxnSp>
      <p:cxnSp>
        <p:nvCxnSpPr>
          <p:cNvPr id="1079" name="Google Shape;1079;p88"/>
          <p:cNvCxnSpPr/>
          <p:nvPr/>
        </p:nvCxnSpPr>
        <p:spPr>
          <a:xfrm flipH="1">
            <a:off x="2326514" y="3498588"/>
            <a:ext cx="581700" cy="4335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83" name="Shape 1083"/>
        <p:cNvGrpSpPr/>
        <p:nvPr/>
      </p:nvGrpSpPr>
      <p:grpSpPr>
        <a:xfrm>
          <a:off x="0" y="0"/>
          <a:ext cx="0" cy="0"/>
          <a:chOff x="0" y="0"/>
          <a:chExt cx="0" cy="0"/>
        </a:xfrm>
      </p:grpSpPr>
      <p:pic>
        <p:nvPicPr>
          <p:cNvPr descr="A modern glass building under a sunny blue sky. " id="1084" name="Google Shape;1084;p89"/>
          <p:cNvPicPr preferRelativeResize="0"/>
          <p:nvPr/>
        </p:nvPicPr>
        <p:blipFill rotWithShape="1">
          <a:blip r:embed="rId4">
            <a:alphaModFix/>
          </a:blip>
          <a:srcRect b="36562" l="0" r="0" t="46566"/>
          <a:stretch/>
        </p:blipFill>
        <p:spPr>
          <a:xfrm>
            <a:off x="9127" y="0"/>
            <a:ext cx="9143997" cy="1028275"/>
          </a:xfrm>
          <a:prstGeom prst="rect">
            <a:avLst/>
          </a:prstGeom>
          <a:noFill/>
          <a:ln>
            <a:noFill/>
          </a:ln>
        </p:spPr>
      </p:pic>
      <p:sp>
        <p:nvSpPr>
          <p:cNvPr id="1085" name="Google Shape;1085;p89"/>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86" name="Google Shape;1086;p89"/>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cxnSp>
        <p:nvCxnSpPr>
          <p:cNvPr id="1087" name="Google Shape;1087;p89"/>
          <p:cNvCxnSpPr/>
          <p:nvPr/>
        </p:nvCxnSpPr>
        <p:spPr>
          <a:xfrm rot="10800000">
            <a:off x="283720" y="4607525"/>
            <a:ext cx="8577300" cy="0"/>
          </a:xfrm>
          <a:prstGeom prst="straightConnector1">
            <a:avLst/>
          </a:prstGeom>
          <a:noFill/>
          <a:ln cap="flat" cmpd="sng" w="9525">
            <a:solidFill>
              <a:schemeClr val="lt1"/>
            </a:solidFill>
            <a:prstDash val="solid"/>
            <a:round/>
            <a:headEnd len="med" w="med" type="none"/>
            <a:tailEnd len="med" w="med" type="none"/>
          </a:ln>
        </p:spPr>
      </p:cxnSp>
      <p:graphicFrame>
        <p:nvGraphicFramePr>
          <p:cNvPr id="1088" name="Google Shape;1088;p89"/>
          <p:cNvGraphicFramePr/>
          <p:nvPr/>
        </p:nvGraphicFramePr>
        <p:xfrm>
          <a:off x="283700" y="1238250"/>
          <a:ext cx="3000000" cy="3000000"/>
        </p:xfrm>
        <a:graphic>
          <a:graphicData uri="http://schemas.openxmlformats.org/drawingml/2006/table">
            <a:tbl>
              <a:tblPr>
                <a:noFill/>
                <a:tableStyleId>{1D9B1A6F-CA92-492C-AAAF-4422A80D218F}</a:tableStyleId>
              </a:tblPr>
              <a:tblGrid>
                <a:gridCol w="2525200"/>
                <a:gridCol w="2017375"/>
                <a:gridCol w="2017375"/>
                <a:gridCol w="2017375"/>
              </a:tblGrid>
              <a:tr h="468025">
                <a:tc>
                  <a:txBody>
                    <a:bodyPr/>
                    <a:lstStyle/>
                    <a:p>
                      <a:pPr indent="0" lvl="0" marL="0" rtl="0" algn="l">
                        <a:spcBef>
                          <a:spcPts val="0"/>
                        </a:spcBef>
                        <a:spcAft>
                          <a:spcPts val="0"/>
                        </a:spcAft>
                        <a:buNone/>
                      </a:pPr>
                      <a:r>
                        <a:rPr lang="en"/>
                        <a:t>Feature</a:t>
                      </a:r>
                      <a:endParaRPr/>
                    </a:p>
                  </a:txBody>
                  <a:tcPr marT="91425" marB="91425" marR="91425" marL="91425"/>
                </a:tc>
                <a:tc>
                  <a:txBody>
                    <a:bodyPr/>
                    <a:lstStyle/>
                    <a:p>
                      <a:pPr indent="0" lvl="0" marL="0" rtl="0" algn="l">
                        <a:spcBef>
                          <a:spcPts val="0"/>
                        </a:spcBef>
                        <a:spcAft>
                          <a:spcPts val="0"/>
                        </a:spcAft>
                        <a:buNone/>
                      </a:pPr>
                      <a:r>
                        <a:rPr lang="en"/>
                        <a:t>Email &amp; Spreadsheets</a:t>
                      </a:r>
                      <a:endParaRPr/>
                    </a:p>
                  </a:txBody>
                  <a:tcPr marT="91425" marB="91425" marR="91425" marL="91425"/>
                </a:tc>
                <a:tc>
                  <a:txBody>
                    <a:bodyPr/>
                    <a:lstStyle/>
                    <a:p>
                      <a:pPr indent="0" lvl="0" marL="0" rtl="0" algn="l">
                        <a:spcBef>
                          <a:spcPts val="0"/>
                        </a:spcBef>
                        <a:spcAft>
                          <a:spcPts val="0"/>
                        </a:spcAft>
                        <a:buNone/>
                      </a:pPr>
                      <a:r>
                        <a:rPr lang="en"/>
                        <a:t>Generic </a:t>
                      </a:r>
                      <a:r>
                        <a:rPr lang="en"/>
                        <a:t>ERP</a:t>
                      </a:r>
                      <a:endParaRPr/>
                    </a:p>
                  </a:txBody>
                  <a:tcPr marT="91425" marB="91425" marR="91425" marL="91425">
                    <a:lnR cap="flat" cmpd="sng" w="38100">
                      <a:solidFill>
                        <a:srgbClr val="4A86E8"/>
                      </a:solidFill>
                      <a:prstDash val="solid"/>
                      <a:round/>
                      <a:headEnd len="sm" w="sm" type="none"/>
                      <a:tailEnd len="sm" w="sm" type="none"/>
                    </a:lnR>
                  </a:tcPr>
                </a:tc>
                <a:tc>
                  <a:txBody>
                    <a:bodyPr/>
                    <a:lstStyle/>
                    <a:p>
                      <a:pPr indent="0" lvl="0" marL="0" rtl="0" algn="l">
                        <a:spcBef>
                          <a:spcPts val="0"/>
                        </a:spcBef>
                        <a:spcAft>
                          <a:spcPts val="0"/>
                        </a:spcAft>
                        <a:buNone/>
                      </a:pPr>
                      <a:r>
                        <a:rPr lang="en"/>
                        <a:t>BevOS</a:t>
                      </a:r>
                      <a:endParaRPr/>
                    </a:p>
                  </a:txBody>
                  <a:tcPr marT="91425" marB="91425" marR="91425" marL="91425">
                    <a:lnL cap="flat" cmpd="sng" w="38100">
                      <a:solidFill>
                        <a:srgbClr val="4A86E8"/>
                      </a:solidFill>
                      <a:prstDash val="solid"/>
                      <a:round/>
                      <a:headEnd len="sm" w="sm" type="none"/>
                      <a:tailEnd len="sm" w="sm" type="none"/>
                    </a:lnL>
                    <a:lnR cap="flat" cmpd="sng" w="38100">
                      <a:solidFill>
                        <a:srgbClr val="4A86E8"/>
                      </a:solidFill>
                      <a:prstDash val="solid"/>
                      <a:round/>
                      <a:headEnd len="sm" w="sm" type="none"/>
                      <a:tailEnd len="sm" w="sm" type="none"/>
                    </a:lnR>
                    <a:lnT cap="flat" cmpd="sng" w="38100">
                      <a:solidFill>
                        <a:srgbClr val="4A86E8"/>
                      </a:solidFill>
                      <a:prstDash val="solid"/>
                      <a:round/>
                      <a:headEnd len="sm" w="sm" type="none"/>
                      <a:tailEnd len="sm" w="sm" type="none"/>
                    </a:lnT>
                    <a:lnB cap="flat" cmpd="sng" w="38100">
                      <a:solidFill>
                        <a:srgbClr val="4A86E8"/>
                      </a:solidFill>
                      <a:prstDash val="solid"/>
                      <a:round/>
                      <a:headEnd len="sm" w="sm" type="none"/>
                      <a:tailEnd len="sm" w="sm" type="none"/>
                    </a:lnB>
                    <a:solidFill>
                      <a:srgbClr val="C9DAF8"/>
                    </a:solidFill>
                  </a:tcPr>
                </a:tc>
              </a:tr>
              <a:tr h="450075">
                <a:tc>
                  <a:txBody>
                    <a:bodyPr/>
                    <a:lstStyle/>
                    <a:p>
                      <a:pPr indent="0" lvl="0" marL="0" rtl="0" algn="l">
                        <a:spcBef>
                          <a:spcPts val="0"/>
                        </a:spcBef>
                        <a:spcAft>
                          <a:spcPts val="0"/>
                        </a:spcAft>
                        <a:buNone/>
                      </a:pPr>
                      <a:r>
                        <a:rPr lang="en"/>
                        <a:t>Centralized </a:t>
                      </a:r>
                      <a:r>
                        <a:rPr lang="en"/>
                        <a:t>Workflow</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4A86E8"/>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r h="468025">
                <a:tc>
                  <a:txBody>
                    <a:bodyPr/>
                    <a:lstStyle/>
                    <a:p>
                      <a:pPr indent="0" lvl="0" marL="0" rtl="0" algn="l">
                        <a:spcBef>
                          <a:spcPts val="0"/>
                        </a:spcBef>
                        <a:spcAft>
                          <a:spcPts val="0"/>
                        </a:spcAft>
                        <a:buNone/>
                      </a:pPr>
                      <a:r>
                        <a:rPr lang="en"/>
                        <a:t>Beverage Industry Focus</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r h="450075">
                <a:tc>
                  <a:txBody>
                    <a:bodyPr/>
                    <a:lstStyle/>
                    <a:p>
                      <a:pPr indent="0" lvl="0" marL="0" rtl="0" algn="l">
                        <a:spcBef>
                          <a:spcPts val="0"/>
                        </a:spcBef>
                        <a:spcAft>
                          <a:spcPts val="0"/>
                        </a:spcAft>
                        <a:buNone/>
                      </a:pPr>
                      <a:r>
                        <a:rPr lang="en"/>
                        <a:t>Approval Tracking</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r h="468025">
                <a:tc>
                  <a:txBody>
                    <a:bodyPr/>
                    <a:lstStyle/>
                    <a:p>
                      <a:pPr indent="0" lvl="0" marL="0" rtl="0" algn="l">
                        <a:spcBef>
                          <a:spcPts val="0"/>
                        </a:spcBef>
                        <a:spcAft>
                          <a:spcPts val="0"/>
                        </a:spcAft>
                        <a:buNone/>
                      </a:pPr>
                      <a:r>
                        <a:rPr lang="en"/>
                        <a:t>Production Tracking</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r h="450075">
                <a:tc>
                  <a:txBody>
                    <a:bodyPr/>
                    <a:lstStyle/>
                    <a:p>
                      <a:pPr indent="0" lvl="0" marL="0" rtl="0" algn="l">
                        <a:spcBef>
                          <a:spcPts val="0"/>
                        </a:spcBef>
                        <a:spcAft>
                          <a:spcPts val="0"/>
                        </a:spcAft>
                        <a:buNone/>
                      </a:pPr>
                      <a:r>
                        <a:rPr lang="en"/>
                        <a:t>Logistics Visibility</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r h="450075">
                <a:tc>
                  <a:txBody>
                    <a:bodyPr/>
                    <a:lstStyle/>
                    <a:p>
                      <a:pPr indent="0" lvl="0" marL="0" rtl="0" algn="l">
                        <a:spcBef>
                          <a:spcPts val="0"/>
                        </a:spcBef>
                        <a:spcAft>
                          <a:spcPts val="0"/>
                        </a:spcAft>
                        <a:buNone/>
                      </a:pPr>
                      <a:r>
                        <a:rPr lang="en"/>
                        <a:t>Document Management</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bl>
          </a:graphicData>
        </a:graphic>
      </p:graphicFrame>
      <p:sp>
        <p:nvSpPr>
          <p:cNvPr id="1089" name="Google Shape;1089;p89"/>
          <p:cNvSpPr txBox="1"/>
          <p:nvPr/>
        </p:nvSpPr>
        <p:spPr>
          <a:xfrm>
            <a:off x="276075" y="181525"/>
            <a:ext cx="72465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lt1"/>
                </a:solidFill>
                <a:latin typeface="Playfair Display"/>
                <a:ea typeface="Playfair Display"/>
                <a:cs typeface="Playfair Display"/>
                <a:sym typeface="Playfair Display"/>
              </a:rPr>
              <a:t>Competition Matrix</a:t>
            </a:r>
            <a:endParaRPr sz="3600">
              <a:solidFill>
                <a:schemeClr val="lt1"/>
              </a:solidFill>
              <a:latin typeface="Playfair Display"/>
              <a:ea typeface="Playfair Display"/>
              <a:cs typeface="Playfair Display"/>
              <a:sym typeface="Playfair Display"/>
            </a:endParaRPr>
          </a:p>
        </p:txBody>
      </p:sp>
      <p:pic>
        <p:nvPicPr>
          <p:cNvPr id="1090" name="Google Shape;1090;p89"/>
          <p:cNvPicPr preferRelativeResize="0"/>
          <p:nvPr/>
        </p:nvPicPr>
        <p:blipFill>
          <a:blip r:embed="rId5">
            <a:alphaModFix/>
          </a:blip>
          <a:stretch>
            <a:fillRect/>
          </a:stretch>
        </p:blipFill>
        <p:spPr>
          <a:xfrm>
            <a:off x="7584038" y="1663638"/>
            <a:ext cx="535350" cy="535350"/>
          </a:xfrm>
          <a:prstGeom prst="rect">
            <a:avLst/>
          </a:prstGeom>
          <a:noFill/>
          <a:ln>
            <a:noFill/>
          </a:ln>
        </p:spPr>
      </p:pic>
      <p:pic>
        <p:nvPicPr>
          <p:cNvPr id="1091" name="Google Shape;1091;p89"/>
          <p:cNvPicPr preferRelativeResize="0"/>
          <p:nvPr/>
        </p:nvPicPr>
        <p:blipFill>
          <a:blip r:embed="rId6">
            <a:alphaModFix/>
          </a:blip>
          <a:stretch>
            <a:fillRect/>
          </a:stretch>
        </p:blipFill>
        <p:spPr>
          <a:xfrm>
            <a:off x="3674285" y="1706275"/>
            <a:ext cx="450075" cy="450075"/>
          </a:xfrm>
          <a:prstGeom prst="rect">
            <a:avLst/>
          </a:prstGeom>
          <a:noFill/>
          <a:ln>
            <a:noFill/>
          </a:ln>
        </p:spPr>
      </p:pic>
      <p:pic>
        <p:nvPicPr>
          <p:cNvPr id="1092" name="Google Shape;1092;p89"/>
          <p:cNvPicPr preferRelativeResize="0"/>
          <p:nvPr/>
        </p:nvPicPr>
        <p:blipFill>
          <a:blip r:embed="rId6">
            <a:alphaModFix/>
          </a:blip>
          <a:stretch>
            <a:fillRect/>
          </a:stretch>
        </p:blipFill>
        <p:spPr>
          <a:xfrm>
            <a:off x="3674297" y="2156350"/>
            <a:ext cx="450075" cy="450075"/>
          </a:xfrm>
          <a:prstGeom prst="rect">
            <a:avLst/>
          </a:prstGeom>
          <a:noFill/>
          <a:ln>
            <a:noFill/>
          </a:ln>
        </p:spPr>
      </p:pic>
      <p:pic>
        <p:nvPicPr>
          <p:cNvPr id="1093" name="Google Shape;1093;p89"/>
          <p:cNvPicPr preferRelativeResize="0"/>
          <p:nvPr/>
        </p:nvPicPr>
        <p:blipFill>
          <a:blip r:embed="rId6">
            <a:alphaModFix/>
          </a:blip>
          <a:stretch>
            <a:fillRect/>
          </a:stretch>
        </p:blipFill>
        <p:spPr>
          <a:xfrm>
            <a:off x="3674310" y="2615400"/>
            <a:ext cx="450075" cy="450075"/>
          </a:xfrm>
          <a:prstGeom prst="rect">
            <a:avLst/>
          </a:prstGeom>
          <a:noFill/>
          <a:ln>
            <a:noFill/>
          </a:ln>
        </p:spPr>
      </p:pic>
      <p:pic>
        <p:nvPicPr>
          <p:cNvPr id="1094" name="Google Shape;1094;p89"/>
          <p:cNvPicPr preferRelativeResize="0"/>
          <p:nvPr/>
        </p:nvPicPr>
        <p:blipFill>
          <a:blip r:embed="rId6">
            <a:alphaModFix/>
          </a:blip>
          <a:stretch>
            <a:fillRect/>
          </a:stretch>
        </p:blipFill>
        <p:spPr>
          <a:xfrm>
            <a:off x="3674285" y="3074450"/>
            <a:ext cx="450075" cy="450075"/>
          </a:xfrm>
          <a:prstGeom prst="rect">
            <a:avLst/>
          </a:prstGeom>
          <a:noFill/>
          <a:ln>
            <a:noFill/>
          </a:ln>
        </p:spPr>
      </p:pic>
      <p:pic>
        <p:nvPicPr>
          <p:cNvPr id="1095" name="Google Shape;1095;p89"/>
          <p:cNvPicPr preferRelativeResize="0"/>
          <p:nvPr/>
        </p:nvPicPr>
        <p:blipFill>
          <a:blip r:embed="rId6">
            <a:alphaModFix/>
          </a:blip>
          <a:stretch>
            <a:fillRect/>
          </a:stretch>
        </p:blipFill>
        <p:spPr>
          <a:xfrm>
            <a:off x="3674285" y="3533500"/>
            <a:ext cx="450075" cy="450075"/>
          </a:xfrm>
          <a:prstGeom prst="rect">
            <a:avLst/>
          </a:prstGeom>
          <a:noFill/>
          <a:ln>
            <a:noFill/>
          </a:ln>
        </p:spPr>
      </p:pic>
      <p:pic>
        <p:nvPicPr>
          <p:cNvPr id="1096" name="Google Shape;1096;p89"/>
          <p:cNvPicPr preferRelativeResize="0"/>
          <p:nvPr/>
        </p:nvPicPr>
        <p:blipFill>
          <a:blip r:embed="rId6">
            <a:alphaModFix/>
          </a:blip>
          <a:stretch>
            <a:fillRect/>
          </a:stretch>
        </p:blipFill>
        <p:spPr>
          <a:xfrm>
            <a:off x="3674310" y="3992550"/>
            <a:ext cx="450075" cy="450075"/>
          </a:xfrm>
          <a:prstGeom prst="rect">
            <a:avLst/>
          </a:prstGeom>
          <a:noFill/>
          <a:ln>
            <a:noFill/>
          </a:ln>
        </p:spPr>
      </p:pic>
      <p:pic>
        <p:nvPicPr>
          <p:cNvPr id="1097" name="Google Shape;1097;p89"/>
          <p:cNvPicPr preferRelativeResize="0"/>
          <p:nvPr/>
        </p:nvPicPr>
        <p:blipFill>
          <a:blip r:embed="rId6">
            <a:alphaModFix/>
          </a:blip>
          <a:stretch>
            <a:fillRect/>
          </a:stretch>
        </p:blipFill>
        <p:spPr>
          <a:xfrm>
            <a:off x="5601572" y="2156350"/>
            <a:ext cx="450075" cy="450075"/>
          </a:xfrm>
          <a:prstGeom prst="rect">
            <a:avLst/>
          </a:prstGeom>
          <a:noFill/>
          <a:ln>
            <a:noFill/>
          </a:ln>
        </p:spPr>
      </p:pic>
      <p:pic>
        <p:nvPicPr>
          <p:cNvPr id="1098" name="Google Shape;1098;p89"/>
          <p:cNvPicPr preferRelativeResize="0"/>
          <p:nvPr/>
        </p:nvPicPr>
        <p:blipFill>
          <a:blip r:embed="rId7">
            <a:alphaModFix/>
          </a:blip>
          <a:stretch>
            <a:fillRect/>
          </a:stretch>
        </p:blipFill>
        <p:spPr>
          <a:xfrm>
            <a:off x="5458738" y="1714858"/>
            <a:ext cx="735725" cy="432892"/>
          </a:xfrm>
          <a:prstGeom prst="rect">
            <a:avLst/>
          </a:prstGeom>
          <a:noFill/>
          <a:ln>
            <a:noFill/>
          </a:ln>
        </p:spPr>
      </p:pic>
      <p:pic>
        <p:nvPicPr>
          <p:cNvPr id="1099" name="Google Shape;1099;p89"/>
          <p:cNvPicPr preferRelativeResize="0"/>
          <p:nvPr/>
        </p:nvPicPr>
        <p:blipFill>
          <a:blip r:embed="rId7">
            <a:alphaModFix/>
          </a:blip>
          <a:stretch>
            <a:fillRect/>
          </a:stretch>
        </p:blipFill>
        <p:spPr>
          <a:xfrm>
            <a:off x="5458738" y="2641558"/>
            <a:ext cx="735725" cy="432892"/>
          </a:xfrm>
          <a:prstGeom prst="rect">
            <a:avLst/>
          </a:prstGeom>
          <a:noFill/>
          <a:ln>
            <a:noFill/>
          </a:ln>
        </p:spPr>
      </p:pic>
      <p:pic>
        <p:nvPicPr>
          <p:cNvPr id="1100" name="Google Shape;1100;p89"/>
          <p:cNvPicPr preferRelativeResize="0"/>
          <p:nvPr/>
        </p:nvPicPr>
        <p:blipFill>
          <a:blip r:embed="rId7">
            <a:alphaModFix/>
          </a:blip>
          <a:stretch>
            <a:fillRect/>
          </a:stretch>
        </p:blipFill>
        <p:spPr>
          <a:xfrm>
            <a:off x="5458738" y="3065483"/>
            <a:ext cx="735725" cy="432892"/>
          </a:xfrm>
          <a:prstGeom prst="rect">
            <a:avLst/>
          </a:prstGeom>
          <a:noFill/>
          <a:ln>
            <a:noFill/>
          </a:ln>
        </p:spPr>
      </p:pic>
      <p:pic>
        <p:nvPicPr>
          <p:cNvPr id="1101" name="Google Shape;1101;p89"/>
          <p:cNvPicPr preferRelativeResize="0"/>
          <p:nvPr/>
        </p:nvPicPr>
        <p:blipFill>
          <a:blip r:embed="rId7">
            <a:alphaModFix/>
          </a:blip>
          <a:stretch>
            <a:fillRect/>
          </a:stretch>
        </p:blipFill>
        <p:spPr>
          <a:xfrm>
            <a:off x="5458738" y="3542096"/>
            <a:ext cx="735725" cy="432892"/>
          </a:xfrm>
          <a:prstGeom prst="rect">
            <a:avLst/>
          </a:prstGeom>
          <a:noFill/>
          <a:ln>
            <a:noFill/>
          </a:ln>
        </p:spPr>
      </p:pic>
      <p:pic>
        <p:nvPicPr>
          <p:cNvPr id="1102" name="Google Shape;1102;p89"/>
          <p:cNvPicPr preferRelativeResize="0"/>
          <p:nvPr/>
        </p:nvPicPr>
        <p:blipFill>
          <a:blip r:embed="rId7">
            <a:alphaModFix/>
          </a:blip>
          <a:stretch>
            <a:fillRect/>
          </a:stretch>
        </p:blipFill>
        <p:spPr>
          <a:xfrm>
            <a:off x="5458738" y="4001146"/>
            <a:ext cx="735725" cy="432892"/>
          </a:xfrm>
          <a:prstGeom prst="rect">
            <a:avLst/>
          </a:prstGeom>
          <a:noFill/>
          <a:ln>
            <a:noFill/>
          </a:ln>
        </p:spPr>
      </p:pic>
      <p:pic>
        <p:nvPicPr>
          <p:cNvPr id="1103" name="Google Shape;1103;p89"/>
          <p:cNvPicPr preferRelativeResize="0"/>
          <p:nvPr/>
        </p:nvPicPr>
        <p:blipFill>
          <a:blip r:embed="rId5">
            <a:alphaModFix/>
          </a:blip>
          <a:stretch>
            <a:fillRect/>
          </a:stretch>
        </p:blipFill>
        <p:spPr>
          <a:xfrm>
            <a:off x="7584050" y="2113713"/>
            <a:ext cx="535350" cy="535350"/>
          </a:xfrm>
          <a:prstGeom prst="rect">
            <a:avLst/>
          </a:prstGeom>
          <a:noFill/>
          <a:ln>
            <a:noFill/>
          </a:ln>
        </p:spPr>
      </p:pic>
      <p:pic>
        <p:nvPicPr>
          <p:cNvPr id="1104" name="Google Shape;1104;p89"/>
          <p:cNvPicPr preferRelativeResize="0"/>
          <p:nvPr/>
        </p:nvPicPr>
        <p:blipFill>
          <a:blip r:embed="rId5">
            <a:alphaModFix/>
          </a:blip>
          <a:stretch>
            <a:fillRect/>
          </a:stretch>
        </p:blipFill>
        <p:spPr>
          <a:xfrm>
            <a:off x="7584050" y="2590325"/>
            <a:ext cx="535350" cy="535350"/>
          </a:xfrm>
          <a:prstGeom prst="rect">
            <a:avLst/>
          </a:prstGeom>
          <a:noFill/>
          <a:ln>
            <a:noFill/>
          </a:ln>
        </p:spPr>
      </p:pic>
      <p:pic>
        <p:nvPicPr>
          <p:cNvPr id="1105" name="Google Shape;1105;p89"/>
          <p:cNvPicPr preferRelativeResize="0"/>
          <p:nvPr/>
        </p:nvPicPr>
        <p:blipFill>
          <a:blip r:embed="rId5">
            <a:alphaModFix/>
          </a:blip>
          <a:stretch>
            <a:fillRect/>
          </a:stretch>
        </p:blipFill>
        <p:spPr>
          <a:xfrm>
            <a:off x="7584050" y="3031813"/>
            <a:ext cx="535350" cy="535350"/>
          </a:xfrm>
          <a:prstGeom prst="rect">
            <a:avLst/>
          </a:prstGeom>
          <a:noFill/>
          <a:ln>
            <a:noFill/>
          </a:ln>
        </p:spPr>
      </p:pic>
      <p:pic>
        <p:nvPicPr>
          <p:cNvPr id="1106" name="Google Shape;1106;p89"/>
          <p:cNvPicPr preferRelativeResize="0"/>
          <p:nvPr/>
        </p:nvPicPr>
        <p:blipFill>
          <a:blip r:embed="rId5">
            <a:alphaModFix/>
          </a:blip>
          <a:stretch>
            <a:fillRect/>
          </a:stretch>
        </p:blipFill>
        <p:spPr>
          <a:xfrm>
            <a:off x="7584050" y="3490863"/>
            <a:ext cx="535350" cy="535350"/>
          </a:xfrm>
          <a:prstGeom prst="rect">
            <a:avLst/>
          </a:prstGeom>
          <a:noFill/>
          <a:ln>
            <a:noFill/>
          </a:ln>
        </p:spPr>
      </p:pic>
      <p:pic>
        <p:nvPicPr>
          <p:cNvPr id="1107" name="Google Shape;1107;p89"/>
          <p:cNvPicPr preferRelativeResize="0"/>
          <p:nvPr/>
        </p:nvPicPr>
        <p:blipFill>
          <a:blip r:embed="rId5">
            <a:alphaModFix/>
          </a:blip>
          <a:stretch>
            <a:fillRect/>
          </a:stretch>
        </p:blipFill>
        <p:spPr>
          <a:xfrm>
            <a:off x="7584050" y="3949925"/>
            <a:ext cx="535350" cy="5353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90"/>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Conclusion</a:t>
            </a:r>
            <a:endParaRPr/>
          </a:p>
        </p:txBody>
      </p:sp>
      <p:pic>
        <p:nvPicPr>
          <p:cNvPr id="1113" name="Google Shape;1113;p90" title="istockphoto-1916729901-612x612.jpg"/>
          <p:cNvPicPr preferRelativeResize="0"/>
          <p:nvPr>
            <p:ph idx="2" type="pic"/>
          </p:nvPr>
        </p:nvPicPr>
        <p:blipFill rotWithShape="1">
          <a:blip r:embed="rId3">
            <a:alphaModFix/>
          </a:blip>
          <a:srcRect b="11884" l="0" r="0" t="11884"/>
          <a:stretch/>
        </p:blipFill>
        <p:spPr>
          <a:xfrm>
            <a:off x="6802800" y="0"/>
            <a:ext cx="2341200" cy="1189800"/>
          </a:xfrm>
          <a:prstGeom prst="rect">
            <a:avLst/>
          </a:prstGeom>
        </p:spPr>
      </p:pic>
      <p:sp>
        <p:nvSpPr>
          <p:cNvPr id="1114" name="Google Shape;1114;p90"/>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cxnSp>
        <p:nvCxnSpPr>
          <p:cNvPr id="1115" name="Google Shape;1115;p90"/>
          <p:cNvCxnSpPr/>
          <p:nvPr/>
        </p:nvCxnSpPr>
        <p:spPr>
          <a:xfrm>
            <a:off x="286350" y="1357400"/>
            <a:ext cx="8571300" cy="31200"/>
          </a:xfrm>
          <a:prstGeom prst="straightConnector1">
            <a:avLst/>
          </a:prstGeom>
          <a:noFill/>
          <a:ln cap="flat" cmpd="sng" w="9525">
            <a:solidFill>
              <a:schemeClr val="lt2"/>
            </a:solidFill>
            <a:prstDash val="solid"/>
            <a:round/>
            <a:headEnd len="med" w="med" type="none"/>
            <a:tailEnd len="med" w="med" type="none"/>
          </a:ln>
        </p:spPr>
      </p:cxnSp>
      <p:sp>
        <p:nvSpPr>
          <p:cNvPr id="1116" name="Google Shape;1116;p90"/>
          <p:cNvSpPr txBox="1"/>
          <p:nvPr/>
        </p:nvSpPr>
        <p:spPr>
          <a:xfrm>
            <a:off x="286350" y="1739575"/>
            <a:ext cx="7418700" cy="222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The beverage manufacturing industry continues to rely on spreadsheets, email chains, manual approvals, and disconnected software systems to coordinate </a:t>
            </a:r>
            <a:r>
              <a:rPr lang="en" sz="1300">
                <a:solidFill>
                  <a:schemeClr val="lt1"/>
                </a:solidFill>
                <a:latin typeface="Lato"/>
                <a:ea typeface="Lato"/>
                <a:cs typeface="Lato"/>
                <a:sym typeface="Lato"/>
              </a:rPr>
              <a:t>intricate production workflows. The spread out process causes communication delays, limited visibility, and more workload making it difficult to scale the company. </a:t>
            </a:r>
            <a:endParaRPr sz="1300">
              <a:solidFill>
                <a:schemeClr val="lt1"/>
              </a:solidFill>
              <a:latin typeface="Lato"/>
              <a:ea typeface="Lato"/>
              <a:cs typeface="Lato"/>
              <a:sym typeface="Lato"/>
            </a:endParaRPr>
          </a:p>
          <a:p>
            <a:pPr indent="0" lvl="0" marL="0" rtl="0" algn="l">
              <a:lnSpc>
                <a:spcPct val="115000"/>
              </a:lnSpc>
              <a:spcBef>
                <a:spcPts val="0"/>
              </a:spcBef>
              <a:spcAft>
                <a:spcPts val="0"/>
              </a:spcAft>
              <a:buNone/>
            </a:pPr>
            <a:r>
              <a:t/>
            </a:r>
            <a:endParaRPr sz="13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BevOS addresses all of these issues by having a centralized workflow management platform that connects brands, suppliers, co-packers, logistics, and more through a single system. Through automate workflow, real time updates, and approval management BevOs makes operations across the entire production more efficient. </a:t>
            </a:r>
            <a:endParaRPr sz="1300">
              <a:solidFill>
                <a:schemeClr val="lt1"/>
              </a:solidFill>
              <a:latin typeface="Lato"/>
              <a:ea typeface="Lato"/>
              <a:cs typeface="Lato"/>
              <a:sym typeface="Lato"/>
            </a:endParaRPr>
          </a:p>
        </p:txBody>
      </p:sp>
      <p:sp>
        <p:nvSpPr>
          <p:cNvPr id="1117" name="Google Shape;1117;p90"/>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121" name="Shape 1121"/>
        <p:cNvGrpSpPr/>
        <p:nvPr/>
      </p:nvGrpSpPr>
      <p:grpSpPr>
        <a:xfrm>
          <a:off x="0" y="0"/>
          <a:ext cx="0" cy="0"/>
          <a:chOff x="0" y="0"/>
          <a:chExt cx="0" cy="0"/>
        </a:xfrm>
      </p:grpSpPr>
      <p:sp>
        <p:nvSpPr>
          <p:cNvPr id="1122" name="Google Shape;1122;p91"/>
          <p:cNvSpPr txBox="1"/>
          <p:nvPr>
            <p:ph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References</a:t>
            </a:r>
            <a:endParaRPr/>
          </a:p>
        </p:txBody>
      </p:sp>
      <p:pic>
        <p:nvPicPr>
          <p:cNvPr descr="A glass skyscraper under a blue sky. " id="1123" name="Google Shape;1123;p91"/>
          <p:cNvPicPr preferRelativeResize="0"/>
          <p:nvPr>
            <p:ph idx="2" type="pic"/>
          </p:nvPr>
        </p:nvPicPr>
        <p:blipFill rotWithShape="1">
          <a:blip r:embed="rId3">
            <a:alphaModFix/>
          </a:blip>
          <a:srcRect b="0" l="24915" r="30855" t="0"/>
          <a:stretch/>
        </p:blipFill>
        <p:spPr>
          <a:xfrm>
            <a:off x="6877724" y="0"/>
            <a:ext cx="2266199" cy="3405001"/>
          </a:xfrm>
          <a:prstGeom prst="rect">
            <a:avLst/>
          </a:prstGeom>
        </p:spPr>
      </p:pic>
      <p:sp>
        <p:nvSpPr>
          <p:cNvPr id="1124" name="Google Shape;1124;p91"/>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sp>
        <p:nvSpPr>
          <p:cNvPr id="1125" name="Google Shape;1125;p91"/>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126" name="Google Shape;1126;p91"/>
          <p:cNvSpPr txBox="1"/>
          <p:nvPr/>
        </p:nvSpPr>
        <p:spPr>
          <a:xfrm>
            <a:off x="356450" y="1106925"/>
            <a:ext cx="6106500" cy="29859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Lato"/>
              <a:buAutoNum type="arabicPeriod"/>
            </a:pPr>
            <a:r>
              <a:rPr lang="en" sz="1200">
                <a:solidFill>
                  <a:schemeClr val="lt1"/>
                </a:solidFill>
                <a:latin typeface="Lato"/>
                <a:ea typeface="Lato"/>
                <a:cs typeface="Lato"/>
                <a:sym typeface="Lato"/>
              </a:rPr>
              <a:t>Wilson, T. (2026). BevOS </a:t>
            </a:r>
            <a:r>
              <a:rPr lang="en" sz="1200">
                <a:solidFill>
                  <a:schemeClr val="lt1"/>
                </a:solidFill>
                <a:latin typeface="Lato"/>
                <a:ea typeface="Lato"/>
                <a:cs typeface="Lato"/>
                <a:sym typeface="Lato"/>
              </a:rPr>
              <a:t>Presentation / </a:t>
            </a:r>
            <a:r>
              <a:rPr lang="en" sz="1200">
                <a:solidFill>
                  <a:schemeClr val="lt1"/>
                </a:solidFill>
                <a:latin typeface="Lato"/>
                <a:ea typeface="Lato"/>
                <a:cs typeface="Lato"/>
                <a:sym typeface="Lato"/>
              </a:rPr>
              <a:t>Nice Package Co. Guest Presentation. CS410 Professional Workforce Development, Old Dominion University.</a:t>
            </a:r>
            <a:endParaRPr sz="1200">
              <a:solidFill>
                <a:schemeClr val="lt1"/>
              </a:solidFill>
              <a:latin typeface="Lato"/>
              <a:ea typeface="Lato"/>
              <a:cs typeface="Lato"/>
              <a:sym typeface="Lato"/>
            </a:endParaRPr>
          </a:p>
          <a:p>
            <a:pPr indent="-304800" lvl="0" marL="457200" rtl="0" algn="l">
              <a:spcBef>
                <a:spcPts val="0"/>
              </a:spcBef>
              <a:spcAft>
                <a:spcPts val="0"/>
              </a:spcAft>
              <a:buClr>
                <a:schemeClr val="lt1"/>
              </a:buClr>
              <a:buSzPts val="1200"/>
              <a:buFont typeface="Lato"/>
              <a:buAutoNum type="arabicPeriod"/>
            </a:pPr>
            <a:r>
              <a:rPr lang="en" sz="1200">
                <a:solidFill>
                  <a:schemeClr val="lt1"/>
                </a:solidFill>
                <a:latin typeface="Lato"/>
                <a:ea typeface="Lato"/>
                <a:cs typeface="Lato"/>
                <a:sym typeface="Lato"/>
              </a:rPr>
              <a:t>Kennedy, T. (2026). CS410 Recitation Recording and Discussion Materials. Old Dominion University.</a:t>
            </a:r>
            <a:endParaRPr sz="1200">
              <a:solidFill>
                <a:schemeClr val="lt1"/>
              </a:solidFill>
              <a:latin typeface="Lato"/>
              <a:ea typeface="Lato"/>
              <a:cs typeface="Lato"/>
              <a:sym typeface="Lato"/>
            </a:endParaRPr>
          </a:p>
          <a:p>
            <a:pPr indent="-304800" lvl="0" marL="457200" rtl="0" algn="l">
              <a:spcBef>
                <a:spcPts val="0"/>
              </a:spcBef>
              <a:spcAft>
                <a:spcPts val="0"/>
              </a:spcAft>
              <a:buClr>
                <a:schemeClr val="lt1"/>
              </a:buClr>
              <a:buSzPts val="1200"/>
              <a:buFont typeface="Lato"/>
              <a:buAutoNum type="arabicPeriod"/>
            </a:pPr>
            <a:r>
              <a:rPr lang="en" sz="1200">
                <a:solidFill>
                  <a:schemeClr val="lt1"/>
                </a:solidFill>
                <a:latin typeface="Lato"/>
                <a:ea typeface="Lato"/>
                <a:cs typeface="Lato"/>
                <a:sym typeface="Lato"/>
              </a:rPr>
              <a:t>Grand View Research. (2024, June). Beverage packaging market size, share &amp; trends analysis report, 2030. https://www.grandviewresearch.com/industry-analysis/beverage-packaging-market</a:t>
            </a:r>
            <a:endParaRPr sz="1200">
              <a:solidFill>
                <a:schemeClr val="lt1"/>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130" name="Shape 1130"/>
        <p:cNvGrpSpPr/>
        <p:nvPr/>
      </p:nvGrpSpPr>
      <p:grpSpPr>
        <a:xfrm>
          <a:off x="0" y="0"/>
          <a:ext cx="0" cy="0"/>
          <a:chOff x="0" y="0"/>
          <a:chExt cx="0" cy="0"/>
        </a:xfrm>
      </p:grpSpPr>
      <p:sp>
        <p:nvSpPr>
          <p:cNvPr id="1131" name="Google Shape;1131;p92"/>
          <p:cNvSpPr txBox="1"/>
          <p:nvPr>
            <p:ph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Appendix</a:t>
            </a:r>
            <a:endParaRPr/>
          </a:p>
        </p:txBody>
      </p:sp>
      <p:pic>
        <p:nvPicPr>
          <p:cNvPr descr="A glass skyscraper under a blue sky. " id="1132" name="Google Shape;1132;p92"/>
          <p:cNvPicPr preferRelativeResize="0"/>
          <p:nvPr>
            <p:ph idx="2" type="pic"/>
          </p:nvPr>
        </p:nvPicPr>
        <p:blipFill rotWithShape="1">
          <a:blip r:embed="rId3">
            <a:alphaModFix/>
          </a:blip>
          <a:srcRect b="0" l="24915" r="30855" t="0"/>
          <a:stretch/>
        </p:blipFill>
        <p:spPr>
          <a:xfrm>
            <a:off x="6877724" y="0"/>
            <a:ext cx="2266199" cy="3405001"/>
          </a:xfrm>
          <a:prstGeom prst="rect">
            <a:avLst/>
          </a:prstGeom>
        </p:spPr>
      </p:pic>
      <p:sp>
        <p:nvSpPr>
          <p:cNvPr id="1133" name="Google Shape;1133;p9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BevOS</a:t>
            </a:r>
            <a:endParaRPr/>
          </a:p>
        </p:txBody>
      </p:sp>
      <p:sp>
        <p:nvSpPr>
          <p:cNvPr id="1134" name="Google Shape;1134;p92"/>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135" name="Google Shape;1135;p92"/>
          <p:cNvSpPr txBox="1"/>
          <p:nvPr/>
        </p:nvSpPr>
        <p:spPr>
          <a:xfrm>
            <a:off x="356450" y="1106925"/>
            <a:ext cx="6106500" cy="29859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lt1"/>
              </a:buClr>
              <a:buSzPts val="1200"/>
              <a:buFont typeface="Lato"/>
              <a:buAutoNum type="arabicPeriod"/>
            </a:pPr>
            <a:r>
              <a:rPr lang="en" sz="1200">
                <a:solidFill>
                  <a:schemeClr val="lt1"/>
                </a:solidFill>
                <a:latin typeface="Lato"/>
                <a:ea typeface="Lato"/>
                <a:cs typeface="Lato"/>
                <a:sym typeface="Lato"/>
              </a:rPr>
              <a:t>Supporting Research</a:t>
            </a:r>
            <a:endParaRPr sz="1200">
              <a:solidFill>
                <a:schemeClr val="lt1"/>
              </a:solidFill>
              <a:latin typeface="Lato"/>
              <a:ea typeface="Lato"/>
              <a:cs typeface="Lato"/>
              <a:sym typeface="Lato"/>
            </a:endParaRPr>
          </a:p>
          <a:p>
            <a:pPr indent="-304800" lvl="0" marL="457200" rtl="0" algn="l">
              <a:lnSpc>
                <a:spcPct val="115000"/>
              </a:lnSpc>
              <a:spcBef>
                <a:spcPts val="0"/>
              </a:spcBef>
              <a:spcAft>
                <a:spcPts val="0"/>
              </a:spcAft>
              <a:buClr>
                <a:schemeClr val="lt1"/>
              </a:buClr>
              <a:buSzPts val="1200"/>
              <a:buFont typeface="Lato"/>
              <a:buAutoNum type="arabicPeriod"/>
            </a:pPr>
            <a:r>
              <a:rPr lang="en" sz="1200">
                <a:solidFill>
                  <a:schemeClr val="lt1"/>
                </a:solidFill>
                <a:latin typeface="Lato"/>
                <a:ea typeface="Lato"/>
                <a:cs typeface="Lato"/>
                <a:sym typeface="Lato"/>
              </a:rPr>
              <a:t>Diagrams </a:t>
            </a:r>
            <a:endParaRPr sz="1200">
              <a:solidFill>
                <a:schemeClr val="lt1"/>
              </a:solidFill>
              <a:latin typeface="Lato"/>
              <a:ea typeface="Lato"/>
              <a:cs typeface="Lato"/>
              <a:sym typeface="Lato"/>
            </a:endParaRPr>
          </a:p>
          <a:p>
            <a:pPr indent="-304800" lvl="0" marL="457200" rtl="0" algn="l">
              <a:lnSpc>
                <a:spcPct val="115000"/>
              </a:lnSpc>
              <a:spcBef>
                <a:spcPts val="0"/>
              </a:spcBef>
              <a:spcAft>
                <a:spcPts val="0"/>
              </a:spcAft>
              <a:buClr>
                <a:schemeClr val="lt1"/>
              </a:buClr>
              <a:buSzPts val="1200"/>
              <a:buFont typeface="Lato"/>
              <a:buAutoNum type="arabicPeriod"/>
            </a:pPr>
            <a:r>
              <a:rPr lang="en" sz="1200">
                <a:solidFill>
                  <a:schemeClr val="lt1"/>
                </a:solidFill>
                <a:latin typeface="Lato"/>
                <a:ea typeface="Lato"/>
                <a:cs typeface="Lato"/>
                <a:sym typeface="Lato"/>
              </a:rPr>
              <a:t>Additional Materials</a:t>
            </a:r>
            <a:endParaRPr sz="1200">
              <a:solidFill>
                <a:schemeClr val="l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Project Kickoff Presentation">
  <a:themeElements>
    <a:clrScheme name="Simple Light">
      <a:dk1>
        <a:srgbClr val="FBFBFB"/>
      </a:dk1>
      <a:lt1>
        <a:srgbClr val="1C2026"/>
      </a:lt1>
      <a:dk2>
        <a:srgbClr val="F5F5F5"/>
      </a:dk2>
      <a:lt2>
        <a:srgbClr val="1C2026"/>
      </a:lt2>
      <a:accent1>
        <a:srgbClr val="E9E9E9"/>
      </a:accent1>
      <a:accent2>
        <a:srgbClr val="7A7A7A"/>
      </a:accent2>
      <a:accent3>
        <a:srgbClr val="C2C2C2"/>
      </a:accent3>
      <a:accent4>
        <a:srgbClr val="434343"/>
      </a:accent4>
      <a:accent5>
        <a:srgbClr val="666666"/>
      </a:accent5>
      <a:accent6>
        <a:srgbClr val="999999"/>
      </a:accent6>
      <a:hlink>
        <a:srgbClr val="B7B7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